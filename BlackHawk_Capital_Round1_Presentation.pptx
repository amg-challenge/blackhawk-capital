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494074-919B-4BD1-87D9-7B166E71C5F5}" v="3" dt="2026-10-16T16:20:44.3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orgio Galdiolo" userId="5fc68968cc4eb480" providerId="LiveId" clId="{A8E458FA-053F-4C7E-94FF-FC72F843FCCE}"/>
    <pc:docChg chg="custSel delSld modSld">
      <pc:chgData name="Giorgio Galdiolo" userId="5fc68968cc4eb480" providerId="LiveId" clId="{A8E458FA-053F-4C7E-94FF-FC72F843FCCE}" dt="2026-10-16T16:22:14.413" v="56" actId="2696"/>
      <pc:docMkLst>
        <pc:docMk/>
      </pc:docMkLst>
      <pc:sldChg chg="delSp modSp mod">
        <pc:chgData name="Giorgio Galdiolo" userId="5fc68968cc4eb480" providerId="LiveId" clId="{A8E458FA-053F-4C7E-94FF-FC72F843FCCE}" dt="2026-10-16T16:19:45.263" v="38" actId="20577"/>
        <pc:sldMkLst>
          <pc:docMk/>
          <pc:sldMk cId="201241869" sldId="256"/>
        </pc:sldMkLst>
        <pc:spChg chg="mod">
          <ac:chgData name="Giorgio Galdiolo" userId="5fc68968cc4eb480" providerId="LiveId" clId="{A8E458FA-053F-4C7E-94FF-FC72F843FCCE}" dt="2026-10-16T16:19:45.263" v="38" actId="20577"/>
          <ac:spMkLst>
            <pc:docMk/>
            <pc:sldMk cId="201241869" sldId="256"/>
            <ac:spMk id="8" creationId="{46FE120C-7AAC-4141-B177-4AE1E0911FE1}"/>
          </ac:spMkLst>
        </pc:spChg>
        <pc:spChg chg="del">
          <ac:chgData name="Giorgio Galdiolo" userId="5fc68968cc4eb480" providerId="LiveId" clId="{A8E458FA-053F-4C7E-94FF-FC72F843FCCE}" dt="2026-10-16T16:19:34.488" v="1" actId="21"/>
          <ac:spMkLst>
            <pc:docMk/>
            <pc:sldMk cId="201241869" sldId="256"/>
            <ac:spMk id="10" creationId="{1A3C35AE-3BC9-4E77-9282-A5C46CE5E1F8}"/>
          </ac:spMkLst>
        </pc:spChg>
        <pc:spChg chg="del">
          <ac:chgData name="Giorgio Galdiolo" userId="5fc68968cc4eb480" providerId="LiveId" clId="{A8E458FA-053F-4C7E-94FF-FC72F843FCCE}" dt="2026-10-16T16:19:20.076" v="0" actId="21"/>
          <ac:spMkLst>
            <pc:docMk/>
            <pc:sldMk cId="201241869" sldId="256"/>
            <ac:spMk id="13" creationId="{452681F6-61F3-4A03-8BB8-94FE91423DB2}"/>
          </ac:spMkLst>
        </pc:spChg>
      </pc:sldChg>
      <pc:sldChg chg="modSp">
        <pc:chgData name="Giorgio Galdiolo" userId="5fc68968cc4eb480" providerId="LiveId" clId="{A8E458FA-053F-4C7E-94FF-FC72F843FCCE}" dt="2026-10-16T16:20:44.310" v="41"/>
        <pc:sldMkLst>
          <pc:docMk/>
          <pc:sldMk cId="501790647" sldId="262"/>
        </pc:sldMkLst>
        <pc:graphicFrameChg chg="mod">
          <ac:chgData name="Giorgio Galdiolo" userId="5fc68968cc4eb480" providerId="LiveId" clId="{A8E458FA-053F-4C7E-94FF-FC72F843FCCE}" dt="2026-10-16T16:20:44.310" v="41"/>
          <ac:graphicFrameMkLst>
            <pc:docMk/>
            <pc:sldMk cId="501790647" sldId="262"/>
            <ac:graphicFrameMk id="5" creationId="{241F000F-1D50-4F68-98A7-07F655C7AB20}"/>
          </ac:graphicFrameMkLst>
        </pc:graphicFrameChg>
      </pc:sldChg>
      <pc:sldChg chg="delSp modSp mod">
        <pc:chgData name="Giorgio Galdiolo" userId="5fc68968cc4eb480" providerId="LiveId" clId="{A8E458FA-053F-4C7E-94FF-FC72F843FCCE}" dt="2026-10-16T16:21:58.680" v="51" actId="20577"/>
        <pc:sldMkLst>
          <pc:docMk/>
          <pc:sldMk cId="492325283" sldId="265"/>
        </pc:sldMkLst>
        <pc:spChg chg="mod">
          <ac:chgData name="Giorgio Galdiolo" userId="5fc68968cc4eb480" providerId="LiveId" clId="{A8E458FA-053F-4C7E-94FF-FC72F843FCCE}" dt="2026-10-16T16:21:41.460" v="48" actId="1076"/>
          <ac:spMkLst>
            <pc:docMk/>
            <pc:sldMk cId="492325283" sldId="265"/>
            <ac:spMk id="6" creationId="{2B60DDB8-407A-4C1D-A433-1004439A756A}"/>
          </ac:spMkLst>
        </pc:spChg>
        <pc:spChg chg="mod">
          <ac:chgData name="Giorgio Galdiolo" userId="5fc68968cc4eb480" providerId="LiveId" clId="{A8E458FA-053F-4C7E-94FF-FC72F843FCCE}" dt="2026-10-16T16:21:16.067" v="44" actId="1076"/>
          <ac:spMkLst>
            <pc:docMk/>
            <pc:sldMk cId="492325283" sldId="265"/>
            <ac:spMk id="7" creationId="{0430A387-059A-4D51-A901-99F6E293FA87}"/>
          </ac:spMkLst>
        </pc:spChg>
        <pc:spChg chg="mod">
          <ac:chgData name="Giorgio Galdiolo" userId="5fc68968cc4eb480" providerId="LiveId" clId="{A8E458FA-053F-4C7E-94FF-FC72F843FCCE}" dt="2026-10-16T16:21:20.966" v="45" actId="1076"/>
          <ac:spMkLst>
            <pc:docMk/>
            <pc:sldMk cId="492325283" sldId="265"/>
            <ac:spMk id="8" creationId="{1CE0DEAA-2CF5-4E6A-8FD8-4D96B362835E}"/>
          </ac:spMkLst>
        </pc:spChg>
        <pc:spChg chg="mod">
          <ac:chgData name="Giorgio Galdiolo" userId="5fc68968cc4eb480" providerId="LiveId" clId="{A8E458FA-053F-4C7E-94FF-FC72F843FCCE}" dt="2026-10-16T16:21:27.527" v="46" actId="1076"/>
          <ac:spMkLst>
            <pc:docMk/>
            <pc:sldMk cId="492325283" sldId="265"/>
            <ac:spMk id="9" creationId="{FB385541-4879-4DD1-B291-CE1B84C4A9D5}"/>
          </ac:spMkLst>
        </pc:spChg>
        <pc:spChg chg="mod">
          <ac:chgData name="Giorgio Galdiolo" userId="5fc68968cc4eb480" providerId="LiveId" clId="{A8E458FA-053F-4C7E-94FF-FC72F843FCCE}" dt="2026-10-16T16:21:31.333" v="47" actId="1076"/>
          <ac:spMkLst>
            <pc:docMk/>
            <pc:sldMk cId="492325283" sldId="265"/>
            <ac:spMk id="10" creationId="{6769BCB1-63E1-4EA2-A0C7-57BFCCFB9985}"/>
          </ac:spMkLst>
        </pc:spChg>
        <pc:spChg chg="del">
          <ac:chgData name="Giorgio Galdiolo" userId="5fc68968cc4eb480" providerId="LiveId" clId="{A8E458FA-053F-4C7E-94FF-FC72F843FCCE}" dt="2026-10-16T16:21:11.754" v="43" actId="21"/>
          <ac:spMkLst>
            <pc:docMk/>
            <pc:sldMk cId="492325283" sldId="265"/>
            <ac:spMk id="11" creationId="{2B80BF04-DE26-48E0-96ED-0AB7A0269BFC}"/>
          </ac:spMkLst>
        </pc:spChg>
        <pc:spChg chg="mod">
          <ac:chgData name="Giorgio Galdiolo" userId="5fc68968cc4eb480" providerId="LiveId" clId="{A8E458FA-053F-4C7E-94FF-FC72F843FCCE}" dt="2026-10-16T16:21:58.680" v="51" actId="20577"/>
          <ac:spMkLst>
            <pc:docMk/>
            <pc:sldMk cId="492325283" sldId="265"/>
            <ac:spMk id="16" creationId="{7E8E1016-7FC4-48DC-A204-B787AA571369}"/>
          </ac:spMkLst>
        </pc:spChg>
      </pc:sldChg>
      <pc:sldChg chg="del">
        <pc:chgData name="Giorgio Galdiolo" userId="5fc68968cc4eb480" providerId="LiveId" clId="{A8E458FA-053F-4C7E-94FF-FC72F843FCCE}" dt="2026-10-16T16:22:04.094" v="52" actId="2696"/>
        <pc:sldMkLst>
          <pc:docMk/>
          <pc:sldMk cId="145936276" sldId="266"/>
        </pc:sldMkLst>
      </pc:sldChg>
      <pc:sldChg chg="del">
        <pc:chgData name="Giorgio Galdiolo" userId="5fc68968cc4eb480" providerId="LiveId" clId="{A8E458FA-053F-4C7E-94FF-FC72F843FCCE}" dt="2026-10-16T16:22:06.445" v="53" actId="2696"/>
        <pc:sldMkLst>
          <pc:docMk/>
          <pc:sldMk cId="911823942" sldId="267"/>
        </pc:sldMkLst>
      </pc:sldChg>
      <pc:sldChg chg="del">
        <pc:chgData name="Giorgio Galdiolo" userId="5fc68968cc4eb480" providerId="LiveId" clId="{A8E458FA-053F-4C7E-94FF-FC72F843FCCE}" dt="2026-10-16T16:22:09.423" v="54" actId="2696"/>
        <pc:sldMkLst>
          <pc:docMk/>
          <pc:sldMk cId="1865717410" sldId="268"/>
        </pc:sldMkLst>
      </pc:sldChg>
      <pc:sldChg chg="del">
        <pc:chgData name="Giorgio Galdiolo" userId="5fc68968cc4eb480" providerId="LiveId" clId="{A8E458FA-053F-4C7E-94FF-FC72F843FCCE}" dt="2026-10-16T16:22:11.651" v="55" actId="2696"/>
        <pc:sldMkLst>
          <pc:docMk/>
          <pc:sldMk cId="1814316137" sldId="269"/>
        </pc:sldMkLst>
      </pc:sldChg>
      <pc:sldChg chg="del">
        <pc:chgData name="Giorgio Galdiolo" userId="5fc68968cc4eb480" providerId="LiveId" clId="{A8E458FA-053F-4C7E-94FF-FC72F843FCCE}" dt="2026-10-16T16:22:14.413" v="56" actId="2696"/>
        <pc:sldMkLst>
          <pc:docMk/>
          <pc:sldMk cId="880891246" sldId="27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pieChart>
        <c:varyColors val="1"/>
        <c:ser>
          <c:idx val="0"/>
          <c:order val="0"/>
          <c:tx>
            <c:v>Capital weight</c:v>
          </c:tx>
          <c:dPt>
            <c:idx val="0"/>
            <c:bubble3D val="0"/>
            <c:spPr>
              <a:solidFill>
                <a:srgbClr val="101918"/>
              </a:solidFill>
            </c:spPr>
            <c:extLst>
              <c:ext xmlns:c16="http://schemas.microsoft.com/office/drawing/2014/chart" uri="{C3380CC4-5D6E-409C-BE32-E72D297353CC}">
                <c16:uniqueId val="{00000001-9F70-4923-95D9-70538BDD6439}"/>
              </c:ext>
            </c:extLst>
          </c:dPt>
          <c:dPt>
            <c:idx val="1"/>
            <c:bubble3D val="0"/>
            <c:spPr>
              <a:solidFill>
                <a:srgbClr val="2E4A42"/>
              </a:solidFill>
            </c:spPr>
            <c:extLst>
              <c:ext xmlns:c16="http://schemas.microsoft.com/office/drawing/2014/chart" uri="{C3380CC4-5D6E-409C-BE32-E72D297353CC}">
                <c16:uniqueId val="{00000003-9F70-4923-95D9-70538BDD6439}"/>
              </c:ext>
            </c:extLst>
          </c:dPt>
          <c:dPt>
            <c:idx val="2"/>
            <c:bubble3D val="0"/>
            <c:spPr>
              <a:solidFill>
                <a:srgbClr val="3D6358"/>
              </a:solidFill>
            </c:spPr>
            <c:extLst>
              <c:ext xmlns:c16="http://schemas.microsoft.com/office/drawing/2014/chart" uri="{C3380CC4-5D6E-409C-BE32-E72D297353CC}">
                <c16:uniqueId val="{00000005-9F70-4923-95D9-70538BDD6439}"/>
              </c:ext>
            </c:extLst>
          </c:dPt>
          <c:dPt>
            <c:idx val="3"/>
            <c:bubble3D val="0"/>
            <c:spPr>
              <a:solidFill>
                <a:srgbClr val="5B7D73"/>
              </a:solidFill>
            </c:spPr>
            <c:extLst>
              <c:ext xmlns:c16="http://schemas.microsoft.com/office/drawing/2014/chart" uri="{C3380CC4-5D6E-409C-BE32-E72D297353CC}">
                <c16:uniqueId val="{00000007-9F70-4923-95D9-70538BDD6439}"/>
              </c:ext>
            </c:extLst>
          </c:dPt>
          <c:dPt>
            <c:idx val="4"/>
            <c:bubble3D val="0"/>
            <c:spPr>
              <a:solidFill>
                <a:srgbClr val="9B8052"/>
              </a:solidFill>
            </c:spPr>
            <c:extLst>
              <c:ext xmlns:c16="http://schemas.microsoft.com/office/drawing/2014/chart" uri="{C3380CC4-5D6E-409C-BE32-E72D297353CC}">
                <c16:uniqueId val="{00000009-9F70-4923-95D9-70538BDD6439}"/>
              </c:ext>
            </c:extLst>
          </c:dPt>
          <c:dPt>
            <c:idx val="5"/>
            <c:bubble3D val="0"/>
            <c:spPr>
              <a:solidFill>
                <a:srgbClr val="C0B394"/>
              </a:solidFill>
            </c:spPr>
            <c:extLst>
              <c:ext xmlns:c16="http://schemas.microsoft.com/office/drawing/2014/chart" uri="{C3380CC4-5D6E-409C-BE32-E72D297353CC}">
                <c16:uniqueId val="{0000000B-9F70-4923-95D9-70538BDD6439}"/>
              </c:ext>
            </c:extLst>
          </c:dPt>
          <c:dPt>
            <c:idx val="6"/>
            <c:bubble3D val="0"/>
            <c:spPr>
              <a:solidFill>
                <a:srgbClr val="AD5747"/>
              </a:solidFill>
            </c:spPr>
            <c:extLst>
              <c:ext xmlns:c16="http://schemas.microsoft.com/office/drawing/2014/chart" uri="{C3380CC4-5D6E-409C-BE32-E72D297353CC}">
                <c16:uniqueId val="{0000000D-9F70-4923-95D9-70538BDD6439}"/>
              </c:ext>
            </c:extLst>
          </c:dPt>
          <c:dPt>
            <c:idx val="7"/>
            <c:bubble3D val="0"/>
            <c:spPr>
              <a:solidFill>
                <a:srgbClr val="9BABA3"/>
              </a:solidFill>
            </c:spPr>
            <c:extLst>
              <c:ext xmlns:c16="http://schemas.microsoft.com/office/drawing/2014/chart" uri="{C3380CC4-5D6E-409C-BE32-E72D297353CC}">
                <c16:uniqueId val="{0000000F-9F70-4923-95D9-70538BDD6439}"/>
              </c:ext>
            </c:extLst>
          </c:dPt>
          <c:dLbls>
            <c:numFmt formatCode="0.0%" sourceLinked="0"/>
            <c:spPr>
              <a:noFill/>
              <a:ln>
                <a:noFill/>
              </a:ln>
              <a:effectLst/>
            </c:spPr>
            <c:txPr>
              <a:bodyPr anchorCtr="1"/>
              <a:lstStyle/>
              <a:p>
                <a:pPr>
                  <a:defRPr sz="1200" b="1">
                    <a:solidFill>
                      <a:srgbClr val="101918"/>
                    </a:solidFill>
                    <a:latin typeface="Arial"/>
                    <a:ea typeface="Arial"/>
                    <a:cs typeface="Aria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extLst>
          </c:dLbls>
          <c:cat>
            <c:strRef>
              <c:f>'Chart Data'!$A$2:$A$9</c:f>
              <c:strCache>
                <c:ptCount val="8"/>
                <c:pt idx="0">
                  <c:v>VOO</c:v>
                </c:pt>
                <c:pt idx="1">
                  <c:v>VTV</c:v>
                </c:pt>
                <c:pt idx="2">
                  <c:v>IEFA</c:v>
                </c:pt>
                <c:pt idx="3">
                  <c:v>EEM</c:v>
                </c:pt>
                <c:pt idx="4">
                  <c:v>IEF</c:v>
                </c:pt>
                <c:pt idx="5">
                  <c:v>IGSB</c:v>
                </c:pt>
                <c:pt idx="6">
                  <c:v>GLD</c:v>
                </c:pt>
                <c:pt idx="7">
                  <c:v>DBC</c:v>
                </c:pt>
              </c:strCache>
            </c:strRef>
          </c:cat>
          <c:val>
            <c:numRef>
              <c:f>'Chart Data'!$B$2:$B$9</c:f>
              <c:numCache>
                <c:formatCode>General</c:formatCode>
                <c:ptCount val="8"/>
                <c:pt idx="0">
                  <c:v>9.9061999999999997E-2</c:v>
                </c:pt>
                <c:pt idx="1">
                  <c:v>0.10535</c:v>
                </c:pt>
                <c:pt idx="2">
                  <c:v>8.4742999999999999E-2</c:v>
                </c:pt>
                <c:pt idx="3">
                  <c:v>8.2960999999999993E-2</c:v>
                </c:pt>
                <c:pt idx="4">
                  <c:v>0.24041299999999999</c:v>
                </c:pt>
                <c:pt idx="5">
                  <c:v>0.12</c:v>
                </c:pt>
                <c:pt idx="6">
                  <c:v>0.11747199999999999</c:v>
                </c:pt>
                <c:pt idx="7">
                  <c:v>0.15</c:v>
                </c:pt>
              </c:numCache>
            </c:numRef>
          </c:val>
          <c:extLst>
            <c:ext xmlns:c16="http://schemas.microsoft.com/office/drawing/2014/chart" uri="{C3380CC4-5D6E-409C-BE32-E72D297353CC}">
              <c16:uniqueId val="{00000010-9F70-4923-95D9-70538BDD6439}"/>
            </c:ext>
          </c:extLst>
        </c:ser>
        <c:dLbls>
          <c:dLblPos val="outEnd"/>
          <c:showLegendKey val="0"/>
          <c:showVal val="1"/>
          <c:showCatName val="0"/>
          <c:showSerName val="0"/>
          <c:showPercent val="0"/>
          <c:showBubbleSize val="0"/>
          <c:showLeaderLines val="0"/>
        </c:dLbls>
        <c:firstSliceAng val="0"/>
      </c:pieChart>
      <c:spPr>
        <a:noFill/>
        <a:ln w="0">
          <a:noFill/>
        </a:ln>
      </c:spPr>
    </c:plotArea>
    <c:legend>
      <c:legendPos val="r"/>
      <c:overlay val="0"/>
      <c:txPr>
        <a:bodyPr anchorCtr="1"/>
        <a:lstStyle/>
        <a:p>
          <a:pPr>
            <a:defRPr sz="1275">
              <a:solidFill>
                <a:srgbClr val="101918"/>
              </a:solidFill>
              <a:latin typeface="Arial"/>
              <a:ea typeface="Arial"/>
              <a:cs typeface="Arial"/>
            </a:defRPr>
          </a:pPr>
          <a:endParaRPr lang="it-IT"/>
        </a:p>
      </c:txPr>
    </c:legend>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col"/>
        <c:grouping val="clustered"/>
        <c:varyColors val="0"/>
        <c:ser>
          <c:idx val="0"/>
          <c:order val="0"/>
          <c:tx>
            <c:v>Capital weight</c:v>
          </c:tx>
          <c:spPr>
            <a:solidFill>
              <a:srgbClr val="101918"/>
            </a:solidFill>
          </c:spPr>
          <c:invertIfNegative val="0"/>
          <c:dLbls>
            <c:numFmt formatCode="0.0%" sourceLinked="0"/>
            <c:spPr>
              <a:noFill/>
              <a:ln>
                <a:noFill/>
              </a:ln>
              <a:effectLst/>
            </c:spPr>
            <c:txPr>
              <a:bodyPr anchorCtr="1"/>
              <a:lstStyle/>
              <a:p>
                <a:pPr>
                  <a:defRPr sz="1200" b="1">
                    <a:solidFill>
                      <a:srgbClr val="101918"/>
                    </a:solidFill>
                    <a:latin typeface="Arial"/>
                    <a:ea typeface="Arial"/>
                    <a:cs typeface="Aria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Equity</c:v>
                </c:pt>
                <c:pt idx="1">
                  <c:v>Govt bonds</c:v>
                </c:pt>
                <c:pt idx="2">
                  <c:v>Corporate bonds</c:v>
                </c:pt>
                <c:pt idx="3">
                  <c:v>Gold</c:v>
                </c:pt>
                <c:pt idx="4">
                  <c:v>Commodities</c:v>
                </c:pt>
              </c:strCache>
            </c:strRef>
          </c:cat>
          <c:val>
            <c:numRef>
              <c:f>'Chart Data'!$B$2:$B$6</c:f>
              <c:numCache>
                <c:formatCode>0%</c:formatCode>
                <c:ptCount val="5"/>
                <c:pt idx="0">
                  <c:v>0.37209999999999999</c:v>
                </c:pt>
                <c:pt idx="1">
                  <c:v>0.2404</c:v>
                </c:pt>
                <c:pt idx="2">
                  <c:v>0.12</c:v>
                </c:pt>
                <c:pt idx="3">
                  <c:v>0.11749999999999999</c:v>
                </c:pt>
                <c:pt idx="4">
                  <c:v>0.15</c:v>
                </c:pt>
              </c:numCache>
            </c:numRef>
          </c:val>
          <c:extLst>
            <c:ext xmlns:c16="http://schemas.microsoft.com/office/drawing/2014/chart" uri="{C3380CC4-5D6E-409C-BE32-E72D297353CC}">
              <c16:uniqueId val="{00000000-8213-47C1-8151-3171F662EEEE}"/>
            </c:ext>
          </c:extLst>
        </c:ser>
        <c:ser>
          <c:idx val="1"/>
          <c:order val="1"/>
          <c:tx>
            <c:v>Risk contribution</c:v>
          </c:tx>
          <c:spPr>
            <a:solidFill>
              <a:srgbClr val="9B8052"/>
            </a:solidFill>
          </c:spPr>
          <c:invertIfNegative val="0"/>
          <c:dLbls>
            <c:numFmt formatCode="0.0%" sourceLinked="0"/>
            <c:spPr>
              <a:noFill/>
              <a:ln>
                <a:noFill/>
              </a:ln>
              <a:effectLst/>
            </c:spPr>
            <c:txPr>
              <a:bodyPr anchorCtr="1"/>
              <a:lstStyle/>
              <a:p>
                <a:pPr>
                  <a:defRPr sz="1200" b="1">
                    <a:solidFill>
                      <a:srgbClr val="101918"/>
                    </a:solidFill>
                    <a:latin typeface="Arial"/>
                    <a:ea typeface="Arial"/>
                    <a:cs typeface="Aria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Data'!$C$2:$C$6</c:f>
              <c:strCache>
                <c:ptCount val="5"/>
                <c:pt idx="0">
                  <c:v>Equity</c:v>
                </c:pt>
                <c:pt idx="1">
                  <c:v>Govt bonds</c:v>
                </c:pt>
                <c:pt idx="2">
                  <c:v>Corporate bonds</c:v>
                </c:pt>
                <c:pt idx="3">
                  <c:v>Gold</c:v>
                </c:pt>
                <c:pt idx="4">
                  <c:v>Commodities</c:v>
                </c:pt>
              </c:strCache>
            </c:strRef>
          </c:cat>
          <c:val>
            <c:numRef>
              <c:f>'Chart Data'!$D$2:$D$6</c:f>
              <c:numCache>
                <c:formatCode>0%</c:formatCode>
                <c:ptCount val="5"/>
                <c:pt idx="0">
                  <c:v>0.56079999999999997</c:v>
                </c:pt>
                <c:pt idx="1">
                  <c:v>0.1479</c:v>
                </c:pt>
                <c:pt idx="2">
                  <c:v>3.5000000000000003E-2</c:v>
                </c:pt>
                <c:pt idx="3">
                  <c:v>0.14149999999999999</c:v>
                </c:pt>
                <c:pt idx="4">
                  <c:v>0.1148</c:v>
                </c:pt>
              </c:numCache>
            </c:numRef>
          </c:val>
          <c:extLst>
            <c:ext xmlns:c16="http://schemas.microsoft.com/office/drawing/2014/chart" uri="{C3380CC4-5D6E-409C-BE32-E72D297353CC}">
              <c16:uniqueId val="{00000001-8213-47C1-8151-3171F662EEEE}"/>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00">
                <a:solidFill>
                  <a:srgbClr val="101918"/>
                </a:solidFill>
                <a:latin typeface="Arial"/>
                <a:ea typeface="Arial"/>
                <a:cs typeface="Arial"/>
              </a:defRPr>
            </a:pPr>
            <a:endParaRPr lang="it-IT"/>
          </a:p>
        </c:txPr>
        <c:crossAx val="48672768"/>
        <c:crosses val="autoZero"/>
        <c:auto val="1"/>
        <c:lblAlgn val="ctr"/>
        <c:lblOffset val="100"/>
        <c:noMultiLvlLbl val="1"/>
      </c:catAx>
      <c:valAx>
        <c:axId val="48672768"/>
        <c:scaling>
          <c:orientation val="minMax"/>
          <c:max val="0.65"/>
          <c:min val="0"/>
        </c:scaling>
        <c:delete val="0"/>
        <c:axPos val="l"/>
        <c:majorGridlines>
          <c:spPr>
            <a:ln w="5715">
              <a:solidFill>
                <a:srgbClr val="D6D9D3"/>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125">
                <a:solidFill>
                  <a:srgbClr val="64716B"/>
                </a:solidFill>
                <a:latin typeface="Arial"/>
                <a:ea typeface="Arial"/>
                <a:cs typeface="Arial"/>
              </a:defRPr>
            </a:pPr>
            <a:endParaRPr lang="it-IT"/>
          </a:p>
        </c:txPr>
        <c:crossAx val="48650112"/>
        <c:crosses val="autoZero"/>
        <c:crossBetween val="between"/>
        <c:majorUnit val="0.2"/>
      </c:valAx>
      <c:spPr>
        <a:noFill/>
        <a:ln w="0">
          <a:noFill/>
        </a:ln>
      </c:spPr>
    </c:plotArea>
    <c:legend>
      <c:legendPos val="b"/>
      <c:overlay val="0"/>
      <c:txPr>
        <a:bodyPr anchorCtr="1"/>
        <a:lstStyle/>
        <a:p>
          <a:pPr>
            <a:defRPr sz="1350">
              <a:solidFill>
                <a:srgbClr val="101918"/>
              </a:solidFill>
              <a:latin typeface="Arial"/>
              <a:ea typeface="Arial"/>
              <a:cs typeface="Arial"/>
            </a:defRPr>
          </a:pPr>
          <a:endParaRPr lang="it-IT"/>
        </a:p>
      </c:txPr>
    </c:legend>
    <c:plotVisOnly val="1"/>
    <c:dispBlanksAs val="zero"/>
    <c:showDLblsOverMax val="1"/>
  </c:chart>
  <c:spPr>
    <a:no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Capital weight</c:v>
          </c:tx>
          <c:spPr>
            <a:solidFill>
              <a:srgbClr val="3D6358"/>
            </a:solidFill>
          </c:spPr>
          <c:invertIfNegative val="0"/>
          <c:dPt>
            <c:idx val="0"/>
            <c:invertIfNegative val="0"/>
            <c:bubble3D val="0"/>
            <c:extLst>
              <c:ext xmlns:c16="http://schemas.microsoft.com/office/drawing/2014/chart" uri="{C3380CC4-5D6E-409C-BE32-E72D297353CC}">
                <c16:uniqueId val="{00000001-64B5-4D7D-BB03-DF74D5033A1D}"/>
              </c:ext>
            </c:extLst>
          </c:dPt>
          <c:dPt>
            <c:idx val="1"/>
            <c:invertIfNegative val="0"/>
            <c:bubble3D val="0"/>
            <c:spPr>
              <a:solidFill>
                <a:srgbClr val="9B8052"/>
              </a:solidFill>
            </c:spPr>
            <c:extLst>
              <c:ext xmlns:c16="http://schemas.microsoft.com/office/drawing/2014/chart" uri="{C3380CC4-5D6E-409C-BE32-E72D297353CC}">
                <c16:uniqueId val="{00000003-64B5-4D7D-BB03-DF74D5033A1D}"/>
              </c:ext>
            </c:extLst>
          </c:dPt>
          <c:dPt>
            <c:idx val="2"/>
            <c:invertIfNegative val="0"/>
            <c:bubble3D val="0"/>
            <c:spPr>
              <a:solidFill>
                <a:srgbClr val="9BABA3"/>
              </a:solidFill>
            </c:spPr>
            <c:extLst>
              <c:ext xmlns:c16="http://schemas.microsoft.com/office/drawing/2014/chart" uri="{C3380CC4-5D6E-409C-BE32-E72D297353CC}">
                <c16:uniqueId val="{00000005-64B5-4D7D-BB03-DF74D5033A1D}"/>
              </c:ext>
            </c:extLst>
          </c:dPt>
          <c:dPt>
            <c:idx val="3"/>
            <c:invertIfNegative val="0"/>
            <c:bubble3D val="0"/>
            <c:spPr>
              <a:solidFill>
                <a:srgbClr val="C0B394"/>
              </a:solidFill>
            </c:spPr>
            <c:extLst>
              <c:ext xmlns:c16="http://schemas.microsoft.com/office/drawing/2014/chart" uri="{C3380CC4-5D6E-409C-BE32-E72D297353CC}">
                <c16:uniqueId val="{00000007-64B5-4D7D-BB03-DF74D5033A1D}"/>
              </c:ext>
            </c:extLst>
          </c:dPt>
          <c:dLbls>
            <c:numFmt formatCode="0.0%" sourceLinked="0"/>
            <c:spPr>
              <a:noFill/>
              <a:ln>
                <a:noFill/>
              </a:ln>
              <a:effectLst/>
            </c:spPr>
            <c:txPr>
              <a:bodyPr anchorCtr="1"/>
              <a:lstStyle/>
              <a:p>
                <a:pPr>
                  <a:defRPr sz="1275" b="1">
                    <a:solidFill>
                      <a:srgbClr val="101918"/>
                    </a:solidFill>
                    <a:latin typeface="Arial"/>
                    <a:ea typeface="Arial"/>
                    <a:cs typeface="Aria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United States</c:v>
                </c:pt>
                <c:pt idx="1">
                  <c:v>Global / real assets</c:v>
                </c:pt>
                <c:pt idx="2">
                  <c:v>Developed ex-US</c:v>
                </c:pt>
                <c:pt idx="3">
                  <c:v>Emerging markets</c:v>
                </c:pt>
              </c:strCache>
            </c:strRef>
          </c:cat>
          <c:val>
            <c:numRef>
              <c:f>'Chart Data'!$B$2:$B$5</c:f>
              <c:numCache>
                <c:formatCode>0%</c:formatCode>
                <c:ptCount val="4"/>
                <c:pt idx="0">
                  <c:v>0.56479999999999997</c:v>
                </c:pt>
                <c:pt idx="1">
                  <c:v>0.26750000000000002</c:v>
                </c:pt>
                <c:pt idx="2">
                  <c:v>8.4699999999999998E-2</c:v>
                </c:pt>
                <c:pt idx="3">
                  <c:v>8.3000000000000004E-2</c:v>
                </c:pt>
              </c:numCache>
            </c:numRef>
          </c:val>
          <c:extLst>
            <c:ext xmlns:c16="http://schemas.microsoft.com/office/drawing/2014/chart" uri="{C3380CC4-5D6E-409C-BE32-E72D297353CC}">
              <c16:uniqueId val="{00000008-64B5-4D7D-BB03-DF74D5033A1D}"/>
            </c:ext>
          </c:extLst>
        </c:ser>
        <c:dLbls>
          <c:dLblPos val="outEnd"/>
          <c:showLegendKey val="0"/>
          <c:showVal val="1"/>
          <c:showCatName val="0"/>
          <c:showSerName val="0"/>
          <c:showPercent val="0"/>
          <c:showBubbleSize val="0"/>
        </c:dLbls>
        <c:gapWidth val="6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275">
                <a:solidFill>
                  <a:srgbClr val="101918"/>
                </a:solidFill>
                <a:latin typeface="Arial"/>
                <a:ea typeface="Arial"/>
                <a:cs typeface="Arial"/>
              </a:defRPr>
            </a:pPr>
            <a:endParaRPr lang="it-IT"/>
          </a:p>
        </c:txPr>
        <c:crossAx val="48672768"/>
        <c:crosses val="autoZero"/>
        <c:auto val="1"/>
        <c:lblAlgn val="ctr"/>
        <c:lblOffset val="100"/>
        <c:noMultiLvlLbl val="1"/>
      </c:catAx>
      <c:valAx>
        <c:axId val="48672768"/>
        <c:scaling>
          <c:orientation val="minMax"/>
          <c:max val="0.68"/>
          <c:min val="0"/>
        </c:scaling>
        <c:delete val="0"/>
        <c:axPos val="b"/>
        <c:majorGridlines>
          <c:spPr>
            <a:ln w="5715">
              <a:solidFill>
                <a:srgbClr val="D6D9D3"/>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125">
                <a:solidFill>
                  <a:srgbClr val="64716B"/>
                </a:solidFill>
                <a:latin typeface="Arial"/>
                <a:ea typeface="Arial"/>
                <a:cs typeface="Arial"/>
              </a:defRPr>
            </a:pPr>
            <a:endParaRPr lang="it-IT"/>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col"/>
        <c:grouping val="clustered"/>
        <c:varyColors val="0"/>
        <c:ser>
          <c:idx val="0"/>
          <c:order val="0"/>
          <c:tx>
            <c:v>Fitted Sharpe (formation window)</c:v>
          </c:tx>
          <c:spPr>
            <a:solidFill>
              <a:srgbClr val="9BABA3"/>
            </a:solidFill>
          </c:spPr>
          <c:invertIfNegative val="0"/>
          <c:dLbls>
            <c:dLbl>
              <c:idx val="5"/>
              <c:layout>
                <c:manualLayout>
                  <c:x val="0"/>
                  <c:y val="2.20385674931129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940-41E3-9D9E-973D7122AAFD}"/>
                </c:ext>
              </c:extLst>
            </c:dLbl>
            <c:numFmt formatCode="0.000" sourceLinked="0"/>
            <c:spPr>
              <a:noFill/>
              <a:ln>
                <a:noFill/>
              </a:ln>
              <a:effectLst/>
            </c:spPr>
            <c:txPr>
              <a:bodyPr anchorCtr="1"/>
              <a:lstStyle/>
              <a:p>
                <a:pPr>
                  <a:defRPr sz="1050" b="1">
                    <a:solidFill>
                      <a:srgbClr val="101918"/>
                    </a:solidFill>
                    <a:latin typeface="Arial"/>
                    <a:ea typeface="Arial"/>
                    <a:cs typeface="Aria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Equal Weight</c:v>
                </c:pt>
                <c:pt idx="1">
                  <c:v>Risk Parity (1/vol)</c:v>
                </c:pt>
                <c:pt idx="2">
                  <c:v>ERC (uncapped)</c:v>
                </c:pt>
                <c:pt idx="3">
                  <c:v>Capped ERC (ours)</c:v>
                </c:pt>
                <c:pt idx="4">
                  <c:v>Maximum Sharpe</c:v>
                </c:pt>
                <c:pt idx="5">
                  <c:v>Minimum Variance</c:v>
                </c:pt>
              </c:strCache>
            </c:strRef>
          </c:cat>
          <c:val>
            <c:numRef>
              <c:f>'Chart Data'!$B$2:$B$7</c:f>
              <c:numCache>
                <c:formatCode>0.0</c:formatCode>
                <c:ptCount val="6"/>
                <c:pt idx="0">
                  <c:v>0.625</c:v>
                </c:pt>
                <c:pt idx="1">
                  <c:v>0.38300000000000001</c:v>
                </c:pt>
                <c:pt idx="2">
                  <c:v>0.46899999999999997</c:v>
                </c:pt>
                <c:pt idx="3">
                  <c:v>0.53700000000000003</c:v>
                </c:pt>
                <c:pt idx="4">
                  <c:v>0.98699999999999999</c:v>
                </c:pt>
                <c:pt idx="5">
                  <c:v>-0.46700000000000003</c:v>
                </c:pt>
              </c:numCache>
            </c:numRef>
          </c:val>
          <c:extLst>
            <c:ext xmlns:c16="http://schemas.microsoft.com/office/drawing/2014/chart" uri="{C3380CC4-5D6E-409C-BE32-E72D297353CC}">
              <c16:uniqueId val="{00000000-F940-41E3-9D9E-973D7122AAFD}"/>
            </c:ext>
          </c:extLst>
        </c:ser>
        <c:ser>
          <c:idx val="1"/>
          <c:order val="1"/>
          <c:tx>
            <c:v>Walk-forward Sharpe</c:v>
          </c:tx>
          <c:spPr>
            <a:solidFill>
              <a:srgbClr val="3D6358"/>
            </a:solidFill>
          </c:spPr>
          <c:invertIfNegative val="0"/>
          <c:dLbls>
            <c:numFmt formatCode="0.000" sourceLinked="0"/>
            <c:spPr>
              <a:noFill/>
              <a:ln>
                <a:noFill/>
              </a:ln>
              <a:effectLst/>
            </c:spPr>
            <c:txPr>
              <a:bodyPr anchorCtr="1"/>
              <a:lstStyle/>
              <a:p>
                <a:pPr>
                  <a:defRPr sz="1050" b="1">
                    <a:solidFill>
                      <a:srgbClr val="101918"/>
                    </a:solidFill>
                    <a:latin typeface="Arial"/>
                    <a:ea typeface="Arial"/>
                    <a:cs typeface="Aria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Data'!$C$2:$C$7</c:f>
              <c:strCache>
                <c:ptCount val="6"/>
                <c:pt idx="0">
                  <c:v>Equal Weight</c:v>
                </c:pt>
                <c:pt idx="1">
                  <c:v>Risk Parity (1/vol)</c:v>
                </c:pt>
                <c:pt idx="2">
                  <c:v>ERC (uncapped)</c:v>
                </c:pt>
                <c:pt idx="3">
                  <c:v>Capped ERC (ours)</c:v>
                </c:pt>
                <c:pt idx="4">
                  <c:v>Maximum Sharpe</c:v>
                </c:pt>
                <c:pt idx="5">
                  <c:v>Minimum Variance</c:v>
                </c:pt>
              </c:strCache>
            </c:strRef>
          </c:cat>
          <c:val>
            <c:numRef>
              <c:f>'Chart Data'!$D$2:$D$7</c:f>
              <c:numCache>
                <c:formatCode>0.0</c:formatCode>
                <c:ptCount val="6"/>
                <c:pt idx="0">
                  <c:v>0.66100000000000003</c:v>
                </c:pt>
                <c:pt idx="1">
                  <c:v>0.58699999999999997</c:v>
                </c:pt>
                <c:pt idx="2">
                  <c:v>0.71799999999999997</c:v>
                </c:pt>
                <c:pt idx="3">
                  <c:v>0.58299999999999996</c:v>
                </c:pt>
                <c:pt idx="4">
                  <c:v>0.69099999999999995</c:v>
                </c:pt>
                <c:pt idx="5">
                  <c:v>0</c:v>
                </c:pt>
              </c:numCache>
            </c:numRef>
          </c:val>
          <c:extLst>
            <c:ext xmlns:c16="http://schemas.microsoft.com/office/drawing/2014/chart" uri="{C3380CC4-5D6E-409C-BE32-E72D297353CC}">
              <c16:uniqueId val="{00000001-F940-41E3-9D9E-973D7122AAFD}"/>
            </c:ext>
          </c:extLst>
        </c:ser>
        <c:dLbls>
          <c:dLblPos val="outEnd"/>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125">
                <a:solidFill>
                  <a:srgbClr val="101918"/>
                </a:solidFill>
                <a:latin typeface="Arial"/>
                <a:ea typeface="Arial"/>
                <a:cs typeface="Arial"/>
              </a:defRPr>
            </a:pPr>
            <a:endParaRPr lang="it-IT"/>
          </a:p>
        </c:txPr>
        <c:crossAx val="48672768"/>
        <c:crosses val="autoZero"/>
        <c:auto val="1"/>
        <c:lblAlgn val="ctr"/>
        <c:lblOffset val="100"/>
        <c:noMultiLvlLbl val="1"/>
      </c:catAx>
      <c:valAx>
        <c:axId val="48672768"/>
        <c:scaling>
          <c:orientation val="minMax"/>
          <c:max val="1.1000000000000001"/>
          <c:min val="-0.6"/>
        </c:scaling>
        <c:delete val="0"/>
        <c:axPos val="l"/>
        <c:majorGridlines>
          <c:spPr>
            <a:ln w="5715">
              <a:solidFill>
                <a:srgbClr val="D6D9D3"/>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050">
                <a:solidFill>
                  <a:srgbClr val="64716B"/>
                </a:solidFill>
                <a:latin typeface="Arial"/>
                <a:ea typeface="Arial"/>
                <a:cs typeface="Arial"/>
              </a:defRPr>
            </a:pPr>
            <a:endParaRPr lang="it-IT"/>
          </a:p>
        </c:txPr>
        <c:crossAx val="48650112"/>
        <c:crosses val="autoZero"/>
        <c:crossBetween val="between"/>
        <c:majorUnit val="0.5"/>
      </c:valAx>
      <c:spPr>
        <a:noFill/>
        <a:ln w="0">
          <a:noFill/>
        </a:ln>
      </c:spPr>
    </c:plotArea>
    <c:legend>
      <c:legendPos val="b"/>
      <c:layout>
        <c:manualLayout>
          <c:xMode val="edge"/>
          <c:yMode val="edge"/>
          <c:x val="0.27715269886680122"/>
          <c:y val="0.87825036333268269"/>
          <c:w val="0.45248568462049205"/>
          <c:h val="0.11073035292076094"/>
        </c:manualLayout>
      </c:layout>
      <c:overlay val="0"/>
      <c:txPr>
        <a:bodyPr anchorCtr="1"/>
        <a:lstStyle/>
        <a:p>
          <a:pPr>
            <a:defRPr sz="1275">
              <a:solidFill>
                <a:srgbClr val="101918"/>
              </a:solidFill>
              <a:latin typeface="Arial"/>
              <a:ea typeface="Arial"/>
              <a:cs typeface="Arial"/>
            </a:defRPr>
          </a:pPr>
          <a:endParaRPr lang="it-IT"/>
        </a:p>
      </c:txPr>
    </c:legend>
    <c:plotVisOnly val="1"/>
    <c:dispBlanksAs val="zero"/>
    <c:showDLblsOverMax val="1"/>
  </c:chart>
  <c:spPr>
    <a:no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lineChart>
        <c:grouping val="standard"/>
        <c:varyColors val="0"/>
        <c:ser>
          <c:idx val="0"/>
          <c:order val="0"/>
          <c:tx>
            <c:v>Our SAA (capped ERC)</c:v>
          </c:tx>
          <c:spPr>
            <a:ln w="24765">
              <a:solidFill>
                <a:srgbClr val="3D6358"/>
              </a:solidFill>
            </a:ln>
          </c:spPr>
          <c:marker>
            <c:symbol val="none"/>
          </c:marker>
          <c:cat>
            <c:strRef>
              <c:f>'Chart Data'!$A$2:$A$168</c:f>
              <c:strCache>
                <c:ptCount val="167"/>
                <c:pt idx="0">
                  <c:v>2012-11-30</c:v>
                </c:pt>
                <c:pt idx="1">
                  <c:v>2012-12-31</c:v>
                </c:pt>
                <c:pt idx="2">
                  <c:v>2013-01-31</c:v>
                </c:pt>
                <c:pt idx="3">
                  <c:v>2013-02-28</c:v>
                </c:pt>
                <c:pt idx="4">
                  <c:v>2013-03-31</c:v>
                </c:pt>
                <c:pt idx="5">
                  <c:v>2013-04-30</c:v>
                </c:pt>
                <c:pt idx="6">
                  <c:v>2013-05-31</c:v>
                </c:pt>
                <c:pt idx="7">
                  <c:v>2013-06-30</c:v>
                </c:pt>
                <c:pt idx="8">
                  <c:v>2013-07-31</c:v>
                </c:pt>
                <c:pt idx="9">
                  <c:v>2013-08-31</c:v>
                </c:pt>
                <c:pt idx="10">
                  <c:v>2013-09-30</c:v>
                </c:pt>
                <c:pt idx="11">
                  <c:v>2013-10-31</c:v>
                </c:pt>
                <c:pt idx="12">
                  <c:v>2013-11-30</c:v>
                </c:pt>
                <c:pt idx="13">
                  <c:v>2013-12-31</c:v>
                </c:pt>
                <c:pt idx="14">
                  <c:v>2014-01-31</c:v>
                </c:pt>
                <c:pt idx="15">
                  <c:v>2014-02-28</c:v>
                </c:pt>
                <c:pt idx="16">
                  <c:v>2014-03-31</c:v>
                </c:pt>
                <c:pt idx="17">
                  <c:v>2014-04-30</c:v>
                </c:pt>
                <c:pt idx="18">
                  <c:v>2014-05-31</c:v>
                </c:pt>
                <c:pt idx="19">
                  <c:v>2014-06-30</c:v>
                </c:pt>
                <c:pt idx="20">
                  <c:v>2014-07-31</c:v>
                </c:pt>
                <c:pt idx="21">
                  <c:v>2014-08-31</c:v>
                </c:pt>
                <c:pt idx="22">
                  <c:v>2014-09-30</c:v>
                </c:pt>
                <c:pt idx="23">
                  <c:v>2014-10-31</c:v>
                </c:pt>
                <c:pt idx="24">
                  <c:v>2014-11-30</c:v>
                </c:pt>
                <c:pt idx="25">
                  <c:v>2014-12-31</c:v>
                </c:pt>
                <c:pt idx="26">
                  <c:v>2015-01-31</c:v>
                </c:pt>
                <c:pt idx="27">
                  <c:v>2015-02-28</c:v>
                </c:pt>
                <c:pt idx="28">
                  <c:v>2015-03-31</c:v>
                </c:pt>
                <c:pt idx="29">
                  <c:v>2015-04-30</c:v>
                </c:pt>
                <c:pt idx="30">
                  <c:v>2015-05-31</c:v>
                </c:pt>
                <c:pt idx="31">
                  <c:v>2015-06-30</c:v>
                </c:pt>
                <c:pt idx="32">
                  <c:v>2015-07-31</c:v>
                </c:pt>
                <c:pt idx="33">
                  <c:v>2015-08-31</c:v>
                </c:pt>
                <c:pt idx="34">
                  <c:v>2015-09-30</c:v>
                </c:pt>
                <c:pt idx="35">
                  <c:v>2015-10-31</c:v>
                </c:pt>
                <c:pt idx="36">
                  <c:v>2015-11-30</c:v>
                </c:pt>
                <c:pt idx="37">
                  <c:v>2015-12-31</c:v>
                </c:pt>
                <c:pt idx="38">
                  <c:v>2016-01-31</c:v>
                </c:pt>
                <c:pt idx="39">
                  <c:v>2016-02-29</c:v>
                </c:pt>
                <c:pt idx="40">
                  <c:v>2016-03-31</c:v>
                </c:pt>
                <c:pt idx="41">
                  <c:v>2016-04-30</c:v>
                </c:pt>
                <c:pt idx="42">
                  <c:v>2016-05-31</c:v>
                </c:pt>
                <c:pt idx="43">
                  <c:v>2016-06-30</c:v>
                </c:pt>
                <c:pt idx="44">
                  <c:v>2016-07-31</c:v>
                </c:pt>
                <c:pt idx="45">
                  <c:v>2016-08-31</c:v>
                </c:pt>
                <c:pt idx="46">
                  <c:v>2016-09-30</c:v>
                </c:pt>
                <c:pt idx="47">
                  <c:v>2016-10-31</c:v>
                </c:pt>
                <c:pt idx="48">
                  <c:v>2016-11-30</c:v>
                </c:pt>
                <c:pt idx="49">
                  <c:v>2016-12-31</c:v>
                </c:pt>
                <c:pt idx="50">
                  <c:v>2017-01-31</c:v>
                </c:pt>
                <c:pt idx="51">
                  <c:v>2017-02-28</c:v>
                </c:pt>
                <c:pt idx="52">
                  <c:v>2017-03-31</c:v>
                </c:pt>
                <c:pt idx="53">
                  <c:v>2017-04-30</c:v>
                </c:pt>
                <c:pt idx="54">
                  <c:v>2017-05-31</c:v>
                </c:pt>
                <c:pt idx="55">
                  <c:v>2017-06-30</c:v>
                </c:pt>
                <c:pt idx="56">
                  <c:v>2017-07-31</c:v>
                </c:pt>
                <c:pt idx="57">
                  <c:v>2017-08-31</c:v>
                </c:pt>
                <c:pt idx="58">
                  <c:v>2017-09-30</c:v>
                </c:pt>
                <c:pt idx="59">
                  <c:v>2017-10-31</c:v>
                </c:pt>
                <c:pt idx="60">
                  <c:v>2017-11-30</c:v>
                </c:pt>
                <c:pt idx="61">
                  <c:v>2017-12-31</c:v>
                </c:pt>
                <c:pt idx="62">
                  <c:v>2018-01-31</c:v>
                </c:pt>
                <c:pt idx="63">
                  <c:v>2018-02-28</c:v>
                </c:pt>
                <c:pt idx="64">
                  <c:v>2018-03-31</c:v>
                </c:pt>
                <c:pt idx="65">
                  <c:v>2018-04-30</c:v>
                </c:pt>
                <c:pt idx="66">
                  <c:v>2018-05-31</c:v>
                </c:pt>
                <c:pt idx="67">
                  <c:v>2018-06-30</c:v>
                </c:pt>
                <c:pt idx="68">
                  <c:v>2018-07-31</c:v>
                </c:pt>
                <c:pt idx="69">
                  <c:v>2018-08-31</c:v>
                </c:pt>
                <c:pt idx="70">
                  <c:v>2018-09-30</c:v>
                </c:pt>
                <c:pt idx="71">
                  <c:v>2018-10-31</c:v>
                </c:pt>
                <c:pt idx="72">
                  <c:v>2018-11-30</c:v>
                </c:pt>
                <c:pt idx="73">
                  <c:v>2018-12-31</c:v>
                </c:pt>
                <c:pt idx="74">
                  <c:v>2019-01-31</c:v>
                </c:pt>
                <c:pt idx="75">
                  <c:v>2019-02-28</c:v>
                </c:pt>
                <c:pt idx="76">
                  <c:v>2019-03-31</c:v>
                </c:pt>
                <c:pt idx="77">
                  <c:v>2019-04-30</c:v>
                </c:pt>
                <c:pt idx="78">
                  <c:v>2019-05-31</c:v>
                </c:pt>
                <c:pt idx="79">
                  <c:v>2019-06-30</c:v>
                </c:pt>
                <c:pt idx="80">
                  <c:v>2019-07-31</c:v>
                </c:pt>
                <c:pt idx="81">
                  <c:v>2019-08-31</c:v>
                </c:pt>
                <c:pt idx="82">
                  <c:v>2019-09-30</c:v>
                </c:pt>
                <c:pt idx="83">
                  <c:v>2019-10-31</c:v>
                </c:pt>
                <c:pt idx="84">
                  <c:v>2019-11-30</c:v>
                </c:pt>
                <c:pt idx="85">
                  <c:v>2019-12-31</c:v>
                </c:pt>
                <c:pt idx="86">
                  <c:v>2020-01-31</c:v>
                </c:pt>
                <c:pt idx="87">
                  <c:v>2020-02-29</c:v>
                </c:pt>
                <c:pt idx="88">
                  <c:v>2020-03-31</c:v>
                </c:pt>
                <c:pt idx="89">
                  <c:v>2020-04-30</c:v>
                </c:pt>
                <c:pt idx="90">
                  <c:v>2020-05-31</c:v>
                </c:pt>
                <c:pt idx="91">
                  <c:v>2020-06-30</c:v>
                </c:pt>
                <c:pt idx="92">
                  <c:v>2020-07-31</c:v>
                </c:pt>
                <c:pt idx="93">
                  <c:v>2020-08-31</c:v>
                </c:pt>
                <c:pt idx="94">
                  <c:v>2020-09-30</c:v>
                </c:pt>
                <c:pt idx="95">
                  <c:v>2020-10-31</c:v>
                </c:pt>
                <c:pt idx="96">
                  <c:v>2020-11-30</c:v>
                </c:pt>
                <c:pt idx="97">
                  <c:v>2020-12-31</c:v>
                </c:pt>
                <c:pt idx="98">
                  <c:v>2021-01-31</c:v>
                </c:pt>
                <c:pt idx="99">
                  <c:v>2021-02-28</c:v>
                </c:pt>
                <c:pt idx="100">
                  <c:v>2021-03-31</c:v>
                </c:pt>
                <c:pt idx="101">
                  <c:v>2021-04-30</c:v>
                </c:pt>
                <c:pt idx="102">
                  <c:v>2021-05-31</c:v>
                </c:pt>
                <c:pt idx="103">
                  <c:v>2021-06-30</c:v>
                </c:pt>
                <c:pt idx="104">
                  <c:v>2021-07-31</c:v>
                </c:pt>
                <c:pt idx="105">
                  <c:v>2021-08-31</c:v>
                </c:pt>
                <c:pt idx="106">
                  <c:v>2021-09-30</c:v>
                </c:pt>
                <c:pt idx="107">
                  <c:v>2021-10-31</c:v>
                </c:pt>
                <c:pt idx="108">
                  <c:v>2021-11-30</c:v>
                </c:pt>
                <c:pt idx="109">
                  <c:v>2021-12-31</c:v>
                </c:pt>
                <c:pt idx="110">
                  <c:v>2022-01-31</c:v>
                </c:pt>
                <c:pt idx="111">
                  <c:v>2022-02-28</c:v>
                </c:pt>
                <c:pt idx="112">
                  <c:v>2022-03-31</c:v>
                </c:pt>
                <c:pt idx="113">
                  <c:v>2022-04-30</c:v>
                </c:pt>
                <c:pt idx="114">
                  <c:v>2022-05-31</c:v>
                </c:pt>
                <c:pt idx="115">
                  <c:v>2022-06-30</c:v>
                </c:pt>
                <c:pt idx="116">
                  <c:v>2022-07-31</c:v>
                </c:pt>
                <c:pt idx="117">
                  <c:v>2022-08-31</c:v>
                </c:pt>
                <c:pt idx="118">
                  <c:v>2022-09-30</c:v>
                </c:pt>
                <c:pt idx="119">
                  <c:v>2022-10-31</c:v>
                </c:pt>
                <c:pt idx="120">
                  <c:v>2022-11-30</c:v>
                </c:pt>
                <c:pt idx="121">
                  <c:v>2022-12-31</c:v>
                </c:pt>
                <c:pt idx="122">
                  <c:v>2023-01-31</c:v>
                </c:pt>
                <c:pt idx="123">
                  <c:v>2023-02-28</c:v>
                </c:pt>
                <c:pt idx="124">
                  <c:v>2023-03-31</c:v>
                </c:pt>
                <c:pt idx="125">
                  <c:v>2023-04-30</c:v>
                </c:pt>
                <c:pt idx="126">
                  <c:v>2023-05-31</c:v>
                </c:pt>
                <c:pt idx="127">
                  <c:v>2023-06-30</c:v>
                </c:pt>
                <c:pt idx="128">
                  <c:v>2023-07-31</c:v>
                </c:pt>
                <c:pt idx="129">
                  <c:v>2023-08-31</c:v>
                </c:pt>
                <c:pt idx="130">
                  <c:v>2023-09-30</c:v>
                </c:pt>
                <c:pt idx="131">
                  <c:v>2023-10-31</c:v>
                </c:pt>
                <c:pt idx="132">
                  <c:v>2023-11-30</c:v>
                </c:pt>
                <c:pt idx="133">
                  <c:v>2023-12-31</c:v>
                </c:pt>
                <c:pt idx="134">
                  <c:v>2024-01-31</c:v>
                </c:pt>
                <c:pt idx="135">
                  <c:v>2024-02-29</c:v>
                </c:pt>
                <c:pt idx="136">
                  <c:v>2024-03-31</c:v>
                </c:pt>
                <c:pt idx="137">
                  <c:v>2024-04-30</c:v>
                </c:pt>
                <c:pt idx="138">
                  <c:v>2024-05-31</c:v>
                </c:pt>
                <c:pt idx="139">
                  <c:v>2024-06-30</c:v>
                </c:pt>
                <c:pt idx="140">
                  <c:v>2024-07-31</c:v>
                </c:pt>
                <c:pt idx="141">
                  <c:v>2024-08-31</c:v>
                </c:pt>
                <c:pt idx="142">
                  <c:v>2024-09-30</c:v>
                </c:pt>
                <c:pt idx="143">
                  <c:v>2024-10-31</c:v>
                </c:pt>
                <c:pt idx="144">
                  <c:v>2024-11-30</c:v>
                </c:pt>
                <c:pt idx="145">
                  <c:v>2024-12-31</c:v>
                </c:pt>
                <c:pt idx="146">
                  <c:v>2025-01-31</c:v>
                </c:pt>
                <c:pt idx="147">
                  <c:v>2025-02-28</c:v>
                </c:pt>
                <c:pt idx="148">
                  <c:v>2025-03-31</c:v>
                </c:pt>
                <c:pt idx="149">
                  <c:v>2025-04-30</c:v>
                </c:pt>
                <c:pt idx="150">
                  <c:v>2025-05-31</c:v>
                </c:pt>
                <c:pt idx="151">
                  <c:v>2025-06-30</c:v>
                </c:pt>
                <c:pt idx="152">
                  <c:v>2025-07-31</c:v>
                </c:pt>
                <c:pt idx="153">
                  <c:v>2025-08-31</c:v>
                </c:pt>
                <c:pt idx="154">
                  <c:v>2025-09-30</c:v>
                </c:pt>
                <c:pt idx="155">
                  <c:v>2025-10-31</c:v>
                </c:pt>
                <c:pt idx="156">
                  <c:v>2025-11-30</c:v>
                </c:pt>
                <c:pt idx="157">
                  <c:v>2025-12-31</c:v>
                </c:pt>
                <c:pt idx="158">
                  <c:v>2026-01-31</c:v>
                </c:pt>
                <c:pt idx="159">
                  <c:v>2026-02-28</c:v>
                </c:pt>
                <c:pt idx="160">
                  <c:v>2026-03-31</c:v>
                </c:pt>
                <c:pt idx="161">
                  <c:v>2026-04-30</c:v>
                </c:pt>
                <c:pt idx="162">
                  <c:v>2026-05-31</c:v>
                </c:pt>
                <c:pt idx="163">
                  <c:v>2026-06-30</c:v>
                </c:pt>
                <c:pt idx="164">
                  <c:v>2026-07-31</c:v>
                </c:pt>
                <c:pt idx="165">
                  <c:v>2026-08-31</c:v>
                </c:pt>
                <c:pt idx="166">
                  <c:v>2026-09-30</c:v>
                </c:pt>
              </c:strCache>
            </c:strRef>
          </c:cat>
          <c:val>
            <c:numRef>
              <c:f>'Chart Data'!$B$2:$B$168</c:f>
              <c:numCache>
                <c:formatCode>0.0"x"</c:formatCode>
                <c:ptCount val="167"/>
                <c:pt idx="0">
                  <c:v>1.0078</c:v>
                </c:pt>
                <c:pt idx="1">
                  <c:v>1.0137</c:v>
                </c:pt>
                <c:pt idx="2">
                  <c:v>1.0286999999999999</c:v>
                </c:pt>
                <c:pt idx="3">
                  <c:v>1.0183</c:v>
                </c:pt>
                <c:pt idx="4">
                  <c:v>1.0296000000000001</c:v>
                </c:pt>
                <c:pt idx="5">
                  <c:v>1.0283</c:v>
                </c:pt>
                <c:pt idx="6">
                  <c:v>1.0088999999999999</c:v>
                </c:pt>
                <c:pt idx="7">
                  <c:v>0.97560000000000002</c:v>
                </c:pt>
                <c:pt idx="8">
                  <c:v>1.0045999999999999</c:v>
                </c:pt>
                <c:pt idx="9">
                  <c:v>1.0008999999999999</c:v>
                </c:pt>
                <c:pt idx="10">
                  <c:v>1.0135000000000001</c:v>
                </c:pt>
                <c:pt idx="11">
                  <c:v>1.0309999999999999</c:v>
                </c:pt>
                <c:pt idx="12">
                  <c:v>1.0278</c:v>
                </c:pt>
                <c:pt idx="13">
                  <c:v>1.0257000000000001</c:v>
                </c:pt>
                <c:pt idx="14">
                  <c:v>1.0136000000000001</c:v>
                </c:pt>
                <c:pt idx="15">
                  <c:v>1.0467</c:v>
                </c:pt>
                <c:pt idx="16">
                  <c:v>1.0481</c:v>
                </c:pt>
                <c:pt idx="17">
                  <c:v>1.056</c:v>
                </c:pt>
                <c:pt idx="18">
                  <c:v>1.0629</c:v>
                </c:pt>
                <c:pt idx="19">
                  <c:v>1.0809</c:v>
                </c:pt>
                <c:pt idx="20">
                  <c:v>1.0638000000000001</c:v>
                </c:pt>
                <c:pt idx="21">
                  <c:v>1.0782</c:v>
                </c:pt>
                <c:pt idx="22">
                  <c:v>1.0422</c:v>
                </c:pt>
                <c:pt idx="23">
                  <c:v>1.042</c:v>
                </c:pt>
                <c:pt idx="24">
                  <c:v>1.0356000000000001</c:v>
                </c:pt>
                <c:pt idx="25">
                  <c:v>1.0157</c:v>
                </c:pt>
                <c:pt idx="26">
                  <c:v>1.0210999999999999</c:v>
                </c:pt>
                <c:pt idx="27">
                  <c:v>1.0353000000000001</c:v>
                </c:pt>
                <c:pt idx="28">
                  <c:v>1.0202</c:v>
                </c:pt>
                <c:pt idx="29">
                  <c:v>1.0408999999999999</c:v>
                </c:pt>
                <c:pt idx="30">
                  <c:v>1.0348999999999999</c:v>
                </c:pt>
                <c:pt idx="31">
                  <c:v>1.0223</c:v>
                </c:pt>
                <c:pt idx="32">
                  <c:v>0.998</c:v>
                </c:pt>
                <c:pt idx="33">
                  <c:v>0.9768</c:v>
                </c:pt>
                <c:pt idx="34">
                  <c:v>0.96250000000000002</c:v>
                </c:pt>
                <c:pt idx="35">
                  <c:v>0.99050000000000005</c:v>
                </c:pt>
                <c:pt idx="36">
                  <c:v>0.97</c:v>
                </c:pt>
                <c:pt idx="37">
                  <c:v>0.95220000000000005</c:v>
                </c:pt>
                <c:pt idx="38">
                  <c:v>0.94189999999999996</c:v>
                </c:pt>
                <c:pt idx="39">
                  <c:v>0.95409999999999995</c:v>
                </c:pt>
                <c:pt idx="40">
                  <c:v>0.9889</c:v>
                </c:pt>
                <c:pt idx="41">
                  <c:v>1.0130999999999999</c:v>
                </c:pt>
                <c:pt idx="42">
                  <c:v>1.0068999999999999</c:v>
                </c:pt>
                <c:pt idx="43">
                  <c:v>1.0355000000000001</c:v>
                </c:pt>
                <c:pt idx="44">
                  <c:v>1.0428999999999999</c:v>
                </c:pt>
                <c:pt idx="45">
                  <c:v>1.0395000000000001</c:v>
                </c:pt>
                <c:pt idx="46">
                  <c:v>1.0508</c:v>
                </c:pt>
                <c:pt idx="47">
                  <c:v>1.0368999999999999</c:v>
                </c:pt>
                <c:pt idx="48">
                  <c:v>1.0232000000000001</c:v>
                </c:pt>
                <c:pt idx="49">
                  <c:v>1.0343</c:v>
                </c:pt>
                <c:pt idx="50">
                  <c:v>1.0518000000000001</c:v>
                </c:pt>
                <c:pt idx="51">
                  <c:v>1.0683</c:v>
                </c:pt>
                <c:pt idx="52">
                  <c:v>1.0682</c:v>
                </c:pt>
                <c:pt idx="53">
                  <c:v>1.0742</c:v>
                </c:pt>
                <c:pt idx="54">
                  <c:v>1.0813999999999999</c:v>
                </c:pt>
                <c:pt idx="55">
                  <c:v>1.0798000000000001</c:v>
                </c:pt>
                <c:pt idx="56">
                  <c:v>1.1025</c:v>
                </c:pt>
                <c:pt idx="57">
                  <c:v>1.1147</c:v>
                </c:pt>
                <c:pt idx="58">
                  <c:v>1.1175999999999999</c:v>
                </c:pt>
                <c:pt idx="59">
                  <c:v>1.1322000000000001</c:v>
                </c:pt>
                <c:pt idx="60">
                  <c:v>1.1413</c:v>
                </c:pt>
                <c:pt idx="61">
                  <c:v>1.1578999999999999</c:v>
                </c:pt>
                <c:pt idx="62">
                  <c:v>1.1862999999999999</c:v>
                </c:pt>
                <c:pt idx="63">
                  <c:v>1.1546000000000001</c:v>
                </c:pt>
                <c:pt idx="64">
                  <c:v>1.157</c:v>
                </c:pt>
                <c:pt idx="65">
                  <c:v>1.1576</c:v>
                </c:pt>
                <c:pt idx="66">
                  <c:v>1.1633</c:v>
                </c:pt>
                <c:pt idx="67">
                  <c:v>1.1506000000000001</c:v>
                </c:pt>
                <c:pt idx="68">
                  <c:v>1.1576</c:v>
                </c:pt>
                <c:pt idx="69">
                  <c:v>1.1599999999999999</c:v>
                </c:pt>
                <c:pt idx="70">
                  <c:v>1.163</c:v>
                </c:pt>
                <c:pt idx="71">
                  <c:v>1.1245000000000001</c:v>
                </c:pt>
                <c:pt idx="72">
                  <c:v>1.1228</c:v>
                </c:pt>
                <c:pt idx="73">
                  <c:v>1.1021000000000001</c:v>
                </c:pt>
                <c:pt idx="74">
                  <c:v>1.1535</c:v>
                </c:pt>
                <c:pt idx="75">
                  <c:v>1.1651</c:v>
                </c:pt>
                <c:pt idx="76">
                  <c:v>1.1759999999999999</c:v>
                </c:pt>
                <c:pt idx="77">
                  <c:v>1.1901999999999999</c:v>
                </c:pt>
                <c:pt idx="78">
                  <c:v>1.1639999999999999</c:v>
                </c:pt>
                <c:pt idx="79">
                  <c:v>1.2148000000000001</c:v>
                </c:pt>
                <c:pt idx="80">
                  <c:v>1.2115</c:v>
                </c:pt>
                <c:pt idx="81">
                  <c:v>1.216</c:v>
                </c:pt>
                <c:pt idx="82">
                  <c:v>1.2218</c:v>
                </c:pt>
                <c:pt idx="83">
                  <c:v>1.2433000000000001</c:v>
                </c:pt>
                <c:pt idx="84">
                  <c:v>1.2463</c:v>
                </c:pt>
                <c:pt idx="85">
                  <c:v>1.2793000000000001</c:v>
                </c:pt>
                <c:pt idx="86">
                  <c:v>1.2686999999999999</c:v>
                </c:pt>
                <c:pt idx="87">
                  <c:v>1.2296</c:v>
                </c:pt>
                <c:pt idx="88">
                  <c:v>1.1374</c:v>
                </c:pt>
                <c:pt idx="89">
                  <c:v>1.1865000000000001</c:v>
                </c:pt>
                <c:pt idx="90">
                  <c:v>1.2254</c:v>
                </c:pt>
                <c:pt idx="91">
                  <c:v>1.2499</c:v>
                </c:pt>
                <c:pt idx="92">
                  <c:v>1.3021</c:v>
                </c:pt>
                <c:pt idx="93">
                  <c:v>1.3317000000000001</c:v>
                </c:pt>
                <c:pt idx="94">
                  <c:v>1.3075000000000001</c:v>
                </c:pt>
                <c:pt idx="95">
                  <c:v>1.2883</c:v>
                </c:pt>
                <c:pt idx="96">
                  <c:v>1.3579000000000001</c:v>
                </c:pt>
                <c:pt idx="97">
                  <c:v>1.4043000000000001</c:v>
                </c:pt>
                <c:pt idx="98">
                  <c:v>1.4024000000000001</c:v>
                </c:pt>
                <c:pt idx="99">
                  <c:v>1.4200999999999999</c:v>
                </c:pt>
                <c:pt idx="100">
                  <c:v>1.4267000000000001</c:v>
                </c:pt>
                <c:pt idx="101">
                  <c:v>1.4714</c:v>
                </c:pt>
                <c:pt idx="102">
                  <c:v>1.5068999999999999</c:v>
                </c:pt>
                <c:pt idx="103">
                  <c:v>1.5068999999999999</c:v>
                </c:pt>
                <c:pt idx="104">
                  <c:v>1.5205</c:v>
                </c:pt>
                <c:pt idx="105">
                  <c:v>1.5268999999999999</c:v>
                </c:pt>
                <c:pt idx="106">
                  <c:v>1.5043</c:v>
                </c:pt>
                <c:pt idx="107">
                  <c:v>1.5418000000000001</c:v>
                </c:pt>
                <c:pt idx="108">
                  <c:v>1.5064</c:v>
                </c:pt>
                <c:pt idx="109">
                  <c:v>1.5508</c:v>
                </c:pt>
                <c:pt idx="110">
                  <c:v>1.5407999999999999</c:v>
                </c:pt>
                <c:pt idx="111">
                  <c:v>1.5482</c:v>
                </c:pt>
                <c:pt idx="112">
                  <c:v>1.5604</c:v>
                </c:pt>
                <c:pt idx="113">
                  <c:v>1.5128999999999999</c:v>
                </c:pt>
                <c:pt idx="114">
                  <c:v>1.5286</c:v>
                </c:pt>
                <c:pt idx="115">
                  <c:v>1.4599</c:v>
                </c:pt>
                <c:pt idx="116">
                  <c:v>1.4917</c:v>
                </c:pt>
                <c:pt idx="117">
                  <c:v>1.4471000000000001</c:v>
                </c:pt>
                <c:pt idx="118">
                  <c:v>1.3561000000000001</c:v>
                </c:pt>
                <c:pt idx="119">
                  <c:v>1.3904000000000001</c:v>
                </c:pt>
                <c:pt idx="120">
                  <c:v>1.4728000000000001</c:v>
                </c:pt>
                <c:pt idx="121">
                  <c:v>1.448</c:v>
                </c:pt>
                <c:pt idx="122">
                  <c:v>1.5101</c:v>
                </c:pt>
                <c:pt idx="123">
                  <c:v>1.4540999999999999</c:v>
                </c:pt>
                <c:pt idx="124">
                  <c:v>1.4951000000000001</c:v>
                </c:pt>
                <c:pt idx="125">
                  <c:v>1.5065999999999999</c:v>
                </c:pt>
                <c:pt idx="126">
                  <c:v>1.4698</c:v>
                </c:pt>
                <c:pt idx="127">
                  <c:v>1.4975000000000001</c:v>
                </c:pt>
                <c:pt idx="128">
                  <c:v>1.5415000000000001</c:v>
                </c:pt>
                <c:pt idx="129">
                  <c:v>1.5161</c:v>
                </c:pt>
                <c:pt idx="130">
                  <c:v>1.4774</c:v>
                </c:pt>
                <c:pt idx="131">
                  <c:v>1.4641</c:v>
                </c:pt>
                <c:pt idx="132">
                  <c:v>1.5266</c:v>
                </c:pt>
                <c:pt idx="133">
                  <c:v>1.5653999999999999</c:v>
                </c:pt>
                <c:pt idx="134">
                  <c:v>1.5640000000000001</c:v>
                </c:pt>
                <c:pt idx="135">
                  <c:v>1.5751999999999999</c:v>
                </c:pt>
                <c:pt idx="136">
                  <c:v>1.6275999999999999</c:v>
                </c:pt>
                <c:pt idx="137">
                  <c:v>1.6057999999999999</c:v>
                </c:pt>
                <c:pt idx="138">
                  <c:v>1.6396999999999999</c:v>
                </c:pt>
                <c:pt idx="139">
                  <c:v>1.6516999999999999</c:v>
                </c:pt>
                <c:pt idx="140">
                  <c:v>1.6852</c:v>
                </c:pt>
                <c:pt idx="141">
                  <c:v>1.7071000000000001</c:v>
                </c:pt>
                <c:pt idx="142">
                  <c:v>1.7430000000000001</c:v>
                </c:pt>
                <c:pt idx="143">
                  <c:v>1.7228000000000001</c:v>
                </c:pt>
                <c:pt idx="144">
                  <c:v>1.7331000000000001</c:v>
                </c:pt>
                <c:pt idx="145">
                  <c:v>1.7022999999999999</c:v>
                </c:pt>
                <c:pt idx="146">
                  <c:v>1.7488999999999999</c:v>
                </c:pt>
                <c:pt idx="147">
                  <c:v>1.7715000000000001</c:v>
                </c:pt>
                <c:pt idx="148">
                  <c:v>1.7871999999999999</c:v>
                </c:pt>
                <c:pt idx="149">
                  <c:v>1.7795000000000001</c:v>
                </c:pt>
                <c:pt idx="150">
                  <c:v>1.8087</c:v>
                </c:pt>
                <c:pt idx="151">
                  <c:v>1.8619000000000001</c:v>
                </c:pt>
                <c:pt idx="152">
                  <c:v>1.869</c:v>
                </c:pt>
                <c:pt idx="153">
                  <c:v>1.9086000000000001</c:v>
                </c:pt>
                <c:pt idx="154">
                  <c:v>1.9691000000000001</c:v>
                </c:pt>
                <c:pt idx="155">
                  <c:v>1.9972000000000001</c:v>
                </c:pt>
                <c:pt idx="156">
                  <c:v>2.0226000000000002</c:v>
                </c:pt>
                <c:pt idx="157">
                  <c:v>2.0354000000000001</c:v>
                </c:pt>
                <c:pt idx="158">
                  <c:v>2.1280999999999999</c:v>
                </c:pt>
                <c:pt idx="159">
                  <c:v>2.1981999999999999</c:v>
                </c:pt>
                <c:pt idx="160">
                  <c:v>2.1518999999999999</c:v>
                </c:pt>
                <c:pt idx="161">
                  <c:v>2.2397999999999998</c:v>
                </c:pt>
                <c:pt idx="162">
                  <c:v>2.2547000000000001</c:v>
                </c:pt>
                <c:pt idx="163">
                  <c:v>2.1997</c:v>
                </c:pt>
                <c:pt idx="164">
                  <c:v>2.2227000000000001</c:v>
                </c:pt>
                <c:pt idx="165">
                  <c:v>2.2942</c:v>
                </c:pt>
                <c:pt idx="166">
                  <c:v>2.2490000000000001</c:v>
                </c:pt>
              </c:numCache>
            </c:numRef>
          </c:val>
          <c:smooth val="0"/>
          <c:extLst>
            <c:ext xmlns:c16="http://schemas.microsoft.com/office/drawing/2014/chart" uri="{C3380CC4-5D6E-409C-BE32-E72D297353CC}">
              <c16:uniqueId val="{00000000-CF27-4F28-BA80-1FA06ADC0224}"/>
            </c:ext>
          </c:extLst>
        </c:ser>
        <c:ser>
          <c:idx val="1"/>
          <c:order val="1"/>
          <c:tx>
            <c:v>Equal Weight</c:v>
          </c:tx>
          <c:spPr>
            <a:ln w="24765">
              <a:solidFill>
                <a:srgbClr val="9B8052"/>
              </a:solidFill>
            </a:ln>
          </c:spPr>
          <c:marker>
            <c:symbol val="none"/>
          </c:marker>
          <c:cat>
            <c:strRef>
              <c:f>'Chart Data'!$C$2:$C$168</c:f>
              <c:strCache>
                <c:ptCount val="167"/>
                <c:pt idx="0">
                  <c:v>2012-11-30</c:v>
                </c:pt>
                <c:pt idx="1">
                  <c:v>2012-12-31</c:v>
                </c:pt>
                <c:pt idx="2">
                  <c:v>2013-01-31</c:v>
                </c:pt>
                <c:pt idx="3">
                  <c:v>2013-02-28</c:v>
                </c:pt>
                <c:pt idx="4">
                  <c:v>2013-03-31</c:v>
                </c:pt>
                <c:pt idx="5">
                  <c:v>2013-04-30</c:v>
                </c:pt>
                <c:pt idx="6">
                  <c:v>2013-05-31</c:v>
                </c:pt>
                <c:pt idx="7">
                  <c:v>2013-06-30</c:v>
                </c:pt>
                <c:pt idx="8">
                  <c:v>2013-07-31</c:v>
                </c:pt>
                <c:pt idx="9">
                  <c:v>2013-08-31</c:v>
                </c:pt>
                <c:pt idx="10">
                  <c:v>2013-09-30</c:v>
                </c:pt>
                <c:pt idx="11">
                  <c:v>2013-10-31</c:v>
                </c:pt>
                <c:pt idx="12">
                  <c:v>2013-11-30</c:v>
                </c:pt>
                <c:pt idx="13">
                  <c:v>2013-12-31</c:v>
                </c:pt>
                <c:pt idx="14">
                  <c:v>2014-01-31</c:v>
                </c:pt>
                <c:pt idx="15">
                  <c:v>2014-02-28</c:v>
                </c:pt>
                <c:pt idx="16">
                  <c:v>2014-03-31</c:v>
                </c:pt>
                <c:pt idx="17">
                  <c:v>2014-04-30</c:v>
                </c:pt>
                <c:pt idx="18">
                  <c:v>2014-05-31</c:v>
                </c:pt>
                <c:pt idx="19">
                  <c:v>2014-06-30</c:v>
                </c:pt>
                <c:pt idx="20">
                  <c:v>2014-07-31</c:v>
                </c:pt>
                <c:pt idx="21">
                  <c:v>2014-08-31</c:v>
                </c:pt>
                <c:pt idx="22">
                  <c:v>2014-09-30</c:v>
                </c:pt>
                <c:pt idx="23">
                  <c:v>2014-10-31</c:v>
                </c:pt>
                <c:pt idx="24">
                  <c:v>2014-11-30</c:v>
                </c:pt>
                <c:pt idx="25">
                  <c:v>2014-12-31</c:v>
                </c:pt>
                <c:pt idx="26">
                  <c:v>2015-01-31</c:v>
                </c:pt>
                <c:pt idx="27">
                  <c:v>2015-02-28</c:v>
                </c:pt>
                <c:pt idx="28">
                  <c:v>2015-03-31</c:v>
                </c:pt>
                <c:pt idx="29">
                  <c:v>2015-04-30</c:v>
                </c:pt>
                <c:pt idx="30">
                  <c:v>2015-05-31</c:v>
                </c:pt>
                <c:pt idx="31">
                  <c:v>2015-06-30</c:v>
                </c:pt>
                <c:pt idx="32">
                  <c:v>2015-07-31</c:v>
                </c:pt>
                <c:pt idx="33">
                  <c:v>2015-08-31</c:v>
                </c:pt>
                <c:pt idx="34">
                  <c:v>2015-09-30</c:v>
                </c:pt>
                <c:pt idx="35">
                  <c:v>2015-10-31</c:v>
                </c:pt>
                <c:pt idx="36">
                  <c:v>2015-11-30</c:v>
                </c:pt>
                <c:pt idx="37">
                  <c:v>2015-12-31</c:v>
                </c:pt>
                <c:pt idx="38">
                  <c:v>2016-01-31</c:v>
                </c:pt>
                <c:pt idx="39">
                  <c:v>2016-02-29</c:v>
                </c:pt>
                <c:pt idx="40">
                  <c:v>2016-03-31</c:v>
                </c:pt>
                <c:pt idx="41">
                  <c:v>2016-04-30</c:v>
                </c:pt>
                <c:pt idx="42">
                  <c:v>2016-05-31</c:v>
                </c:pt>
                <c:pt idx="43">
                  <c:v>2016-06-30</c:v>
                </c:pt>
                <c:pt idx="44">
                  <c:v>2016-07-31</c:v>
                </c:pt>
                <c:pt idx="45">
                  <c:v>2016-08-31</c:v>
                </c:pt>
                <c:pt idx="46">
                  <c:v>2016-09-30</c:v>
                </c:pt>
                <c:pt idx="47">
                  <c:v>2016-10-31</c:v>
                </c:pt>
                <c:pt idx="48">
                  <c:v>2016-11-30</c:v>
                </c:pt>
                <c:pt idx="49">
                  <c:v>2016-12-31</c:v>
                </c:pt>
                <c:pt idx="50">
                  <c:v>2017-01-31</c:v>
                </c:pt>
                <c:pt idx="51">
                  <c:v>2017-02-28</c:v>
                </c:pt>
                <c:pt idx="52">
                  <c:v>2017-03-31</c:v>
                </c:pt>
                <c:pt idx="53">
                  <c:v>2017-04-30</c:v>
                </c:pt>
                <c:pt idx="54">
                  <c:v>2017-05-31</c:v>
                </c:pt>
                <c:pt idx="55">
                  <c:v>2017-06-30</c:v>
                </c:pt>
                <c:pt idx="56">
                  <c:v>2017-07-31</c:v>
                </c:pt>
                <c:pt idx="57">
                  <c:v>2017-08-31</c:v>
                </c:pt>
                <c:pt idx="58">
                  <c:v>2017-09-30</c:v>
                </c:pt>
                <c:pt idx="59">
                  <c:v>2017-10-31</c:v>
                </c:pt>
                <c:pt idx="60">
                  <c:v>2017-11-30</c:v>
                </c:pt>
                <c:pt idx="61">
                  <c:v>2017-12-31</c:v>
                </c:pt>
                <c:pt idx="62">
                  <c:v>2018-01-31</c:v>
                </c:pt>
                <c:pt idx="63">
                  <c:v>2018-02-28</c:v>
                </c:pt>
                <c:pt idx="64">
                  <c:v>2018-03-31</c:v>
                </c:pt>
                <c:pt idx="65">
                  <c:v>2018-04-30</c:v>
                </c:pt>
                <c:pt idx="66">
                  <c:v>2018-05-31</c:v>
                </c:pt>
                <c:pt idx="67">
                  <c:v>2018-06-30</c:v>
                </c:pt>
                <c:pt idx="68">
                  <c:v>2018-07-31</c:v>
                </c:pt>
                <c:pt idx="69">
                  <c:v>2018-08-31</c:v>
                </c:pt>
                <c:pt idx="70">
                  <c:v>2018-09-30</c:v>
                </c:pt>
                <c:pt idx="71">
                  <c:v>2018-10-31</c:v>
                </c:pt>
                <c:pt idx="72">
                  <c:v>2018-11-30</c:v>
                </c:pt>
                <c:pt idx="73">
                  <c:v>2018-12-31</c:v>
                </c:pt>
                <c:pt idx="74">
                  <c:v>2019-01-31</c:v>
                </c:pt>
                <c:pt idx="75">
                  <c:v>2019-02-28</c:v>
                </c:pt>
                <c:pt idx="76">
                  <c:v>2019-03-31</c:v>
                </c:pt>
                <c:pt idx="77">
                  <c:v>2019-04-30</c:v>
                </c:pt>
                <c:pt idx="78">
                  <c:v>2019-05-31</c:v>
                </c:pt>
                <c:pt idx="79">
                  <c:v>2019-06-30</c:v>
                </c:pt>
                <c:pt idx="80">
                  <c:v>2019-07-31</c:v>
                </c:pt>
                <c:pt idx="81">
                  <c:v>2019-08-31</c:v>
                </c:pt>
                <c:pt idx="82">
                  <c:v>2019-09-30</c:v>
                </c:pt>
                <c:pt idx="83">
                  <c:v>2019-10-31</c:v>
                </c:pt>
                <c:pt idx="84">
                  <c:v>2019-11-30</c:v>
                </c:pt>
                <c:pt idx="85">
                  <c:v>2019-12-31</c:v>
                </c:pt>
                <c:pt idx="86">
                  <c:v>2020-01-31</c:v>
                </c:pt>
                <c:pt idx="87">
                  <c:v>2020-02-29</c:v>
                </c:pt>
                <c:pt idx="88">
                  <c:v>2020-03-31</c:v>
                </c:pt>
                <c:pt idx="89">
                  <c:v>2020-04-30</c:v>
                </c:pt>
                <c:pt idx="90">
                  <c:v>2020-05-31</c:v>
                </c:pt>
                <c:pt idx="91">
                  <c:v>2020-06-30</c:v>
                </c:pt>
                <c:pt idx="92">
                  <c:v>2020-07-31</c:v>
                </c:pt>
                <c:pt idx="93">
                  <c:v>2020-08-31</c:v>
                </c:pt>
                <c:pt idx="94">
                  <c:v>2020-09-30</c:v>
                </c:pt>
                <c:pt idx="95">
                  <c:v>2020-10-31</c:v>
                </c:pt>
                <c:pt idx="96">
                  <c:v>2020-11-30</c:v>
                </c:pt>
                <c:pt idx="97">
                  <c:v>2020-12-31</c:v>
                </c:pt>
                <c:pt idx="98">
                  <c:v>2021-01-31</c:v>
                </c:pt>
                <c:pt idx="99">
                  <c:v>2021-02-28</c:v>
                </c:pt>
                <c:pt idx="100">
                  <c:v>2021-03-31</c:v>
                </c:pt>
                <c:pt idx="101">
                  <c:v>2021-04-30</c:v>
                </c:pt>
                <c:pt idx="102">
                  <c:v>2021-05-31</c:v>
                </c:pt>
                <c:pt idx="103">
                  <c:v>2021-06-30</c:v>
                </c:pt>
                <c:pt idx="104">
                  <c:v>2021-07-31</c:v>
                </c:pt>
                <c:pt idx="105">
                  <c:v>2021-08-31</c:v>
                </c:pt>
                <c:pt idx="106">
                  <c:v>2021-09-30</c:v>
                </c:pt>
                <c:pt idx="107">
                  <c:v>2021-10-31</c:v>
                </c:pt>
                <c:pt idx="108">
                  <c:v>2021-11-30</c:v>
                </c:pt>
                <c:pt idx="109">
                  <c:v>2021-12-31</c:v>
                </c:pt>
                <c:pt idx="110">
                  <c:v>2022-01-31</c:v>
                </c:pt>
                <c:pt idx="111">
                  <c:v>2022-02-28</c:v>
                </c:pt>
                <c:pt idx="112">
                  <c:v>2022-03-31</c:v>
                </c:pt>
                <c:pt idx="113">
                  <c:v>2022-04-30</c:v>
                </c:pt>
                <c:pt idx="114">
                  <c:v>2022-05-31</c:v>
                </c:pt>
                <c:pt idx="115">
                  <c:v>2022-06-30</c:v>
                </c:pt>
                <c:pt idx="116">
                  <c:v>2022-07-31</c:v>
                </c:pt>
                <c:pt idx="117">
                  <c:v>2022-08-31</c:v>
                </c:pt>
                <c:pt idx="118">
                  <c:v>2022-09-30</c:v>
                </c:pt>
                <c:pt idx="119">
                  <c:v>2022-10-31</c:v>
                </c:pt>
                <c:pt idx="120">
                  <c:v>2022-11-30</c:v>
                </c:pt>
                <c:pt idx="121">
                  <c:v>2022-12-31</c:v>
                </c:pt>
                <c:pt idx="122">
                  <c:v>2023-01-31</c:v>
                </c:pt>
                <c:pt idx="123">
                  <c:v>2023-02-28</c:v>
                </c:pt>
                <c:pt idx="124">
                  <c:v>2023-03-31</c:v>
                </c:pt>
                <c:pt idx="125">
                  <c:v>2023-04-30</c:v>
                </c:pt>
                <c:pt idx="126">
                  <c:v>2023-05-31</c:v>
                </c:pt>
                <c:pt idx="127">
                  <c:v>2023-06-30</c:v>
                </c:pt>
                <c:pt idx="128">
                  <c:v>2023-07-31</c:v>
                </c:pt>
                <c:pt idx="129">
                  <c:v>2023-08-31</c:v>
                </c:pt>
                <c:pt idx="130">
                  <c:v>2023-09-30</c:v>
                </c:pt>
                <c:pt idx="131">
                  <c:v>2023-10-31</c:v>
                </c:pt>
                <c:pt idx="132">
                  <c:v>2023-11-30</c:v>
                </c:pt>
                <c:pt idx="133">
                  <c:v>2023-12-31</c:v>
                </c:pt>
                <c:pt idx="134">
                  <c:v>2024-01-31</c:v>
                </c:pt>
                <c:pt idx="135">
                  <c:v>2024-02-29</c:v>
                </c:pt>
                <c:pt idx="136">
                  <c:v>2024-03-31</c:v>
                </c:pt>
                <c:pt idx="137">
                  <c:v>2024-04-30</c:v>
                </c:pt>
                <c:pt idx="138">
                  <c:v>2024-05-31</c:v>
                </c:pt>
                <c:pt idx="139">
                  <c:v>2024-06-30</c:v>
                </c:pt>
                <c:pt idx="140">
                  <c:v>2024-07-31</c:v>
                </c:pt>
                <c:pt idx="141">
                  <c:v>2024-08-31</c:v>
                </c:pt>
                <c:pt idx="142">
                  <c:v>2024-09-30</c:v>
                </c:pt>
                <c:pt idx="143">
                  <c:v>2024-10-31</c:v>
                </c:pt>
                <c:pt idx="144">
                  <c:v>2024-11-30</c:v>
                </c:pt>
                <c:pt idx="145">
                  <c:v>2024-12-31</c:v>
                </c:pt>
                <c:pt idx="146">
                  <c:v>2025-01-31</c:v>
                </c:pt>
                <c:pt idx="147">
                  <c:v>2025-02-28</c:v>
                </c:pt>
                <c:pt idx="148">
                  <c:v>2025-03-31</c:v>
                </c:pt>
                <c:pt idx="149">
                  <c:v>2025-04-30</c:v>
                </c:pt>
                <c:pt idx="150">
                  <c:v>2025-05-31</c:v>
                </c:pt>
                <c:pt idx="151">
                  <c:v>2025-06-30</c:v>
                </c:pt>
                <c:pt idx="152">
                  <c:v>2025-07-31</c:v>
                </c:pt>
                <c:pt idx="153">
                  <c:v>2025-08-31</c:v>
                </c:pt>
                <c:pt idx="154">
                  <c:v>2025-09-30</c:v>
                </c:pt>
                <c:pt idx="155">
                  <c:v>2025-10-31</c:v>
                </c:pt>
                <c:pt idx="156">
                  <c:v>2025-11-30</c:v>
                </c:pt>
                <c:pt idx="157">
                  <c:v>2025-12-31</c:v>
                </c:pt>
                <c:pt idx="158">
                  <c:v>2026-01-31</c:v>
                </c:pt>
                <c:pt idx="159">
                  <c:v>2026-02-28</c:v>
                </c:pt>
                <c:pt idx="160">
                  <c:v>2026-03-31</c:v>
                </c:pt>
                <c:pt idx="161">
                  <c:v>2026-04-30</c:v>
                </c:pt>
                <c:pt idx="162">
                  <c:v>2026-05-31</c:v>
                </c:pt>
                <c:pt idx="163">
                  <c:v>2026-06-30</c:v>
                </c:pt>
                <c:pt idx="164">
                  <c:v>2026-07-31</c:v>
                </c:pt>
                <c:pt idx="165">
                  <c:v>2026-08-31</c:v>
                </c:pt>
                <c:pt idx="166">
                  <c:v>2026-09-30</c:v>
                </c:pt>
              </c:strCache>
            </c:strRef>
          </c:cat>
          <c:val>
            <c:numRef>
              <c:f>'Chart Data'!$D$2:$D$168</c:f>
              <c:numCache>
                <c:formatCode>0.0"x"</c:formatCode>
                <c:ptCount val="167"/>
                <c:pt idx="0">
                  <c:v>1.0078</c:v>
                </c:pt>
                <c:pt idx="1">
                  <c:v>1.0202</c:v>
                </c:pt>
                <c:pt idx="2">
                  <c:v>1.0401</c:v>
                </c:pt>
                <c:pt idx="3">
                  <c:v>1.0283</c:v>
                </c:pt>
                <c:pt idx="4">
                  <c:v>1.0412999999999999</c:v>
                </c:pt>
                <c:pt idx="5">
                  <c:v>1.042</c:v>
                </c:pt>
                <c:pt idx="6">
                  <c:v>1.0238</c:v>
                </c:pt>
                <c:pt idx="7">
                  <c:v>0.98880000000000001</c:v>
                </c:pt>
                <c:pt idx="8">
                  <c:v>1.0236000000000001</c:v>
                </c:pt>
                <c:pt idx="9">
                  <c:v>1.0178</c:v>
                </c:pt>
                <c:pt idx="10">
                  <c:v>1.0366</c:v>
                </c:pt>
                <c:pt idx="11">
                  <c:v>1.0589999999999999</c:v>
                </c:pt>
                <c:pt idx="12">
                  <c:v>1.0581</c:v>
                </c:pt>
                <c:pt idx="13">
                  <c:v>1.06</c:v>
                </c:pt>
                <c:pt idx="14">
                  <c:v>1.0371999999999999</c:v>
                </c:pt>
                <c:pt idx="15">
                  <c:v>1.0760000000000001</c:v>
                </c:pt>
                <c:pt idx="16">
                  <c:v>1.0802</c:v>
                </c:pt>
                <c:pt idx="17">
                  <c:v>1.0884</c:v>
                </c:pt>
                <c:pt idx="18">
                  <c:v>1.0963000000000001</c:v>
                </c:pt>
                <c:pt idx="19">
                  <c:v>1.1176999999999999</c:v>
                </c:pt>
                <c:pt idx="20">
                  <c:v>1.1001000000000001</c:v>
                </c:pt>
                <c:pt idx="21">
                  <c:v>1.1163000000000001</c:v>
                </c:pt>
                <c:pt idx="22">
                  <c:v>1.0755999999999999</c:v>
                </c:pt>
                <c:pt idx="23">
                  <c:v>1.0759000000000001</c:v>
                </c:pt>
                <c:pt idx="24">
                  <c:v>1.0706</c:v>
                </c:pt>
                <c:pt idx="25">
                  <c:v>1.0490999999999999</c:v>
                </c:pt>
                <c:pt idx="26">
                  <c:v>1.0501</c:v>
                </c:pt>
                <c:pt idx="27">
                  <c:v>1.0731999999999999</c:v>
                </c:pt>
                <c:pt idx="28">
                  <c:v>1.056</c:v>
                </c:pt>
                <c:pt idx="29">
                  <c:v>1.0813999999999999</c:v>
                </c:pt>
                <c:pt idx="30">
                  <c:v>1.0755999999999999</c:v>
                </c:pt>
                <c:pt idx="31">
                  <c:v>1.0604</c:v>
                </c:pt>
                <c:pt idx="32">
                  <c:v>1.0348999999999999</c:v>
                </c:pt>
                <c:pt idx="33">
                  <c:v>1.0036</c:v>
                </c:pt>
                <c:pt idx="34">
                  <c:v>0.98360000000000003</c:v>
                </c:pt>
                <c:pt idx="35">
                  <c:v>1.0218</c:v>
                </c:pt>
                <c:pt idx="36">
                  <c:v>1.0013000000000001</c:v>
                </c:pt>
                <c:pt idx="37">
                  <c:v>0.9819</c:v>
                </c:pt>
                <c:pt idx="38">
                  <c:v>0.96240000000000003</c:v>
                </c:pt>
                <c:pt idx="39">
                  <c:v>0.97240000000000004</c:v>
                </c:pt>
                <c:pt idx="40">
                  <c:v>1.018</c:v>
                </c:pt>
                <c:pt idx="41">
                  <c:v>1.0425</c:v>
                </c:pt>
                <c:pt idx="42">
                  <c:v>1.0346</c:v>
                </c:pt>
                <c:pt idx="43">
                  <c:v>1.0610999999999999</c:v>
                </c:pt>
                <c:pt idx="44">
                  <c:v>1.0762</c:v>
                </c:pt>
                <c:pt idx="45">
                  <c:v>1.0742</c:v>
                </c:pt>
                <c:pt idx="46">
                  <c:v>1.0862000000000001</c:v>
                </c:pt>
                <c:pt idx="47">
                  <c:v>1.0713999999999999</c:v>
                </c:pt>
                <c:pt idx="48">
                  <c:v>1.0609</c:v>
                </c:pt>
                <c:pt idx="49">
                  <c:v>1.0733999999999999</c:v>
                </c:pt>
                <c:pt idx="50">
                  <c:v>1.097</c:v>
                </c:pt>
                <c:pt idx="51">
                  <c:v>1.1168</c:v>
                </c:pt>
                <c:pt idx="52">
                  <c:v>1.1205000000000001</c:v>
                </c:pt>
                <c:pt idx="53">
                  <c:v>1.1286</c:v>
                </c:pt>
                <c:pt idx="54">
                  <c:v>1.1389</c:v>
                </c:pt>
                <c:pt idx="55">
                  <c:v>1.1392</c:v>
                </c:pt>
                <c:pt idx="56">
                  <c:v>1.1667000000000001</c:v>
                </c:pt>
                <c:pt idx="57">
                  <c:v>1.1791</c:v>
                </c:pt>
                <c:pt idx="58">
                  <c:v>1.1857</c:v>
                </c:pt>
                <c:pt idx="59">
                  <c:v>1.2038</c:v>
                </c:pt>
                <c:pt idx="60">
                  <c:v>1.2156</c:v>
                </c:pt>
                <c:pt idx="61">
                  <c:v>1.2358</c:v>
                </c:pt>
                <c:pt idx="62">
                  <c:v>1.2785</c:v>
                </c:pt>
                <c:pt idx="63">
                  <c:v>1.2383</c:v>
                </c:pt>
                <c:pt idx="64">
                  <c:v>1.2373000000000001</c:v>
                </c:pt>
                <c:pt idx="65">
                  <c:v>1.2379</c:v>
                </c:pt>
                <c:pt idx="66">
                  <c:v>1.2404999999999999</c:v>
                </c:pt>
                <c:pt idx="67">
                  <c:v>1.224</c:v>
                </c:pt>
                <c:pt idx="68">
                  <c:v>1.238</c:v>
                </c:pt>
                <c:pt idx="69">
                  <c:v>1.2374000000000001</c:v>
                </c:pt>
                <c:pt idx="70">
                  <c:v>1.2415</c:v>
                </c:pt>
                <c:pt idx="71">
                  <c:v>1.1906000000000001</c:v>
                </c:pt>
                <c:pt idx="72">
                  <c:v>1.194</c:v>
                </c:pt>
                <c:pt idx="73">
                  <c:v>1.1605000000000001</c:v>
                </c:pt>
                <c:pt idx="74">
                  <c:v>1.2241</c:v>
                </c:pt>
                <c:pt idx="75">
                  <c:v>1.2384999999999999</c:v>
                </c:pt>
                <c:pt idx="76">
                  <c:v>1.2482</c:v>
                </c:pt>
                <c:pt idx="77">
                  <c:v>1.2684</c:v>
                </c:pt>
                <c:pt idx="78">
                  <c:v>1.2279</c:v>
                </c:pt>
                <c:pt idx="79">
                  <c:v>1.2891999999999999</c:v>
                </c:pt>
                <c:pt idx="80">
                  <c:v>1.2844</c:v>
                </c:pt>
                <c:pt idx="81">
                  <c:v>1.2814000000000001</c:v>
                </c:pt>
                <c:pt idx="82">
                  <c:v>1.2925</c:v>
                </c:pt>
                <c:pt idx="83">
                  <c:v>1.3199000000000001</c:v>
                </c:pt>
                <c:pt idx="84">
                  <c:v>1.3264</c:v>
                </c:pt>
                <c:pt idx="85">
                  <c:v>1.3694</c:v>
                </c:pt>
                <c:pt idx="86">
                  <c:v>1.3502000000000001</c:v>
                </c:pt>
                <c:pt idx="87">
                  <c:v>1.2945</c:v>
                </c:pt>
                <c:pt idx="88">
                  <c:v>1.173</c:v>
                </c:pt>
                <c:pt idx="89">
                  <c:v>1.2379</c:v>
                </c:pt>
                <c:pt idx="90">
                  <c:v>1.2824</c:v>
                </c:pt>
                <c:pt idx="91">
                  <c:v>1.3126</c:v>
                </c:pt>
                <c:pt idx="92">
                  <c:v>1.3742000000000001</c:v>
                </c:pt>
                <c:pt idx="93">
                  <c:v>1.4135</c:v>
                </c:pt>
                <c:pt idx="94">
                  <c:v>1.3845000000000001</c:v>
                </c:pt>
                <c:pt idx="95">
                  <c:v>1.3648</c:v>
                </c:pt>
                <c:pt idx="96">
                  <c:v>1.4540999999999999</c:v>
                </c:pt>
                <c:pt idx="97">
                  <c:v>1.5127999999999999</c:v>
                </c:pt>
                <c:pt idx="98">
                  <c:v>1.512</c:v>
                </c:pt>
                <c:pt idx="99">
                  <c:v>1.5353000000000001</c:v>
                </c:pt>
                <c:pt idx="100">
                  <c:v>1.5516000000000001</c:v>
                </c:pt>
                <c:pt idx="101">
                  <c:v>1.6016999999999999</c:v>
                </c:pt>
                <c:pt idx="102">
                  <c:v>1.6435</c:v>
                </c:pt>
                <c:pt idx="103">
                  <c:v>1.6396999999999999</c:v>
                </c:pt>
                <c:pt idx="104">
                  <c:v>1.6480999999999999</c:v>
                </c:pt>
                <c:pt idx="105">
                  <c:v>1.6605000000000001</c:v>
                </c:pt>
                <c:pt idx="106">
                  <c:v>1.6282000000000001</c:v>
                </c:pt>
                <c:pt idx="107">
                  <c:v>1.6749000000000001</c:v>
                </c:pt>
                <c:pt idx="108">
                  <c:v>1.6306</c:v>
                </c:pt>
                <c:pt idx="109">
                  <c:v>1.6852</c:v>
                </c:pt>
                <c:pt idx="110">
                  <c:v>1.6694</c:v>
                </c:pt>
                <c:pt idx="111">
                  <c:v>1.6692</c:v>
                </c:pt>
                <c:pt idx="112">
                  <c:v>1.6869000000000001</c:v>
                </c:pt>
                <c:pt idx="113">
                  <c:v>1.6267</c:v>
                </c:pt>
                <c:pt idx="114">
                  <c:v>1.6425000000000001</c:v>
                </c:pt>
                <c:pt idx="115">
                  <c:v>1.5578000000000001</c:v>
                </c:pt>
                <c:pt idx="116">
                  <c:v>1.5953999999999999</c:v>
                </c:pt>
                <c:pt idx="117">
                  <c:v>1.5475000000000001</c:v>
                </c:pt>
                <c:pt idx="118">
                  <c:v>1.4413</c:v>
                </c:pt>
                <c:pt idx="119">
                  <c:v>1.4866999999999999</c:v>
                </c:pt>
                <c:pt idx="120">
                  <c:v>1.5907</c:v>
                </c:pt>
                <c:pt idx="121">
                  <c:v>1.5617000000000001</c:v>
                </c:pt>
                <c:pt idx="122">
                  <c:v>1.6376999999999999</c:v>
                </c:pt>
                <c:pt idx="123">
                  <c:v>1.5749</c:v>
                </c:pt>
                <c:pt idx="124">
                  <c:v>1.6189</c:v>
                </c:pt>
                <c:pt idx="125">
                  <c:v>1.6328</c:v>
                </c:pt>
                <c:pt idx="126">
                  <c:v>1.5927</c:v>
                </c:pt>
                <c:pt idx="127">
                  <c:v>1.6337999999999999</c:v>
                </c:pt>
                <c:pt idx="128">
                  <c:v>1.6883999999999999</c:v>
                </c:pt>
                <c:pt idx="129">
                  <c:v>1.6532</c:v>
                </c:pt>
                <c:pt idx="130">
                  <c:v>1.6080000000000001</c:v>
                </c:pt>
                <c:pt idx="131">
                  <c:v>1.5928</c:v>
                </c:pt>
                <c:pt idx="132">
                  <c:v>1.6701999999999999</c:v>
                </c:pt>
                <c:pt idx="133">
                  <c:v>1.7171000000000001</c:v>
                </c:pt>
                <c:pt idx="134">
                  <c:v>1.712</c:v>
                </c:pt>
                <c:pt idx="135">
                  <c:v>1.7373000000000001</c:v>
                </c:pt>
                <c:pt idx="136">
                  <c:v>1.8006</c:v>
                </c:pt>
                <c:pt idx="137">
                  <c:v>1.7767999999999999</c:v>
                </c:pt>
                <c:pt idx="138">
                  <c:v>1.8193999999999999</c:v>
                </c:pt>
                <c:pt idx="139">
                  <c:v>1.8326</c:v>
                </c:pt>
                <c:pt idx="140">
                  <c:v>1.871</c:v>
                </c:pt>
                <c:pt idx="141">
                  <c:v>1.8992</c:v>
                </c:pt>
                <c:pt idx="142">
                  <c:v>1.9436</c:v>
                </c:pt>
                <c:pt idx="143">
                  <c:v>1.9207000000000001</c:v>
                </c:pt>
                <c:pt idx="144">
                  <c:v>1.9332</c:v>
                </c:pt>
                <c:pt idx="145">
                  <c:v>1.8956</c:v>
                </c:pt>
                <c:pt idx="146">
                  <c:v>1.9540999999999999</c:v>
                </c:pt>
                <c:pt idx="147">
                  <c:v>1.9758</c:v>
                </c:pt>
                <c:pt idx="148">
                  <c:v>1.9903</c:v>
                </c:pt>
                <c:pt idx="149">
                  <c:v>1.986</c:v>
                </c:pt>
                <c:pt idx="150">
                  <c:v>2.0323000000000002</c:v>
                </c:pt>
                <c:pt idx="151">
                  <c:v>2.0988000000000002</c:v>
                </c:pt>
                <c:pt idx="152">
                  <c:v>2.1067999999999998</c:v>
                </c:pt>
                <c:pt idx="153">
                  <c:v>2.1576</c:v>
                </c:pt>
                <c:pt idx="154">
                  <c:v>2.2368999999999999</c:v>
                </c:pt>
                <c:pt idx="155">
                  <c:v>2.2721</c:v>
                </c:pt>
                <c:pt idx="156">
                  <c:v>2.2991999999999999</c:v>
                </c:pt>
                <c:pt idx="157">
                  <c:v>2.3210999999999999</c:v>
                </c:pt>
                <c:pt idx="158">
                  <c:v>2.4399000000000002</c:v>
                </c:pt>
                <c:pt idx="159">
                  <c:v>2.5249999999999999</c:v>
                </c:pt>
                <c:pt idx="160">
                  <c:v>2.4432</c:v>
                </c:pt>
                <c:pt idx="161">
                  <c:v>2.5663999999999998</c:v>
                </c:pt>
                <c:pt idx="162">
                  <c:v>2.6017999999999999</c:v>
                </c:pt>
                <c:pt idx="163">
                  <c:v>2.5430000000000001</c:v>
                </c:pt>
                <c:pt idx="164">
                  <c:v>2.5626000000000002</c:v>
                </c:pt>
                <c:pt idx="165">
                  <c:v>2.6524999999999999</c:v>
                </c:pt>
                <c:pt idx="166">
                  <c:v>2.6008</c:v>
                </c:pt>
              </c:numCache>
            </c:numRef>
          </c:val>
          <c:smooth val="0"/>
          <c:extLst>
            <c:ext xmlns:c16="http://schemas.microsoft.com/office/drawing/2014/chart" uri="{C3380CC4-5D6E-409C-BE32-E72D297353CC}">
              <c16:uniqueId val="{00000001-CF27-4F28-BA80-1FA06ADC0224}"/>
            </c:ext>
          </c:extLst>
        </c:ser>
        <c:ser>
          <c:idx val="2"/>
          <c:order val="2"/>
          <c:tx>
            <c:v>Risk Parity (1/vol)</c:v>
          </c:tx>
          <c:spPr>
            <a:ln w="24765">
              <a:solidFill>
                <a:srgbClr val="9BABA3"/>
              </a:solidFill>
            </a:ln>
          </c:spPr>
          <c:marker>
            <c:symbol val="none"/>
          </c:marker>
          <c:cat>
            <c:strRef>
              <c:f>'Chart Data'!$E$2:$E$168</c:f>
              <c:strCache>
                <c:ptCount val="167"/>
                <c:pt idx="0">
                  <c:v>2012-11-30</c:v>
                </c:pt>
                <c:pt idx="1">
                  <c:v>2012-12-31</c:v>
                </c:pt>
                <c:pt idx="2">
                  <c:v>2013-01-31</c:v>
                </c:pt>
                <c:pt idx="3">
                  <c:v>2013-02-28</c:v>
                </c:pt>
                <c:pt idx="4">
                  <c:v>2013-03-31</c:v>
                </c:pt>
                <c:pt idx="5">
                  <c:v>2013-04-30</c:v>
                </c:pt>
                <c:pt idx="6">
                  <c:v>2013-05-31</c:v>
                </c:pt>
                <c:pt idx="7">
                  <c:v>2013-06-30</c:v>
                </c:pt>
                <c:pt idx="8">
                  <c:v>2013-07-31</c:v>
                </c:pt>
                <c:pt idx="9">
                  <c:v>2013-08-31</c:v>
                </c:pt>
                <c:pt idx="10">
                  <c:v>2013-09-30</c:v>
                </c:pt>
                <c:pt idx="11">
                  <c:v>2013-10-31</c:v>
                </c:pt>
                <c:pt idx="12">
                  <c:v>2013-11-30</c:v>
                </c:pt>
                <c:pt idx="13">
                  <c:v>2013-12-31</c:v>
                </c:pt>
                <c:pt idx="14">
                  <c:v>2014-01-31</c:v>
                </c:pt>
                <c:pt idx="15">
                  <c:v>2014-02-28</c:v>
                </c:pt>
                <c:pt idx="16">
                  <c:v>2014-03-31</c:v>
                </c:pt>
                <c:pt idx="17">
                  <c:v>2014-04-30</c:v>
                </c:pt>
                <c:pt idx="18">
                  <c:v>2014-05-31</c:v>
                </c:pt>
                <c:pt idx="19">
                  <c:v>2014-06-30</c:v>
                </c:pt>
                <c:pt idx="20">
                  <c:v>2014-07-31</c:v>
                </c:pt>
                <c:pt idx="21">
                  <c:v>2014-08-31</c:v>
                </c:pt>
                <c:pt idx="22">
                  <c:v>2014-09-30</c:v>
                </c:pt>
                <c:pt idx="23">
                  <c:v>2014-10-31</c:v>
                </c:pt>
                <c:pt idx="24">
                  <c:v>2014-11-30</c:v>
                </c:pt>
                <c:pt idx="25">
                  <c:v>2014-12-31</c:v>
                </c:pt>
                <c:pt idx="26">
                  <c:v>2015-01-31</c:v>
                </c:pt>
                <c:pt idx="27">
                  <c:v>2015-02-28</c:v>
                </c:pt>
                <c:pt idx="28">
                  <c:v>2015-03-31</c:v>
                </c:pt>
                <c:pt idx="29">
                  <c:v>2015-04-30</c:v>
                </c:pt>
                <c:pt idx="30">
                  <c:v>2015-05-31</c:v>
                </c:pt>
                <c:pt idx="31">
                  <c:v>2015-06-30</c:v>
                </c:pt>
                <c:pt idx="32">
                  <c:v>2015-07-31</c:v>
                </c:pt>
                <c:pt idx="33">
                  <c:v>2015-08-31</c:v>
                </c:pt>
                <c:pt idx="34">
                  <c:v>2015-09-30</c:v>
                </c:pt>
                <c:pt idx="35">
                  <c:v>2015-10-31</c:v>
                </c:pt>
                <c:pt idx="36">
                  <c:v>2015-11-30</c:v>
                </c:pt>
                <c:pt idx="37">
                  <c:v>2015-12-31</c:v>
                </c:pt>
                <c:pt idx="38">
                  <c:v>2016-01-31</c:v>
                </c:pt>
                <c:pt idx="39">
                  <c:v>2016-02-29</c:v>
                </c:pt>
                <c:pt idx="40">
                  <c:v>2016-03-31</c:v>
                </c:pt>
                <c:pt idx="41">
                  <c:v>2016-04-30</c:v>
                </c:pt>
                <c:pt idx="42">
                  <c:v>2016-05-31</c:v>
                </c:pt>
                <c:pt idx="43">
                  <c:v>2016-06-30</c:v>
                </c:pt>
                <c:pt idx="44">
                  <c:v>2016-07-31</c:v>
                </c:pt>
                <c:pt idx="45">
                  <c:v>2016-08-31</c:v>
                </c:pt>
                <c:pt idx="46">
                  <c:v>2016-09-30</c:v>
                </c:pt>
                <c:pt idx="47">
                  <c:v>2016-10-31</c:v>
                </c:pt>
                <c:pt idx="48">
                  <c:v>2016-11-30</c:v>
                </c:pt>
                <c:pt idx="49">
                  <c:v>2016-12-31</c:v>
                </c:pt>
                <c:pt idx="50">
                  <c:v>2017-01-31</c:v>
                </c:pt>
                <c:pt idx="51">
                  <c:v>2017-02-28</c:v>
                </c:pt>
                <c:pt idx="52">
                  <c:v>2017-03-31</c:v>
                </c:pt>
                <c:pt idx="53">
                  <c:v>2017-04-30</c:v>
                </c:pt>
                <c:pt idx="54">
                  <c:v>2017-05-31</c:v>
                </c:pt>
                <c:pt idx="55">
                  <c:v>2017-06-30</c:v>
                </c:pt>
                <c:pt idx="56">
                  <c:v>2017-07-31</c:v>
                </c:pt>
                <c:pt idx="57">
                  <c:v>2017-08-31</c:v>
                </c:pt>
                <c:pt idx="58">
                  <c:v>2017-09-30</c:v>
                </c:pt>
                <c:pt idx="59">
                  <c:v>2017-10-31</c:v>
                </c:pt>
                <c:pt idx="60">
                  <c:v>2017-11-30</c:v>
                </c:pt>
                <c:pt idx="61">
                  <c:v>2017-12-31</c:v>
                </c:pt>
                <c:pt idx="62">
                  <c:v>2018-01-31</c:v>
                </c:pt>
                <c:pt idx="63">
                  <c:v>2018-02-28</c:v>
                </c:pt>
                <c:pt idx="64">
                  <c:v>2018-03-31</c:v>
                </c:pt>
                <c:pt idx="65">
                  <c:v>2018-04-30</c:v>
                </c:pt>
                <c:pt idx="66">
                  <c:v>2018-05-31</c:v>
                </c:pt>
                <c:pt idx="67">
                  <c:v>2018-06-30</c:v>
                </c:pt>
                <c:pt idx="68">
                  <c:v>2018-07-31</c:v>
                </c:pt>
                <c:pt idx="69">
                  <c:v>2018-08-31</c:v>
                </c:pt>
                <c:pt idx="70">
                  <c:v>2018-09-30</c:v>
                </c:pt>
                <c:pt idx="71">
                  <c:v>2018-10-31</c:v>
                </c:pt>
                <c:pt idx="72">
                  <c:v>2018-11-30</c:v>
                </c:pt>
                <c:pt idx="73">
                  <c:v>2018-12-31</c:v>
                </c:pt>
                <c:pt idx="74">
                  <c:v>2019-01-31</c:v>
                </c:pt>
                <c:pt idx="75">
                  <c:v>2019-02-28</c:v>
                </c:pt>
                <c:pt idx="76">
                  <c:v>2019-03-31</c:v>
                </c:pt>
                <c:pt idx="77">
                  <c:v>2019-04-30</c:v>
                </c:pt>
                <c:pt idx="78">
                  <c:v>2019-05-31</c:v>
                </c:pt>
                <c:pt idx="79">
                  <c:v>2019-06-30</c:v>
                </c:pt>
                <c:pt idx="80">
                  <c:v>2019-07-31</c:v>
                </c:pt>
                <c:pt idx="81">
                  <c:v>2019-08-31</c:v>
                </c:pt>
                <c:pt idx="82">
                  <c:v>2019-09-30</c:v>
                </c:pt>
                <c:pt idx="83">
                  <c:v>2019-10-31</c:v>
                </c:pt>
                <c:pt idx="84">
                  <c:v>2019-11-30</c:v>
                </c:pt>
                <c:pt idx="85">
                  <c:v>2019-12-31</c:v>
                </c:pt>
                <c:pt idx="86">
                  <c:v>2020-01-31</c:v>
                </c:pt>
                <c:pt idx="87">
                  <c:v>2020-02-29</c:v>
                </c:pt>
                <c:pt idx="88">
                  <c:v>2020-03-31</c:v>
                </c:pt>
                <c:pt idx="89">
                  <c:v>2020-04-30</c:v>
                </c:pt>
                <c:pt idx="90">
                  <c:v>2020-05-31</c:v>
                </c:pt>
                <c:pt idx="91">
                  <c:v>2020-06-30</c:v>
                </c:pt>
                <c:pt idx="92">
                  <c:v>2020-07-31</c:v>
                </c:pt>
                <c:pt idx="93">
                  <c:v>2020-08-31</c:v>
                </c:pt>
                <c:pt idx="94">
                  <c:v>2020-09-30</c:v>
                </c:pt>
                <c:pt idx="95">
                  <c:v>2020-10-31</c:v>
                </c:pt>
                <c:pt idx="96">
                  <c:v>2020-11-30</c:v>
                </c:pt>
                <c:pt idx="97">
                  <c:v>2020-12-31</c:v>
                </c:pt>
                <c:pt idx="98">
                  <c:v>2021-01-31</c:v>
                </c:pt>
                <c:pt idx="99">
                  <c:v>2021-02-28</c:v>
                </c:pt>
                <c:pt idx="100">
                  <c:v>2021-03-31</c:v>
                </c:pt>
                <c:pt idx="101">
                  <c:v>2021-04-30</c:v>
                </c:pt>
                <c:pt idx="102">
                  <c:v>2021-05-31</c:v>
                </c:pt>
                <c:pt idx="103">
                  <c:v>2021-06-30</c:v>
                </c:pt>
                <c:pt idx="104">
                  <c:v>2021-07-31</c:v>
                </c:pt>
                <c:pt idx="105">
                  <c:v>2021-08-31</c:v>
                </c:pt>
                <c:pt idx="106">
                  <c:v>2021-09-30</c:v>
                </c:pt>
                <c:pt idx="107">
                  <c:v>2021-10-31</c:v>
                </c:pt>
                <c:pt idx="108">
                  <c:v>2021-11-30</c:v>
                </c:pt>
                <c:pt idx="109">
                  <c:v>2021-12-31</c:v>
                </c:pt>
                <c:pt idx="110">
                  <c:v>2022-01-31</c:v>
                </c:pt>
                <c:pt idx="111">
                  <c:v>2022-02-28</c:v>
                </c:pt>
                <c:pt idx="112">
                  <c:v>2022-03-31</c:v>
                </c:pt>
                <c:pt idx="113">
                  <c:v>2022-04-30</c:v>
                </c:pt>
                <c:pt idx="114">
                  <c:v>2022-05-31</c:v>
                </c:pt>
                <c:pt idx="115">
                  <c:v>2022-06-30</c:v>
                </c:pt>
                <c:pt idx="116">
                  <c:v>2022-07-31</c:v>
                </c:pt>
                <c:pt idx="117">
                  <c:v>2022-08-31</c:v>
                </c:pt>
                <c:pt idx="118">
                  <c:v>2022-09-30</c:v>
                </c:pt>
                <c:pt idx="119">
                  <c:v>2022-10-31</c:v>
                </c:pt>
                <c:pt idx="120">
                  <c:v>2022-11-30</c:v>
                </c:pt>
                <c:pt idx="121">
                  <c:v>2022-12-31</c:v>
                </c:pt>
                <c:pt idx="122">
                  <c:v>2023-01-31</c:v>
                </c:pt>
                <c:pt idx="123">
                  <c:v>2023-02-28</c:v>
                </c:pt>
                <c:pt idx="124">
                  <c:v>2023-03-31</c:v>
                </c:pt>
                <c:pt idx="125">
                  <c:v>2023-04-30</c:v>
                </c:pt>
                <c:pt idx="126">
                  <c:v>2023-05-31</c:v>
                </c:pt>
                <c:pt idx="127">
                  <c:v>2023-06-30</c:v>
                </c:pt>
                <c:pt idx="128">
                  <c:v>2023-07-31</c:v>
                </c:pt>
                <c:pt idx="129">
                  <c:v>2023-08-31</c:v>
                </c:pt>
                <c:pt idx="130">
                  <c:v>2023-09-30</c:v>
                </c:pt>
                <c:pt idx="131">
                  <c:v>2023-10-31</c:v>
                </c:pt>
                <c:pt idx="132">
                  <c:v>2023-11-30</c:v>
                </c:pt>
                <c:pt idx="133">
                  <c:v>2023-12-31</c:v>
                </c:pt>
                <c:pt idx="134">
                  <c:v>2024-01-31</c:v>
                </c:pt>
                <c:pt idx="135">
                  <c:v>2024-02-29</c:v>
                </c:pt>
                <c:pt idx="136">
                  <c:v>2024-03-31</c:v>
                </c:pt>
                <c:pt idx="137">
                  <c:v>2024-04-30</c:v>
                </c:pt>
                <c:pt idx="138">
                  <c:v>2024-05-31</c:v>
                </c:pt>
                <c:pt idx="139">
                  <c:v>2024-06-30</c:v>
                </c:pt>
                <c:pt idx="140">
                  <c:v>2024-07-31</c:v>
                </c:pt>
                <c:pt idx="141">
                  <c:v>2024-08-31</c:v>
                </c:pt>
                <c:pt idx="142">
                  <c:v>2024-09-30</c:v>
                </c:pt>
                <c:pt idx="143">
                  <c:v>2024-10-31</c:v>
                </c:pt>
                <c:pt idx="144">
                  <c:v>2024-11-30</c:v>
                </c:pt>
                <c:pt idx="145">
                  <c:v>2024-12-31</c:v>
                </c:pt>
                <c:pt idx="146">
                  <c:v>2025-01-31</c:v>
                </c:pt>
                <c:pt idx="147">
                  <c:v>2025-02-28</c:v>
                </c:pt>
                <c:pt idx="148">
                  <c:v>2025-03-31</c:v>
                </c:pt>
                <c:pt idx="149">
                  <c:v>2025-04-30</c:v>
                </c:pt>
                <c:pt idx="150">
                  <c:v>2025-05-31</c:v>
                </c:pt>
                <c:pt idx="151">
                  <c:v>2025-06-30</c:v>
                </c:pt>
                <c:pt idx="152">
                  <c:v>2025-07-31</c:v>
                </c:pt>
                <c:pt idx="153">
                  <c:v>2025-08-31</c:v>
                </c:pt>
                <c:pt idx="154">
                  <c:v>2025-09-30</c:v>
                </c:pt>
                <c:pt idx="155">
                  <c:v>2025-10-31</c:v>
                </c:pt>
                <c:pt idx="156">
                  <c:v>2025-11-30</c:v>
                </c:pt>
                <c:pt idx="157">
                  <c:v>2025-12-31</c:v>
                </c:pt>
                <c:pt idx="158">
                  <c:v>2026-01-31</c:v>
                </c:pt>
                <c:pt idx="159">
                  <c:v>2026-02-28</c:v>
                </c:pt>
                <c:pt idx="160">
                  <c:v>2026-03-31</c:v>
                </c:pt>
                <c:pt idx="161">
                  <c:v>2026-04-30</c:v>
                </c:pt>
                <c:pt idx="162">
                  <c:v>2026-05-31</c:v>
                </c:pt>
                <c:pt idx="163">
                  <c:v>2026-06-30</c:v>
                </c:pt>
                <c:pt idx="164">
                  <c:v>2026-07-31</c:v>
                </c:pt>
                <c:pt idx="165">
                  <c:v>2026-08-31</c:v>
                </c:pt>
                <c:pt idx="166">
                  <c:v>2026-09-30</c:v>
                </c:pt>
              </c:strCache>
            </c:strRef>
          </c:cat>
          <c:val>
            <c:numRef>
              <c:f>'Chart Data'!$F$2:$F$168</c:f>
              <c:numCache>
                <c:formatCode>0.0"x"</c:formatCode>
                <c:ptCount val="167"/>
                <c:pt idx="0">
                  <c:v>1.0048999999999999</c:v>
                </c:pt>
                <c:pt idx="1">
                  <c:v>1.0125999999999999</c:v>
                </c:pt>
                <c:pt idx="2">
                  <c:v>1.0248999999999999</c:v>
                </c:pt>
                <c:pt idx="3">
                  <c:v>1.0201</c:v>
                </c:pt>
                <c:pt idx="4">
                  <c:v>1.0288999999999999</c:v>
                </c:pt>
                <c:pt idx="5">
                  <c:v>1.0321</c:v>
                </c:pt>
                <c:pt idx="6">
                  <c:v>1.0192000000000001</c:v>
                </c:pt>
                <c:pt idx="7">
                  <c:v>0.99519999999999997</c:v>
                </c:pt>
                <c:pt idx="8">
                  <c:v>1.0177</c:v>
                </c:pt>
                <c:pt idx="9">
                  <c:v>1.0119</c:v>
                </c:pt>
                <c:pt idx="10">
                  <c:v>1.0265</c:v>
                </c:pt>
                <c:pt idx="11">
                  <c:v>1.042</c:v>
                </c:pt>
                <c:pt idx="12">
                  <c:v>1.0421</c:v>
                </c:pt>
                <c:pt idx="13">
                  <c:v>1.0423</c:v>
                </c:pt>
                <c:pt idx="14">
                  <c:v>1.0313000000000001</c:v>
                </c:pt>
                <c:pt idx="15">
                  <c:v>1.056</c:v>
                </c:pt>
                <c:pt idx="16">
                  <c:v>1.0580000000000001</c:v>
                </c:pt>
                <c:pt idx="17">
                  <c:v>1.0640000000000001</c:v>
                </c:pt>
                <c:pt idx="18">
                  <c:v>1.0717000000000001</c:v>
                </c:pt>
                <c:pt idx="19">
                  <c:v>1.0842000000000001</c:v>
                </c:pt>
                <c:pt idx="20">
                  <c:v>1.0728</c:v>
                </c:pt>
                <c:pt idx="21">
                  <c:v>1.0853999999999999</c:v>
                </c:pt>
                <c:pt idx="22">
                  <c:v>1.0604</c:v>
                </c:pt>
                <c:pt idx="23">
                  <c:v>1.0633999999999999</c:v>
                </c:pt>
                <c:pt idx="24">
                  <c:v>1.0625</c:v>
                </c:pt>
                <c:pt idx="25">
                  <c:v>1.0498000000000001</c:v>
                </c:pt>
                <c:pt idx="26">
                  <c:v>1.0544</c:v>
                </c:pt>
                <c:pt idx="27">
                  <c:v>1.0671999999999999</c:v>
                </c:pt>
                <c:pt idx="28">
                  <c:v>1.0585</c:v>
                </c:pt>
                <c:pt idx="29">
                  <c:v>1.0733999999999999</c:v>
                </c:pt>
                <c:pt idx="30">
                  <c:v>1.0703</c:v>
                </c:pt>
                <c:pt idx="31">
                  <c:v>1.0589999999999999</c:v>
                </c:pt>
                <c:pt idx="32">
                  <c:v>1.0462</c:v>
                </c:pt>
                <c:pt idx="33">
                  <c:v>1.026</c:v>
                </c:pt>
                <c:pt idx="34">
                  <c:v>1.0153000000000001</c:v>
                </c:pt>
                <c:pt idx="35">
                  <c:v>1.0405</c:v>
                </c:pt>
                <c:pt idx="36">
                  <c:v>1.0278</c:v>
                </c:pt>
                <c:pt idx="37">
                  <c:v>1.0147999999999999</c:v>
                </c:pt>
                <c:pt idx="38">
                  <c:v>1.0053000000000001</c:v>
                </c:pt>
                <c:pt idx="39">
                  <c:v>1.0132000000000001</c:v>
                </c:pt>
                <c:pt idx="40">
                  <c:v>1.0444</c:v>
                </c:pt>
                <c:pt idx="41">
                  <c:v>1.0602</c:v>
                </c:pt>
                <c:pt idx="42">
                  <c:v>1.0559000000000001</c:v>
                </c:pt>
                <c:pt idx="43">
                  <c:v>1.0767</c:v>
                </c:pt>
                <c:pt idx="44">
                  <c:v>1.0871999999999999</c:v>
                </c:pt>
                <c:pt idx="45">
                  <c:v>1.085</c:v>
                </c:pt>
                <c:pt idx="46">
                  <c:v>1.0922000000000001</c:v>
                </c:pt>
                <c:pt idx="47">
                  <c:v>1.0813999999999999</c:v>
                </c:pt>
                <c:pt idx="48">
                  <c:v>1.0709</c:v>
                </c:pt>
                <c:pt idx="49">
                  <c:v>1.0798000000000001</c:v>
                </c:pt>
                <c:pt idx="50">
                  <c:v>1.0947</c:v>
                </c:pt>
                <c:pt idx="51">
                  <c:v>1.1087</c:v>
                </c:pt>
                <c:pt idx="52">
                  <c:v>1.1113</c:v>
                </c:pt>
                <c:pt idx="53">
                  <c:v>1.1181000000000001</c:v>
                </c:pt>
                <c:pt idx="54">
                  <c:v>1.1258999999999999</c:v>
                </c:pt>
                <c:pt idx="55">
                  <c:v>1.1261000000000001</c:v>
                </c:pt>
                <c:pt idx="56">
                  <c:v>1.1438999999999999</c:v>
                </c:pt>
                <c:pt idx="57">
                  <c:v>1.1531</c:v>
                </c:pt>
                <c:pt idx="58">
                  <c:v>1.1559999999999999</c:v>
                </c:pt>
                <c:pt idx="59">
                  <c:v>1.1668000000000001</c:v>
                </c:pt>
                <c:pt idx="60">
                  <c:v>1.1732</c:v>
                </c:pt>
                <c:pt idx="61">
                  <c:v>1.1853</c:v>
                </c:pt>
                <c:pt idx="62">
                  <c:v>1.2075</c:v>
                </c:pt>
                <c:pt idx="63">
                  <c:v>1.1819999999999999</c:v>
                </c:pt>
                <c:pt idx="64">
                  <c:v>1.1822999999999999</c:v>
                </c:pt>
                <c:pt idx="65">
                  <c:v>1.1819</c:v>
                </c:pt>
                <c:pt idx="66">
                  <c:v>1.1856</c:v>
                </c:pt>
                <c:pt idx="67">
                  <c:v>1.1768000000000001</c:v>
                </c:pt>
                <c:pt idx="68">
                  <c:v>1.1860999999999999</c:v>
                </c:pt>
                <c:pt idx="69">
                  <c:v>1.1891</c:v>
                </c:pt>
                <c:pt idx="70">
                  <c:v>1.19</c:v>
                </c:pt>
                <c:pt idx="71">
                  <c:v>1.1589</c:v>
                </c:pt>
                <c:pt idx="72">
                  <c:v>1.163</c:v>
                </c:pt>
                <c:pt idx="73">
                  <c:v>1.1469</c:v>
                </c:pt>
                <c:pt idx="74">
                  <c:v>1.1906000000000001</c:v>
                </c:pt>
                <c:pt idx="75">
                  <c:v>1.2008000000000001</c:v>
                </c:pt>
                <c:pt idx="76">
                  <c:v>1.2135</c:v>
                </c:pt>
                <c:pt idx="77">
                  <c:v>1.2264999999999999</c:v>
                </c:pt>
                <c:pt idx="78">
                  <c:v>1.2077</c:v>
                </c:pt>
                <c:pt idx="79">
                  <c:v>1.25</c:v>
                </c:pt>
                <c:pt idx="80">
                  <c:v>1.2481</c:v>
                </c:pt>
                <c:pt idx="81">
                  <c:v>1.2539</c:v>
                </c:pt>
                <c:pt idx="82">
                  <c:v>1.2601</c:v>
                </c:pt>
                <c:pt idx="83">
                  <c:v>1.2783</c:v>
                </c:pt>
                <c:pt idx="84">
                  <c:v>1.2827</c:v>
                </c:pt>
                <c:pt idx="85">
                  <c:v>1.3082</c:v>
                </c:pt>
                <c:pt idx="86">
                  <c:v>1.3046</c:v>
                </c:pt>
                <c:pt idx="87">
                  <c:v>1.2763</c:v>
                </c:pt>
                <c:pt idx="88">
                  <c:v>1.1924999999999999</c:v>
                </c:pt>
                <c:pt idx="89">
                  <c:v>1.2445999999999999</c:v>
                </c:pt>
                <c:pt idx="90">
                  <c:v>1.2781</c:v>
                </c:pt>
                <c:pt idx="91">
                  <c:v>1.2987</c:v>
                </c:pt>
                <c:pt idx="92">
                  <c:v>1.3396999999999999</c:v>
                </c:pt>
                <c:pt idx="93">
                  <c:v>1.3636999999999999</c:v>
                </c:pt>
                <c:pt idx="94">
                  <c:v>1.3462000000000001</c:v>
                </c:pt>
                <c:pt idx="95">
                  <c:v>1.3329</c:v>
                </c:pt>
                <c:pt idx="96">
                  <c:v>1.3915</c:v>
                </c:pt>
                <c:pt idx="97">
                  <c:v>1.4271</c:v>
                </c:pt>
                <c:pt idx="98">
                  <c:v>1.4244000000000001</c:v>
                </c:pt>
                <c:pt idx="99">
                  <c:v>1.4345000000000001</c:v>
                </c:pt>
                <c:pt idx="100">
                  <c:v>1.4418</c:v>
                </c:pt>
                <c:pt idx="101">
                  <c:v>1.4735</c:v>
                </c:pt>
                <c:pt idx="102">
                  <c:v>1.4987999999999999</c:v>
                </c:pt>
                <c:pt idx="103">
                  <c:v>1.4978</c:v>
                </c:pt>
                <c:pt idx="104">
                  <c:v>1.5072000000000001</c:v>
                </c:pt>
                <c:pt idx="105">
                  <c:v>1.514</c:v>
                </c:pt>
                <c:pt idx="106">
                  <c:v>1.492</c:v>
                </c:pt>
                <c:pt idx="107">
                  <c:v>1.5163</c:v>
                </c:pt>
                <c:pt idx="108">
                  <c:v>1.4918</c:v>
                </c:pt>
                <c:pt idx="109">
                  <c:v>1.5232000000000001</c:v>
                </c:pt>
                <c:pt idx="110">
                  <c:v>1.5052000000000001</c:v>
                </c:pt>
                <c:pt idx="111">
                  <c:v>1.5006999999999999</c:v>
                </c:pt>
                <c:pt idx="112">
                  <c:v>1.4971000000000001</c:v>
                </c:pt>
                <c:pt idx="113">
                  <c:v>1.4512</c:v>
                </c:pt>
                <c:pt idx="114">
                  <c:v>1.4646999999999999</c:v>
                </c:pt>
                <c:pt idx="115">
                  <c:v>1.4106000000000001</c:v>
                </c:pt>
                <c:pt idx="116">
                  <c:v>1.4436</c:v>
                </c:pt>
                <c:pt idx="117">
                  <c:v>1.4052</c:v>
                </c:pt>
                <c:pt idx="118">
                  <c:v>1.331</c:v>
                </c:pt>
                <c:pt idx="119">
                  <c:v>1.3566</c:v>
                </c:pt>
                <c:pt idx="120">
                  <c:v>1.4275</c:v>
                </c:pt>
                <c:pt idx="121">
                  <c:v>1.4094</c:v>
                </c:pt>
                <c:pt idx="122">
                  <c:v>1.4629000000000001</c:v>
                </c:pt>
                <c:pt idx="123">
                  <c:v>1.4194</c:v>
                </c:pt>
                <c:pt idx="124">
                  <c:v>1.454</c:v>
                </c:pt>
                <c:pt idx="125">
                  <c:v>1.4659</c:v>
                </c:pt>
                <c:pt idx="126">
                  <c:v>1.4397</c:v>
                </c:pt>
                <c:pt idx="127">
                  <c:v>1.4618</c:v>
                </c:pt>
                <c:pt idx="128">
                  <c:v>1.4930000000000001</c:v>
                </c:pt>
                <c:pt idx="129">
                  <c:v>1.4736</c:v>
                </c:pt>
                <c:pt idx="130">
                  <c:v>1.4420999999999999</c:v>
                </c:pt>
                <c:pt idx="131">
                  <c:v>1.4303999999999999</c:v>
                </c:pt>
                <c:pt idx="132">
                  <c:v>1.4898</c:v>
                </c:pt>
                <c:pt idx="133">
                  <c:v>1.5296000000000001</c:v>
                </c:pt>
                <c:pt idx="134">
                  <c:v>1.5294000000000001</c:v>
                </c:pt>
                <c:pt idx="135">
                  <c:v>1.5388999999999999</c:v>
                </c:pt>
                <c:pt idx="136">
                  <c:v>1.5778000000000001</c:v>
                </c:pt>
                <c:pt idx="137">
                  <c:v>1.5564</c:v>
                </c:pt>
                <c:pt idx="138">
                  <c:v>1.5871999999999999</c:v>
                </c:pt>
                <c:pt idx="139">
                  <c:v>1.5983000000000001</c:v>
                </c:pt>
                <c:pt idx="140">
                  <c:v>1.6312</c:v>
                </c:pt>
                <c:pt idx="141">
                  <c:v>1.6549</c:v>
                </c:pt>
                <c:pt idx="142">
                  <c:v>1.6850000000000001</c:v>
                </c:pt>
                <c:pt idx="143">
                  <c:v>1.6626000000000001</c:v>
                </c:pt>
                <c:pt idx="144">
                  <c:v>1.6759999999999999</c:v>
                </c:pt>
                <c:pt idx="145">
                  <c:v>1.6504000000000001</c:v>
                </c:pt>
                <c:pt idx="146">
                  <c:v>1.6859</c:v>
                </c:pt>
                <c:pt idx="147">
                  <c:v>1.7064999999999999</c:v>
                </c:pt>
                <c:pt idx="148">
                  <c:v>1.7149000000000001</c:v>
                </c:pt>
                <c:pt idx="149">
                  <c:v>1.7169000000000001</c:v>
                </c:pt>
                <c:pt idx="150">
                  <c:v>1.7418</c:v>
                </c:pt>
                <c:pt idx="151">
                  <c:v>1.7843</c:v>
                </c:pt>
                <c:pt idx="152">
                  <c:v>1.788</c:v>
                </c:pt>
                <c:pt idx="153">
                  <c:v>1.8231999999999999</c:v>
                </c:pt>
                <c:pt idx="154">
                  <c:v>1.8668</c:v>
                </c:pt>
                <c:pt idx="155">
                  <c:v>1.8872</c:v>
                </c:pt>
                <c:pt idx="156">
                  <c:v>1.9061999999999999</c:v>
                </c:pt>
                <c:pt idx="157">
                  <c:v>1.9177999999999999</c:v>
                </c:pt>
                <c:pt idx="158">
                  <c:v>1.9789000000000001</c:v>
                </c:pt>
                <c:pt idx="159">
                  <c:v>2.0286</c:v>
                </c:pt>
                <c:pt idx="160">
                  <c:v>1.9775</c:v>
                </c:pt>
                <c:pt idx="161">
                  <c:v>2.0413000000000001</c:v>
                </c:pt>
                <c:pt idx="162">
                  <c:v>2.0611000000000002</c:v>
                </c:pt>
                <c:pt idx="163">
                  <c:v>2.0364</c:v>
                </c:pt>
                <c:pt idx="164">
                  <c:v>2.0430999999999999</c:v>
                </c:pt>
                <c:pt idx="165">
                  <c:v>2.0876999999999999</c:v>
                </c:pt>
                <c:pt idx="166">
                  <c:v>2.0480999999999998</c:v>
                </c:pt>
              </c:numCache>
            </c:numRef>
          </c:val>
          <c:smooth val="0"/>
          <c:extLst>
            <c:ext xmlns:c16="http://schemas.microsoft.com/office/drawing/2014/chart" uri="{C3380CC4-5D6E-409C-BE32-E72D297353CC}">
              <c16:uniqueId val="{00000002-CF27-4F28-BA80-1FA06ADC0224}"/>
            </c:ext>
          </c:extLst>
        </c:ser>
        <c:dLbls>
          <c:showLegendKey val="0"/>
          <c:showVal val="0"/>
          <c:showCatName val="0"/>
          <c:showSerName val="0"/>
          <c:showPercent val="0"/>
          <c:showBubbleSize val="0"/>
        </c:dLbls>
        <c:smooth val="0"/>
        <c:axId val="48650112"/>
        <c:axId val="48672768"/>
      </c:line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max val="2.8"/>
          <c:min val="0.8"/>
        </c:scaling>
        <c:delete val="0"/>
        <c:axPos val="l"/>
        <c:majorGridlines>
          <c:spPr>
            <a:ln w="5715">
              <a:solidFill>
                <a:srgbClr val="D6D9D3"/>
              </a:solidFill>
            </a:ln>
          </c:spPr>
        </c:majorGridlines>
        <c:numFmt formatCode="0.0&quot;x&quot;" sourceLinked="1"/>
        <c:majorTickMark val="none"/>
        <c:minorTickMark val="none"/>
        <c:tickLblPos val="nextTo"/>
        <c:spPr>
          <a:ln w="9525">
            <a:solidFill>
              <a:srgbClr val="D4D4D4"/>
            </a:solidFill>
            <a:prstDash val="solid"/>
          </a:ln>
        </c:spPr>
        <c:txPr>
          <a:bodyPr anchorCtr="1"/>
          <a:lstStyle/>
          <a:p>
            <a:pPr>
              <a:defRPr sz="1125">
                <a:solidFill>
                  <a:srgbClr val="64716B"/>
                </a:solidFill>
                <a:latin typeface="Arial"/>
                <a:ea typeface="Arial"/>
                <a:cs typeface="Arial"/>
              </a:defRPr>
            </a:pPr>
            <a:endParaRPr lang="it-IT"/>
          </a:p>
        </c:txPr>
        <c:crossAx val="48650112"/>
        <c:crosses val="autoZero"/>
        <c:crossBetween val="between"/>
        <c:majorUnit val="0.5"/>
      </c:valAx>
      <c:spPr>
        <a:noFill/>
        <a:ln w="0">
          <a:noFill/>
        </a:ln>
      </c:spPr>
    </c:plotArea>
    <c:plotVisOnly val="1"/>
    <c:dispBlanksAs val="zero"/>
    <c:showDLblsOverMax val="1"/>
  </c:chart>
  <c:spPr>
    <a:no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lineChart>
        <c:grouping val="standard"/>
        <c:varyColors val="0"/>
        <c:ser>
          <c:idx val="0"/>
          <c:order val="0"/>
          <c:tx>
            <c:v>Our SAA (capped ERC)</c:v>
          </c:tx>
          <c:spPr>
            <a:ln w="24765">
              <a:solidFill>
                <a:srgbClr val="3D6358"/>
              </a:solidFill>
            </a:ln>
          </c:spPr>
          <c:marker>
            <c:symbol val="none"/>
          </c:marker>
          <c:cat>
            <c:strRef>
              <c:f>'Chart Data'!$A$2:$A$108</c:f>
              <c:strCache>
                <c:ptCount val="107"/>
                <c:pt idx="0">
                  <c:v>2017-11-30</c:v>
                </c:pt>
                <c:pt idx="1">
                  <c:v>2017-12-31</c:v>
                </c:pt>
                <c:pt idx="2">
                  <c:v>2018-01-31</c:v>
                </c:pt>
                <c:pt idx="3">
                  <c:v>2018-02-28</c:v>
                </c:pt>
                <c:pt idx="4">
                  <c:v>2018-03-31</c:v>
                </c:pt>
                <c:pt idx="5">
                  <c:v>2018-04-30</c:v>
                </c:pt>
                <c:pt idx="6">
                  <c:v>2018-05-31</c:v>
                </c:pt>
                <c:pt idx="7">
                  <c:v>2018-06-30</c:v>
                </c:pt>
                <c:pt idx="8">
                  <c:v>2018-07-31</c:v>
                </c:pt>
                <c:pt idx="9">
                  <c:v>2018-08-31</c:v>
                </c:pt>
                <c:pt idx="10">
                  <c:v>2018-09-30</c:v>
                </c:pt>
                <c:pt idx="11">
                  <c:v>2018-10-31</c:v>
                </c:pt>
                <c:pt idx="12">
                  <c:v>2018-11-30</c:v>
                </c:pt>
                <c:pt idx="13">
                  <c:v>2018-12-31</c:v>
                </c:pt>
                <c:pt idx="14">
                  <c:v>2019-01-31</c:v>
                </c:pt>
                <c:pt idx="15">
                  <c:v>2019-02-28</c:v>
                </c:pt>
                <c:pt idx="16">
                  <c:v>2019-03-31</c:v>
                </c:pt>
                <c:pt idx="17">
                  <c:v>2019-04-30</c:v>
                </c:pt>
                <c:pt idx="18">
                  <c:v>2019-05-31</c:v>
                </c:pt>
                <c:pt idx="19">
                  <c:v>2019-06-30</c:v>
                </c:pt>
                <c:pt idx="20">
                  <c:v>2019-07-31</c:v>
                </c:pt>
                <c:pt idx="21">
                  <c:v>2019-08-31</c:v>
                </c:pt>
                <c:pt idx="22">
                  <c:v>2019-09-30</c:v>
                </c:pt>
                <c:pt idx="23">
                  <c:v>2019-10-31</c:v>
                </c:pt>
                <c:pt idx="24">
                  <c:v>2019-11-30</c:v>
                </c:pt>
                <c:pt idx="25">
                  <c:v>2019-12-31</c:v>
                </c:pt>
                <c:pt idx="26">
                  <c:v>2020-01-31</c:v>
                </c:pt>
                <c:pt idx="27">
                  <c:v>2020-02-29</c:v>
                </c:pt>
                <c:pt idx="28">
                  <c:v>2020-03-31</c:v>
                </c:pt>
                <c:pt idx="29">
                  <c:v>2020-04-30</c:v>
                </c:pt>
                <c:pt idx="30">
                  <c:v>2020-05-31</c:v>
                </c:pt>
                <c:pt idx="31">
                  <c:v>2020-06-30</c:v>
                </c:pt>
                <c:pt idx="32">
                  <c:v>2020-07-31</c:v>
                </c:pt>
                <c:pt idx="33">
                  <c:v>2020-08-31</c:v>
                </c:pt>
                <c:pt idx="34">
                  <c:v>2020-09-30</c:v>
                </c:pt>
                <c:pt idx="35">
                  <c:v>2020-10-31</c:v>
                </c:pt>
                <c:pt idx="36">
                  <c:v>2020-11-30</c:v>
                </c:pt>
                <c:pt idx="37">
                  <c:v>2020-12-31</c:v>
                </c:pt>
                <c:pt idx="38">
                  <c:v>2021-01-31</c:v>
                </c:pt>
                <c:pt idx="39">
                  <c:v>2021-02-28</c:v>
                </c:pt>
                <c:pt idx="40">
                  <c:v>2021-03-31</c:v>
                </c:pt>
                <c:pt idx="41">
                  <c:v>2021-04-30</c:v>
                </c:pt>
                <c:pt idx="42">
                  <c:v>2021-05-31</c:v>
                </c:pt>
                <c:pt idx="43">
                  <c:v>2021-06-30</c:v>
                </c:pt>
                <c:pt idx="44">
                  <c:v>2021-07-31</c:v>
                </c:pt>
                <c:pt idx="45">
                  <c:v>2021-08-31</c:v>
                </c:pt>
                <c:pt idx="46">
                  <c:v>2021-09-30</c:v>
                </c:pt>
                <c:pt idx="47">
                  <c:v>2021-10-31</c:v>
                </c:pt>
                <c:pt idx="48">
                  <c:v>2021-11-30</c:v>
                </c:pt>
                <c:pt idx="49">
                  <c:v>2021-12-31</c:v>
                </c:pt>
                <c:pt idx="50">
                  <c:v>2022-01-31</c:v>
                </c:pt>
                <c:pt idx="51">
                  <c:v>2022-02-28</c:v>
                </c:pt>
                <c:pt idx="52">
                  <c:v>2022-03-31</c:v>
                </c:pt>
                <c:pt idx="53">
                  <c:v>2022-04-30</c:v>
                </c:pt>
                <c:pt idx="54">
                  <c:v>2022-05-31</c:v>
                </c:pt>
                <c:pt idx="55">
                  <c:v>2022-06-30</c:v>
                </c:pt>
                <c:pt idx="56">
                  <c:v>2022-07-31</c:v>
                </c:pt>
                <c:pt idx="57">
                  <c:v>2022-08-31</c:v>
                </c:pt>
                <c:pt idx="58">
                  <c:v>2022-09-30</c:v>
                </c:pt>
                <c:pt idx="59">
                  <c:v>2022-10-31</c:v>
                </c:pt>
                <c:pt idx="60">
                  <c:v>2022-11-30</c:v>
                </c:pt>
                <c:pt idx="61">
                  <c:v>2022-12-31</c:v>
                </c:pt>
                <c:pt idx="62">
                  <c:v>2023-01-31</c:v>
                </c:pt>
                <c:pt idx="63">
                  <c:v>2023-02-28</c:v>
                </c:pt>
                <c:pt idx="64">
                  <c:v>2023-03-31</c:v>
                </c:pt>
                <c:pt idx="65">
                  <c:v>2023-04-30</c:v>
                </c:pt>
                <c:pt idx="66">
                  <c:v>2023-05-31</c:v>
                </c:pt>
                <c:pt idx="67">
                  <c:v>2023-06-30</c:v>
                </c:pt>
                <c:pt idx="68">
                  <c:v>2023-07-31</c:v>
                </c:pt>
                <c:pt idx="69">
                  <c:v>2023-08-31</c:v>
                </c:pt>
                <c:pt idx="70">
                  <c:v>2023-09-30</c:v>
                </c:pt>
                <c:pt idx="71">
                  <c:v>2023-10-31</c:v>
                </c:pt>
                <c:pt idx="72">
                  <c:v>2023-11-30</c:v>
                </c:pt>
                <c:pt idx="73">
                  <c:v>2023-12-31</c:v>
                </c:pt>
                <c:pt idx="74">
                  <c:v>2024-01-31</c:v>
                </c:pt>
                <c:pt idx="75">
                  <c:v>2024-02-29</c:v>
                </c:pt>
                <c:pt idx="76">
                  <c:v>2024-03-31</c:v>
                </c:pt>
                <c:pt idx="77">
                  <c:v>2024-04-30</c:v>
                </c:pt>
                <c:pt idx="78">
                  <c:v>2024-05-31</c:v>
                </c:pt>
                <c:pt idx="79">
                  <c:v>2024-06-30</c:v>
                </c:pt>
                <c:pt idx="80">
                  <c:v>2024-07-31</c:v>
                </c:pt>
                <c:pt idx="81">
                  <c:v>2024-08-31</c:v>
                </c:pt>
                <c:pt idx="82">
                  <c:v>2024-09-30</c:v>
                </c:pt>
                <c:pt idx="83">
                  <c:v>2024-10-31</c:v>
                </c:pt>
                <c:pt idx="84">
                  <c:v>2024-11-30</c:v>
                </c:pt>
                <c:pt idx="85">
                  <c:v>2024-12-31</c:v>
                </c:pt>
                <c:pt idx="86">
                  <c:v>2025-01-31</c:v>
                </c:pt>
                <c:pt idx="87">
                  <c:v>2025-02-28</c:v>
                </c:pt>
                <c:pt idx="88">
                  <c:v>2025-03-31</c:v>
                </c:pt>
                <c:pt idx="89">
                  <c:v>2025-04-30</c:v>
                </c:pt>
                <c:pt idx="90">
                  <c:v>2025-05-31</c:v>
                </c:pt>
                <c:pt idx="91">
                  <c:v>2025-06-30</c:v>
                </c:pt>
                <c:pt idx="92">
                  <c:v>2025-07-31</c:v>
                </c:pt>
                <c:pt idx="93">
                  <c:v>2025-08-31</c:v>
                </c:pt>
                <c:pt idx="94">
                  <c:v>2025-09-30</c:v>
                </c:pt>
                <c:pt idx="95">
                  <c:v>2025-10-31</c:v>
                </c:pt>
                <c:pt idx="96">
                  <c:v>2025-11-30</c:v>
                </c:pt>
                <c:pt idx="97">
                  <c:v>2025-12-31</c:v>
                </c:pt>
                <c:pt idx="98">
                  <c:v>2026-01-31</c:v>
                </c:pt>
                <c:pt idx="99">
                  <c:v>2026-02-28</c:v>
                </c:pt>
                <c:pt idx="100">
                  <c:v>2026-03-31</c:v>
                </c:pt>
                <c:pt idx="101">
                  <c:v>2026-04-30</c:v>
                </c:pt>
                <c:pt idx="102">
                  <c:v>2026-05-31</c:v>
                </c:pt>
                <c:pt idx="103">
                  <c:v>2026-06-30</c:v>
                </c:pt>
                <c:pt idx="104">
                  <c:v>2026-07-31</c:v>
                </c:pt>
                <c:pt idx="105">
                  <c:v>2026-08-31</c:v>
                </c:pt>
                <c:pt idx="106">
                  <c:v>2026-09-30</c:v>
                </c:pt>
              </c:strCache>
            </c:strRef>
          </c:cat>
          <c:val>
            <c:numRef>
              <c:f>'Chart Data'!$B$2:$B$108</c:f>
              <c:numCache>
                <c:formatCode>0.0"x"</c:formatCode>
                <c:ptCount val="107"/>
                <c:pt idx="0">
                  <c:v>1.0076000000000001</c:v>
                </c:pt>
                <c:pt idx="1">
                  <c:v>1.0189999999999999</c:v>
                </c:pt>
                <c:pt idx="2">
                  <c:v>1.0365</c:v>
                </c:pt>
                <c:pt idx="3">
                  <c:v>1.0118</c:v>
                </c:pt>
                <c:pt idx="4">
                  <c:v>1.0133000000000001</c:v>
                </c:pt>
                <c:pt idx="5">
                  <c:v>1.0113000000000001</c:v>
                </c:pt>
                <c:pt idx="6">
                  <c:v>1.0174000000000001</c:v>
                </c:pt>
                <c:pt idx="7">
                  <c:v>1.0106999999999999</c:v>
                </c:pt>
                <c:pt idx="8">
                  <c:v>1.0172000000000001</c:v>
                </c:pt>
                <c:pt idx="9">
                  <c:v>1.0224</c:v>
                </c:pt>
                <c:pt idx="10">
                  <c:v>1.0214000000000001</c:v>
                </c:pt>
                <c:pt idx="11">
                  <c:v>0.99360000000000004</c:v>
                </c:pt>
                <c:pt idx="12">
                  <c:v>0.99919999999999998</c:v>
                </c:pt>
                <c:pt idx="13">
                  <c:v>0.9879</c:v>
                </c:pt>
                <c:pt idx="14">
                  <c:v>1.0239</c:v>
                </c:pt>
                <c:pt idx="15">
                  <c:v>1.0310999999999999</c:v>
                </c:pt>
                <c:pt idx="16">
                  <c:v>1.0450999999999999</c:v>
                </c:pt>
                <c:pt idx="17">
                  <c:v>1.0545</c:v>
                </c:pt>
                <c:pt idx="18">
                  <c:v>1.0443</c:v>
                </c:pt>
                <c:pt idx="19">
                  <c:v>1.0823</c:v>
                </c:pt>
                <c:pt idx="20">
                  <c:v>1.081</c:v>
                </c:pt>
                <c:pt idx="21">
                  <c:v>1.0953999999999999</c:v>
                </c:pt>
                <c:pt idx="22">
                  <c:v>1.0971</c:v>
                </c:pt>
                <c:pt idx="23">
                  <c:v>1.1120000000000001</c:v>
                </c:pt>
                <c:pt idx="24">
                  <c:v>1.1133999999999999</c:v>
                </c:pt>
                <c:pt idx="25">
                  <c:v>1.1315</c:v>
                </c:pt>
                <c:pt idx="26">
                  <c:v>1.1366000000000001</c:v>
                </c:pt>
                <c:pt idx="27">
                  <c:v>1.119</c:v>
                </c:pt>
                <c:pt idx="28">
                  <c:v>1.0719000000000001</c:v>
                </c:pt>
                <c:pt idx="29">
                  <c:v>1.1065</c:v>
                </c:pt>
                <c:pt idx="30">
                  <c:v>1.1304000000000001</c:v>
                </c:pt>
                <c:pt idx="31">
                  <c:v>1.1440999999999999</c:v>
                </c:pt>
                <c:pt idx="32">
                  <c:v>1.1759999999999999</c:v>
                </c:pt>
                <c:pt idx="33">
                  <c:v>1.1882999999999999</c:v>
                </c:pt>
                <c:pt idx="34">
                  <c:v>1.1771</c:v>
                </c:pt>
                <c:pt idx="35">
                  <c:v>1.1609</c:v>
                </c:pt>
                <c:pt idx="36">
                  <c:v>1.2022999999999999</c:v>
                </c:pt>
                <c:pt idx="37">
                  <c:v>1.2267999999999999</c:v>
                </c:pt>
                <c:pt idx="38">
                  <c:v>1.2197</c:v>
                </c:pt>
                <c:pt idx="39">
                  <c:v>1.2166999999999999</c:v>
                </c:pt>
                <c:pt idx="40">
                  <c:v>1.2109000000000001</c:v>
                </c:pt>
                <c:pt idx="41">
                  <c:v>1.2377</c:v>
                </c:pt>
                <c:pt idx="42">
                  <c:v>1.2585</c:v>
                </c:pt>
                <c:pt idx="43">
                  <c:v>1.2609999999999999</c:v>
                </c:pt>
                <c:pt idx="44">
                  <c:v>1.2767999999999999</c:v>
                </c:pt>
                <c:pt idx="45">
                  <c:v>1.2789999999999999</c:v>
                </c:pt>
                <c:pt idx="46">
                  <c:v>1.2581</c:v>
                </c:pt>
                <c:pt idx="47">
                  <c:v>1.2746999999999999</c:v>
                </c:pt>
                <c:pt idx="48">
                  <c:v>1.2625999999999999</c:v>
                </c:pt>
                <c:pt idx="49">
                  <c:v>1.2805</c:v>
                </c:pt>
                <c:pt idx="50">
                  <c:v>1.2625</c:v>
                </c:pt>
                <c:pt idx="51">
                  <c:v>1.2637</c:v>
                </c:pt>
                <c:pt idx="52">
                  <c:v>1.2473000000000001</c:v>
                </c:pt>
                <c:pt idx="53">
                  <c:v>1.2041999999999999</c:v>
                </c:pt>
                <c:pt idx="54">
                  <c:v>1.2135</c:v>
                </c:pt>
                <c:pt idx="55">
                  <c:v>1.1758999999999999</c:v>
                </c:pt>
                <c:pt idx="56">
                  <c:v>1.2021999999999999</c:v>
                </c:pt>
                <c:pt idx="57">
                  <c:v>1.1638999999999999</c:v>
                </c:pt>
                <c:pt idx="58">
                  <c:v>1.099</c:v>
                </c:pt>
                <c:pt idx="59">
                  <c:v>1.1114999999999999</c:v>
                </c:pt>
                <c:pt idx="60">
                  <c:v>1.1729000000000001</c:v>
                </c:pt>
                <c:pt idx="61">
                  <c:v>1.1572</c:v>
                </c:pt>
                <c:pt idx="62">
                  <c:v>1.2054</c:v>
                </c:pt>
                <c:pt idx="63">
                  <c:v>1.1615</c:v>
                </c:pt>
                <c:pt idx="64">
                  <c:v>1.1989000000000001</c:v>
                </c:pt>
                <c:pt idx="65">
                  <c:v>1.2082999999999999</c:v>
                </c:pt>
                <c:pt idx="66">
                  <c:v>1.1825000000000001</c:v>
                </c:pt>
                <c:pt idx="67">
                  <c:v>1.1951000000000001</c:v>
                </c:pt>
                <c:pt idx="68">
                  <c:v>1.2208000000000001</c:v>
                </c:pt>
                <c:pt idx="69">
                  <c:v>1.2030000000000001</c:v>
                </c:pt>
                <c:pt idx="70">
                  <c:v>1.1700999999999999</c:v>
                </c:pt>
                <c:pt idx="71">
                  <c:v>1.1620999999999999</c:v>
                </c:pt>
                <c:pt idx="72">
                  <c:v>1.2115</c:v>
                </c:pt>
                <c:pt idx="73">
                  <c:v>1.244</c:v>
                </c:pt>
                <c:pt idx="74">
                  <c:v>1.2421</c:v>
                </c:pt>
                <c:pt idx="75">
                  <c:v>1.2456</c:v>
                </c:pt>
                <c:pt idx="76">
                  <c:v>1.2847999999999999</c:v>
                </c:pt>
                <c:pt idx="77">
                  <c:v>1.2670999999999999</c:v>
                </c:pt>
                <c:pt idx="78">
                  <c:v>1.2925</c:v>
                </c:pt>
                <c:pt idx="79">
                  <c:v>1.3022</c:v>
                </c:pt>
                <c:pt idx="80">
                  <c:v>1.3320000000000001</c:v>
                </c:pt>
                <c:pt idx="81">
                  <c:v>1.3496999999999999</c:v>
                </c:pt>
                <c:pt idx="82">
                  <c:v>1.3788</c:v>
                </c:pt>
                <c:pt idx="83">
                  <c:v>1.3626</c:v>
                </c:pt>
                <c:pt idx="84">
                  <c:v>1.3678999999999999</c:v>
                </c:pt>
                <c:pt idx="85">
                  <c:v>1.3440000000000001</c:v>
                </c:pt>
                <c:pt idx="86">
                  <c:v>1.3796999999999999</c:v>
                </c:pt>
                <c:pt idx="87">
                  <c:v>1.4000999999999999</c:v>
                </c:pt>
                <c:pt idx="88">
                  <c:v>1.4179999999999999</c:v>
                </c:pt>
                <c:pt idx="89">
                  <c:v>1.4141999999999999</c:v>
                </c:pt>
                <c:pt idx="90">
                  <c:v>1.4356</c:v>
                </c:pt>
                <c:pt idx="91">
                  <c:v>1.4764999999999999</c:v>
                </c:pt>
                <c:pt idx="92">
                  <c:v>1.4816</c:v>
                </c:pt>
                <c:pt idx="93">
                  <c:v>1.5138</c:v>
                </c:pt>
                <c:pt idx="94">
                  <c:v>1.5668</c:v>
                </c:pt>
                <c:pt idx="95">
                  <c:v>1.5907</c:v>
                </c:pt>
                <c:pt idx="96">
                  <c:v>1.6129</c:v>
                </c:pt>
                <c:pt idx="97">
                  <c:v>1.6240000000000001</c:v>
                </c:pt>
                <c:pt idx="98">
                  <c:v>1.7028000000000001</c:v>
                </c:pt>
                <c:pt idx="99">
                  <c:v>1.7604</c:v>
                </c:pt>
                <c:pt idx="100">
                  <c:v>1.7214</c:v>
                </c:pt>
                <c:pt idx="101">
                  <c:v>1.7921</c:v>
                </c:pt>
                <c:pt idx="102">
                  <c:v>1.8030999999999999</c:v>
                </c:pt>
                <c:pt idx="103">
                  <c:v>1.7564</c:v>
                </c:pt>
                <c:pt idx="104">
                  <c:v>1.7748999999999999</c:v>
                </c:pt>
                <c:pt idx="105">
                  <c:v>1.8326</c:v>
                </c:pt>
                <c:pt idx="106">
                  <c:v>1.7961</c:v>
                </c:pt>
              </c:numCache>
            </c:numRef>
          </c:val>
          <c:smooth val="0"/>
          <c:extLst>
            <c:ext xmlns:c16="http://schemas.microsoft.com/office/drawing/2014/chart" uri="{C3380CC4-5D6E-409C-BE32-E72D297353CC}">
              <c16:uniqueId val="{00000000-5DA4-475F-A10A-CE67DEA9BC83}"/>
            </c:ext>
          </c:extLst>
        </c:ser>
        <c:ser>
          <c:idx val="1"/>
          <c:order val="1"/>
          <c:tx>
            <c:v>Equal Weight</c:v>
          </c:tx>
          <c:spPr>
            <a:ln w="24765">
              <a:solidFill>
                <a:srgbClr val="9B8052"/>
              </a:solidFill>
            </a:ln>
          </c:spPr>
          <c:marker>
            <c:symbol val="none"/>
          </c:marker>
          <c:cat>
            <c:strRef>
              <c:f>'Chart Data'!$C$2:$C$108</c:f>
              <c:strCache>
                <c:ptCount val="107"/>
                <c:pt idx="0">
                  <c:v>2017-11-30</c:v>
                </c:pt>
                <c:pt idx="1">
                  <c:v>2017-12-31</c:v>
                </c:pt>
                <c:pt idx="2">
                  <c:v>2018-01-31</c:v>
                </c:pt>
                <c:pt idx="3">
                  <c:v>2018-02-28</c:v>
                </c:pt>
                <c:pt idx="4">
                  <c:v>2018-03-31</c:v>
                </c:pt>
                <c:pt idx="5">
                  <c:v>2018-04-30</c:v>
                </c:pt>
                <c:pt idx="6">
                  <c:v>2018-05-31</c:v>
                </c:pt>
                <c:pt idx="7">
                  <c:v>2018-06-30</c:v>
                </c:pt>
                <c:pt idx="8">
                  <c:v>2018-07-31</c:v>
                </c:pt>
                <c:pt idx="9">
                  <c:v>2018-08-31</c:v>
                </c:pt>
                <c:pt idx="10">
                  <c:v>2018-09-30</c:v>
                </c:pt>
                <c:pt idx="11">
                  <c:v>2018-10-31</c:v>
                </c:pt>
                <c:pt idx="12">
                  <c:v>2018-11-30</c:v>
                </c:pt>
                <c:pt idx="13">
                  <c:v>2018-12-31</c:v>
                </c:pt>
                <c:pt idx="14">
                  <c:v>2019-01-31</c:v>
                </c:pt>
                <c:pt idx="15">
                  <c:v>2019-02-28</c:v>
                </c:pt>
                <c:pt idx="16">
                  <c:v>2019-03-31</c:v>
                </c:pt>
                <c:pt idx="17">
                  <c:v>2019-04-30</c:v>
                </c:pt>
                <c:pt idx="18">
                  <c:v>2019-05-31</c:v>
                </c:pt>
                <c:pt idx="19">
                  <c:v>2019-06-30</c:v>
                </c:pt>
                <c:pt idx="20">
                  <c:v>2019-07-31</c:v>
                </c:pt>
                <c:pt idx="21">
                  <c:v>2019-08-31</c:v>
                </c:pt>
                <c:pt idx="22">
                  <c:v>2019-09-30</c:v>
                </c:pt>
                <c:pt idx="23">
                  <c:v>2019-10-31</c:v>
                </c:pt>
                <c:pt idx="24">
                  <c:v>2019-11-30</c:v>
                </c:pt>
                <c:pt idx="25">
                  <c:v>2019-12-31</c:v>
                </c:pt>
                <c:pt idx="26">
                  <c:v>2020-01-31</c:v>
                </c:pt>
                <c:pt idx="27">
                  <c:v>2020-02-29</c:v>
                </c:pt>
                <c:pt idx="28">
                  <c:v>2020-03-31</c:v>
                </c:pt>
                <c:pt idx="29">
                  <c:v>2020-04-30</c:v>
                </c:pt>
                <c:pt idx="30">
                  <c:v>2020-05-31</c:v>
                </c:pt>
                <c:pt idx="31">
                  <c:v>2020-06-30</c:v>
                </c:pt>
                <c:pt idx="32">
                  <c:v>2020-07-31</c:v>
                </c:pt>
                <c:pt idx="33">
                  <c:v>2020-08-31</c:v>
                </c:pt>
                <c:pt idx="34">
                  <c:v>2020-09-30</c:v>
                </c:pt>
                <c:pt idx="35">
                  <c:v>2020-10-31</c:v>
                </c:pt>
                <c:pt idx="36">
                  <c:v>2020-11-30</c:v>
                </c:pt>
                <c:pt idx="37">
                  <c:v>2020-12-31</c:v>
                </c:pt>
                <c:pt idx="38">
                  <c:v>2021-01-31</c:v>
                </c:pt>
                <c:pt idx="39">
                  <c:v>2021-02-28</c:v>
                </c:pt>
                <c:pt idx="40">
                  <c:v>2021-03-31</c:v>
                </c:pt>
                <c:pt idx="41">
                  <c:v>2021-04-30</c:v>
                </c:pt>
                <c:pt idx="42">
                  <c:v>2021-05-31</c:v>
                </c:pt>
                <c:pt idx="43">
                  <c:v>2021-06-30</c:v>
                </c:pt>
                <c:pt idx="44">
                  <c:v>2021-07-31</c:v>
                </c:pt>
                <c:pt idx="45">
                  <c:v>2021-08-31</c:v>
                </c:pt>
                <c:pt idx="46">
                  <c:v>2021-09-30</c:v>
                </c:pt>
                <c:pt idx="47">
                  <c:v>2021-10-31</c:v>
                </c:pt>
                <c:pt idx="48">
                  <c:v>2021-11-30</c:v>
                </c:pt>
                <c:pt idx="49">
                  <c:v>2021-12-31</c:v>
                </c:pt>
                <c:pt idx="50">
                  <c:v>2022-01-31</c:v>
                </c:pt>
                <c:pt idx="51">
                  <c:v>2022-02-28</c:v>
                </c:pt>
                <c:pt idx="52">
                  <c:v>2022-03-31</c:v>
                </c:pt>
                <c:pt idx="53">
                  <c:v>2022-04-30</c:v>
                </c:pt>
                <c:pt idx="54">
                  <c:v>2022-05-31</c:v>
                </c:pt>
                <c:pt idx="55">
                  <c:v>2022-06-30</c:v>
                </c:pt>
                <c:pt idx="56">
                  <c:v>2022-07-31</c:v>
                </c:pt>
                <c:pt idx="57">
                  <c:v>2022-08-31</c:v>
                </c:pt>
                <c:pt idx="58">
                  <c:v>2022-09-30</c:v>
                </c:pt>
                <c:pt idx="59">
                  <c:v>2022-10-31</c:v>
                </c:pt>
                <c:pt idx="60">
                  <c:v>2022-11-30</c:v>
                </c:pt>
                <c:pt idx="61">
                  <c:v>2022-12-31</c:v>
                </c:pt>
                <c:pt idx="62">
                  <c:v>2023-01-31</c:v>
                </c:pt>
                <c:pt idx="63">
                  <c:v>2023-02-28</c:v>
                </c:pt>
                <c:pt idx="64">
                  <c:v>2023-03-31</c:v>
                </c:pt>
                <c:pt idx="65">
                  <c:v>2023-04-30</c:v>
                </c:pt>
                <c:pt idx="66">
                  <c:v>2023-05-31</c:v>
                </c:pt>
                <c:pt idx="67">
                  <c:v>2023-06-30</c:v>
                </c:pt>
                <c:pt idx="68">
                  <c:v>2023-07-31</c:v>
                </c:pt>
                <c:pt idx="69">
                  <c:v>2023-08-31</c:v>
                </c:pt>
                <c:pt idx="70">
                  <c:v>2023-09-30</c:v>
                </c:pt>
                <c:pt idx="71">
                  <c:v>2023-10-31</c:v>
                </c:pt>
                <c:pt idx="72">
                  <c:v>2023-11-30</c:v>
                </c:pt>
                <c:pt idx="73">
                  <c:v>2023-12-31</c:v>
                </c:pt>
                <c:pt idx="74">
                  <c:v>2024-01-31</c:v>
                </c:pt>
                <c:pt idx="75">
                  <c:v>2024-02-29</c:v>
                </c:pt>
                <c:pt idx="76">
                  <c:v>2024-03-31</c:v>
                </c:pt>
                <c:pt idx="77">
                  <c:v>2024-04-30</c:v>
                </c:pt>
                <c:pt idx="78">
                  <c:v>2024-05-31</c:v>
                </c:pt>
                <c:pt idx="79">
                  <c:v>2024-06-30</c:v>
                </c:pt>
                <c:pt idx="80">
                  <c:v>2024-07-31</c:v>
                </c:pt>
                <c:pt idx="81">
                  <c:v>2024-08-31</c:v>
                </c:pt>
                <c:pt idx="82">
                  <c:v>2024-09-30</c:v>
                </c:pt>
                <c:pt idx="83">
                  <c:v>2024-10-31</c:v>
                </c:pt>
                <c:pt idx="84">
                  <c:v>2024-11-30</c:v>
                </c:pt>
                <c:pt idx="85">
                  <c:v>2024-12-31</c:v>
                </c:pt>
                <c:pt idx="86">
                  <c:v>2025-01-31</c:v>
                </c:pt>
                <c:pt idx="87">
                  <c:v>2025-02-28</c:v>
                </c:pt>
                <c:pt idx="88">
                  <c:v>2025-03-31</c:v>
                </c:pt>
                <c:pt idx="89">
                  <c:v>2025-04-30</c:v>
                </c:pt>
                <c:pt idx="90">
                  <c:v>2025-05-31</c:v>
                </c:pt>
                <c:pt idx="91">
                  <c:v>2025-06-30</c:v>
                </c:pt>
                <c:pt idx="92">
                  <c:v>2025-07-31</c:v>
                </c:pt>
                <c:pt idx="93">
                  <c:v>2025-08-31</c:v>
                </c:pt>
                <c:pt idx="94">
                  <c:v>2025-09-30</c:v>
                </c:pt>
                <c:pt idx="95">
                  <c:v>2025-10-31</c:v>
                </c:pt>
                <c:pt idx="96">
                  <c:v>2025-11-30</c:v>
                </c:pt>
                <c:pt idx="97">
                  <c:v>2025-12-31</c:v>
                </c:pt>
                <c:pt idx="98">
                  <c:v>2026-01-31</c:v>
                </c:pt>
                <c:pt idx="99">
                  <c:v>2026-02-28</c:v>
                </c:pt>
                <c:pt idx="100">
                  <c:v>2026-03-31</c:v>
                </c:pt>
                <c:pt idx="101">
                  <c:v>2026-04-30</c:v>
                </c:pt>
                <c:pt idx="102">
                  <c:v>2026-05-31</c:v>
                </c:pt>
                <c:pt idx="103">
                  <c:v>2026-06-30</c:v>
                </c:pt>
                <c:pt idx="104">
                  <c:v>2026-07-31</c:v>
                </c:pt>
                <c:pt idx="105">
                  <c:v>2026-08-31</c:v>
                </c:pt>
                <c:pt idx="106">
                  <c:v>2026-09-30</c:v>
                </c:pt>
              </c:strCache>
            </c:strRef>
          </c:cat>
          <c:val>
            <c:numRef>
              <c:f>'Chart Data'!$D$2:$D$108</c:f>
              <c:numCache>
                <c:formatCode>0.0"x"</c:formatCode>
                <c:ptCount val="107"/>
                <c:pt idx="0">
                  <c:v>1.0098</c:v>
                </c:pt>
                <c:pt idx="1">
                  <c:v>1.0266</c:v>
                </c:pt>
                <c:pt idx="2">
                  <c:v>1.0620000000000001</c:v>
                </c:pt>
                <c:pt idx="3">
                  <c:v>1.0286</c:v>
                </c:pt>
                <c:pt idx="4">
                  <c:v>1.0278</c:v>
                </c:pt>
                <c:pt idx="5">
                  <c:v>1.0283</c:v>
                </c:pt>
                <c:pt idx="6">
                  <c:v>1.0305</c:v>
                </c:pt>
                <c:pt idx="7">
                  <c:v>1.0167999999999999</c:v>
                </c:pt>
                <c:pt idx="8">
                  <c:v>1.0284</c:v>
                </c:pt>
                <c:pt idx="9">
                  <c:v>1.0279</c:v>
                </c:pt>
                <c:pt idx="10">
                  <c:v>1.0313000000000001</c:v>
                </c:pt>
                <c:pt idx="11">
                  <c:v>0.98909999999999998</c:v>
                </c:pt>
                <c:pt idx="12">
                  <c:v>0.99180000000000001</c:v>
                </c:pt>
                <c:pt idx="13">
                  <c:v>0.96399999999999997</c:v>
                </c:pt>
                <c:pt idx="14">
                  <c:v>1.0167999999999999</c:v>
                </c:pt>
                <c:pt idx="15">
                  <c:v>1.0287999999999999</c:v>
                </c:pt>
                <c:pt idx="16">
                  <c:v>1.0367999999999999</c:v>
                </c:pt>
                <c:pt idx="17">
                  <c:v>1.0537000000000001</c:v>
                </c:pt>
                <c:pt idx="18">
                  <c:v>1.02</c:v>
                </c:pt>
                <c:pt idx="19">
                  <c:v>1.071</c:v>
                </c:pt>
                <c:pt idx="20">
                  <c:v>1.0669</c:v>
                </c:pt>
                <c:pt idx="21">
                  <c:v>1.0645</c:v>
                </c:pt>
                <c:pt idx="22">
                  <c:v>1.0737000000000001</c:v>
                </c:pt>
                <c:pt idx="23">
                  <c:v>1.0964</c:v>
                </c:pt>
                <c:pt idx="24">
                  <c:v>1.1017999999999999</c:v>
                </c:pt>
                <c:pt idx="25">
                  <c:v>1.1375</c:v>
                </c:pt>
                <c:pt idx="26">
                  <c:v>1.1215999999999999</c:v>
                </c:pt>
                <c:pt idx="27">
                  <c:v>1.0752999999999999</c:v>
                </c:pt>
                <c:pt idx="28">
                  <c:v>0.97440000000000004</c:v>
                </c:pt>
                <c:pt idx="29">
                  <c:v>1.0283</c:v>
                </c:pt>
                <c:pt idx="30">
                  <c:v>1.0652999999999999</c:v>
                </c:pt>
                <c:pt idx="31">
                  <c:v>1.0903</c:v>
                </c:pt>
                <c:pt idx="32">
                  <c:v>1.1415</c:v>
                </c:pt>
                <c:pt idx="33">
                  <c:v>1.1741999999999999</c:v>
                </c:pt>
                <c:pt idx="34">
                  <c:v>1.1500999999999999</c:v>
                </c:pt>
                <c:pt idx="35">
                  <c:v>1.1336999999999999</c:v>
                </c:pt>
                <c:pt idx="36">
                  <c:v>1.2079</c:v>
                </c:pt>
                <c:pt idx="37">
                  <c:v>1.2566999999999999</c:v>
                </c:pt>
                <c:pt idx="38">
                  <c:v>1.256</c:v>
                </c:pt>
                <c:pt idx="39">
                  <c:v>1.2753000000000001</c:v>
                </c:pt>
                <c:pt idx="40">
                  <c:v>1.2888999999999999</c:v>
                </c:pt>
                <c:pt idx="41">
                  <c:v>1.3306</c:v>
                </c:pt>
                <c:pt idx="42">
                  <c:v>1.3652</c:v>
                </c:pt>
                <c:pt idx="43">
                  <c:v>1.3621000000000001</c:v>
                </c:pt>
                <c:pt idx="44">
                  <c:v>1.369</c:v>
                </c:pt>
                <c:pt idx="45">
                  <c:v>1.3794</c:v>
                </c:pt>
                <c:pt idx="46">
                  <c:v>1.3525</c:v>
                </c:pt>
                <c:pt idx="47">
                  <c:v>1.3913</c:v>
                </c:pt>
                <c:pt idx="48">
                  <c:v>1.3545</c:v>
                </c:pt>
                <c:pt idx="49">
                  <c:v>1.3998999999999999</c:v>
                </c:pt>
                <c:pt idx="50">
                  <c:v>1.3868</c:v>
                </c:pt>
                <c:pt idx="51">
                  <c:v>1.3866000000000001</c:v>
                </c:pt>
                <c:pt idx="52">
                  <c:v>1.4013</c:v>
                </c:pt>
                <c:pt idx="53">
                  <c:v>1.3512999999999999</c:v>
                </c:pt>
                <c:pt idx="54">
                  <c:v>1.3644000000000001</c:v>
                </c:pt>
                <c:pt idx="55">
                  <c:v>1.294</c:v>
                </c:pt>
                <c:pt idx="56">
                  <c:v>1.3252999999999999</c:v>
                </c:pt>
                <c:pt idx="57">
                  <c:v>1.2855000000000001</c:v>
                </c:pt>
                <c:pt idx="58">
                  <c:v>1.1973</c:v>
                </c:pt>
                <c:pt idx="59">
                  <c:v>1.2350000000000001</c:v>
                </c:pt>
                <c:pt idx="60">
                  <c:v>1.3213999999999999</c:v>
                </c:pt>
                <c:pt idx="61">
                  <c:v>1.2972999999999999</c:v>
                </c:pt>
                <c:pt idx="62">
                  <c:v>1.3605</c:v>
                </c:pt>
                <c:pt idx="63">
                  <c:v>1.3083</c:v>
                </c:pt>
                <c:pt idx="64">
                  <c:v>1.3448</c:v>
                </c:pt>
                <c:pt idx="65">
                  <c:v>1.3564000000000001</c:v>
                </c:pt>
                <c:pt idx="66">
                  <c:v>1.323</c:v>
                </c:pt>
                <c:pt idx="67">
                  <c:v>1.3572</c:v>
                </c:pt>
                <c:pt idx="68">
                  <c:v>1.4026000000000001</c:v>
                </c:pt>
                <c:pt idx="69">
                  <c:v>1.3733</c:v>
                </c:pt>
                <c:pt idx="70">
                  <c:v>1.3358000000000001</c:v>
                </c:pt>
                <c:pt idx="71">
                  <c:v>1.3230999999999999</c:v>
                </c:pt>
                <c:pt idx="72">
                  <c:v>1.3875</c:v>
                </c:pt>
                <c:pt idx="73">
                  <c:v>1.4263999999999999</c:v>
                </c:pt>
                <c:pt idx="74">
                  <c:v>1.4221999999999999</c:v>
                </c:pt>
                <c:pt idx="75">
                  <c:v>1.4432</c:v>
                </c:pt>
                <c:pt idx="76">
                  <c:v>1.4957</c:v>
                </c:pt>
                <c:pt idx="77">
                  <c:v>1.476</c:v>
                </c:pt>
                <c:pt idx="78">
                  <c:v>1.5114000000000001</c:v>
                </c:pt>
                <c:pt idx="79">
                  <c:v>1.5223</c:v>
                </c:pt>
                <c:pt idx="80">
                  <c:v>1.5542</c:v>
                </c:pt>
                <c:pt idx="81">
                  <c:v>1.5775999999999999</c:v>
                </c:pt>
                <c:pt idx="82">
                  <c:v>1.6146</c:v>
                </c:pt>
                <c:pt idx="83">
                  <c:v>1.5954999999999999</c:v>
                </c:pt>
                <c:pt idx="84">
                  <c:v>1.6059000000000001</c:v>
                </c:pt>
                <c:pt idx="85">
                  <c:v>1.5746</c:v>
                </c:pt>
                <c:pt idx="86">
                  <c:v>1.6232</c:v>
                </c:pt>
                <c:pt idx="87">
                  <c:v>1.6413</c:v>
                </c:pt>
                <c:pt idx="88">
                  <c:v>1.6533</c:v>
                </c:pt>
                <c:pt idx="89">
                  <c:v>1.6496999999999999</c:v>
                </c:pt>
                <c:pt idx="90">
                  <c:v>1.6881999999999999</c:v>
                </c:pt>
                <c:pt idx="91">
                  <c:v>1.7435</c:v>
                </c:pt>
                <c:pt idx="92">
                  <c:v>1.7501</c:v>
                </c:pt>
                <c:pt idx="93">
                  <c:v>1.7923</c:v>
                </c:pt>
                <c:pt idx="94">
                  <c:v>1.8581000000000001</c:v>
                </c:pt>
                <c:pt idx="95">
                  <c:v>1.8874</c:v>
                </c:pt>
                <c:pt idx="96">
                  <c:v>1.91</c:v>
                </c:pt>
                <c:pt idx="97">
                  <c:v>1.9280999999999999</c:v>
                </c:pt>
                <c:pt idx="98">
                  <c:v>2.0268000000000002</c:v>
                </c:pt>
                <c:pt idx="99">
                  <c:v>2.0975000000000001</c:v>
                </c:pt>
                <c:pt idx="100">
                  <c:v>2.0295999999999998</c:v>
                </c:pt>
                <c:pt idx="101">
                  <c:v>2.1318999999999999</c:v>
                </c:pt>
                <c:pt idx="102">
                  <c:v>2.1613000000000002</c:v>
                </c:pt>
                <c:pt idx="103">
                  <c:v>2.1124999999999998</c:v>
                </c:pt>
                <c:pt idx="104">
                  <c:v>2.1286999999999998</c:v>
                </c:pt>
                <c:pt idx="105">
                  <c:v>2.2033999999999998</c:v>
                </c:pt>
                <c:pt idx="106">
                  <c:v>2.1604999999999999</c:v>
                </c:pt>
              </c:numCache>
            </c:numRef>
          </c:val>
          <c:smooth val="0"/>
          <c:extLst>
            <c:ext xmlns:c16="http://schemas.microsoft.com/office/drawing/2014/chart" uri="{C3380CC4-5D6E-409C-BE32-E72D297353CC}">
              <c16:uniqueId val="{00000001-5DA4-475F-A10A-CE67DEA9BC83}"/>
            </c:ext>
          </c:extLst>
        </c:ser>
        <c:ser>
          <c:idx val="2"/>
          <c:order val="2"/>
          <c:tx>
            <c:v>Risk Parity (1/vol)</c:v>
          </c:tx>
          <c:spPr>
            <a:ln w="24765">
              <a:solidFill>
                <a:srgbClr val="9BABA3"/>
              </a:solidFill>
            </a:ln>
          </c:spPr>
          <c:marker>
            <c:symbol val="none"/>
          </c:marker>
          <c:cat>
            <c:strRef>
              <c:f>'Chart Data'!$E$2:$E$108</c:f>
              <c:strCache>
                <c:ptCount val="107"/>
                <c:pt idx="0">
                  <c:v>2017-11-30</c:v>
                </c:pt>
                <c:pt idx="1">
                  <c:v>2017-12-31</c:v>
                </c:pt>
                <c:pt idx="2">
                  <c:v>2018-01-31</c:v>
                </c:pt>
                <c:pt idx="3">
                  <c:v>2018-02-28</c:v>
                </c:pt>
                <c:pt idx="4">
                  <c:v>2018-03-31</c:v>
                </c:pt>
                <c:pt idx="5">
                  <c:v>2018-04-30</c:v>
                </c:pt>
                <c:pt idx="6">
                  <c:v>2018-05-31</c:v>
                </c:pt>
                <c:pt idx="7">
                  <c:v>2018-06-30</c:v>
                </c:pt>
                <c:pt idx="8">
                  <c:v>2018-07-31</c:v>
                </c:pt>
                <c:pt idx="9">
                  <c:v>2018-08-31</c:v>
                </c:pt>
                <c:pt idx="10">
                  <c:v>2018-09-30</c:v>
                </c:pt>
                <c:pt idx="11">
                  <c:v>2018-10-31</c:v>
                </c:pt>
                <c:pt idx="12">
                  <c:v>2018-11-30</c:v>
                </c:pt>
                <c:pt idx="13">
                  <c:v>2018-12-31</c:v>
                </c:pt>
                <c:pt idx="14">
                  <c:v>2019-01-31</c:v>
                </c:pt>
                <c:pt idx="15">
                  <c:v>2019-02-28</c:v>
                </c:pt>
                <c:pt idx="16">
                  <c:v>2019-03-31</c:v>
                </c:pt>
                <c:pt idx="17">
                  <c:v>2019-04-30</c:v>
                </c:pt>
                <c:pt idx="18">
                  <c:v>2019-05-31</c:v>
                </c:pt>
                <c:pt idx="19">
                  <c:v>2019-06-30</c:v>
                </c:pt>
                <c:pt idx="20">
                  <c:v>2019-07-31</c:v>
                </c:pt>
                <c:pt idx="21">
                  <c:v>2019-08-31</c:v>
                </c:pt>
                <c:pt idx="22">
                  <c:v>2019-09-30</c:v>
                </c:pt>
                <c:pt idx="23">
                  <c:v>2019-10-31</c:v>
                </c:pt>
                <c:pt idx="24">
                  <c:v>2019-11-30</c:v>
                </c:pt>
                <c:pt idx="25">
                  <c:v>2019-12-31</c:v>
                </c:pt>
                <c:pt idx="26">
                  <c:v>2020-01-31</c:v>
                </c:pt>
                <c:pt idx="27">
                  <c:v>2020-02-29</c:v>
                </c:pt>
                <c:pt idx="28">
                  <c:v>2020-03-31</c:v>
                </c:pt>
                <c:pt idx="29">
                  <c:v>2020-04-30</c:v>
                </c:pt>
                <c:pt idx="30">
                  <c:v>2020-05-31</c:v>
                </c:pt>
                <c:pt idx="31">
                  <c:v>2020-06-30</c:v>
                </c:pt>
                <c:pt idx="32">
                  <c:v>2020-07-31</c:v>
                </c:pt>
                <c:pt idx="33">
                  <c:v>2020-08-31</c:v>
                </c:pt>
                <c:pt idx="34">
                  <c:v>2020-09-30</c:v>
                </c:pt>
                <c:pt idx="35">
                  <c:v>2020-10-31</c:v>
                </c:pt>
                <c:pt idx="36">
                  <c:v>2020-11-30</c:v>
                </c:pt>
                <c:pt idx="37">
                  <c:v>2020-12-31</c:v>
                </c:pt>
                <c:pt idx="38">
                  <c:v>2021-01-31</c:v>
                </c:pt>
                <c:pt idx="39">
                  <c:v>2021-02-28</c:v>
                </c:pt>
                <c:pt idx="40">
                  <c:v>2021-03-31</c:v>
                </c:pt>
                <c:pt idx="41">
                  <c:v>2021-04-30</c:v>
                </c:pt>
                <c:pt idx="42">
                  <c:v>2021-05-31</c:v>
                </c:pt>
                <c:pt idx="43">
                  <c:v>2021-06-30</c:v>
                </c:pt>
                <c:pt idx="44">
                  <c:v>2021-07-31</c:v>
                </c:pt>
                <c:pt idx="45">
                  <c:v>2021-08-31</c:v>
                </c:pt>
                <c:pt idx="46">
                  <c:v>2021-09-30</c:v>
                </c:pt>
                <c:pt idx="47">
                  <c:v>2021-10-31</c:v>
                </c:pt>
                <c:pt idx="48">
                  <c:v>2021-11-30</c:v>
                </c:pt>
                <c:pt idx="49">
                  <c:v>2021-12-31</c:v>
                </c:pt>
                <c:pt idx="50">
                  <c:v>2022-01-31</c:v>
                </c:pt>
                <c:pt idx="51">
                  <c:v>2022-02-28</c:v>
                </c:pt>
                <c:pt idx="52">
                  <c:v>2022-03-31</c:v>
                </c:pt>
                <c:pt idx="53">
                  <c:v>2022-04-30</c:v>
                </c:pt>
                <c:pt idx="54">
                  <c:v>2022-05-31</c:v>
                </c:pt>
                <c:pt idx="55">
                  <c:v>2022-06-30</c:v>
                </c:pt>
                <c:pt idx="56">
                  <c:v>2022-07-31</c:v>
                </c:pt>
                <c:pt idx="57">
                  <c:v>2022-08-31</c:v>
                </c:pt>
                <c:pt idx="58">
                  <c:v>2022-09-30</c:v>
                </c:pt>
                <c:pt idx="59">
                  <c:v>2022-10-31</c:v>
                </c:pt>
                <c:pt idx="60">
                  <c:v>2022-11-30</c:v>
                </c:pt>
                <c:pt idx="61">
                  <c:v>2022-12-31</c:v>
                </c:pt>
                <c:pt idx="62">
                  <c:v>2023-01-31</c:v>
                </c:pt>
                <c:pt idx="63">
                  <c:v>2023-02-28</c:v>
                </c:pt>
                <c:pt idx="64">
                  <c:v>2023-03-31</c:v>
                </c:pt>
                <c:pt idx="65">
                  <c:v>2023-04-30</c:v>
                </c:pt>
                <c:pt idx="66">
                  <c:v>2023-05-31</c:v>
                </c:pt>
                <c:pt idx="67">
                  <c:v>2023-06-30</c:v>
                </c:pt>
                <c:pt idx="68">
                  <c:v>2023-07-31</c:v>
                </c:pt>
                <c:pt idx="69">
                  <c:v>2023-08-31</c:v>
                </c:pt>
                <c:pt idx="70">
                  <c:v>2023-09-30</c:v>
                </c:pt>
                <c:pt idx="71">
                  <c:v>2023-10-31</c:v>
                </c:pt>
                <c:pt idx="72">
                  <c:v>2023-11-30</c:v>
                </c:pt>
                <c:pt idx="73">
                  <c:v>2023-12-31</c:v>
                </c:pt>
                <c:pt idx="74">
                  <c:v>2024-01-31</c:v>
                </c:pt>
                <c:pt idx="75">
                  <c:v>2024-02-29</c:v>
                </c:pt>
                <c:pt idx="76">
                  <c:v>2024-03-31</c:v>
                </c:pt>
                <c:pt idx="77">
                  <c:v>2024-04-30</c:v>
                </c:pt>
                <c:pt idx="78">
                  <c:v>2024-05-31</c:v>
                </c:pt>
                <c:pt idx="79">
                  <c:v>2024-06-30</c:v>
                </c:pt>
                <c:pt idx="80">
                  <c:v>2024-07-31</c:v>
                </c:pt>
                <c:pt idx="81">
                  <c:v>2024-08-31</c:v>
                </c:pt>
                <c:pt idx="82">
                  <c:v>2024-09-30</c:v>
                </c:pt>
                <c:pt idx="83">
                  <c:v>2024-10-31</c:v>
                </c:pt>
                <c:pt idx="84">
                  <c:v>2024-11-30</c:v>
                </c:pt>
                <c:pt idx="85">
                  <c:v>2024-12-31</c:v>
                </c:pt>
                <c:pt idx="86">
                  <c:v>2025-01-31</c:v>
                </c:pt>
                <c:pt idx="87">
                  <c:v>2025-02-28</c:v>
                </c:pt>
                <c:pt idx="88">
                  <c:v>2025-03-31</c:v>
                </c:pt>
                <c:pt idx="89">
                  <c:v>2025-04-30</c:v>
                </c:pt>
                <c:pt idx="90">
                  <c:v>2025-05-31</c:v>
                </c:pt>
                <c:pt idx="91">
                  <c:v>2025-06-30</c:v>
                </c:pt>
                <c:pt idx="92">
                  <c:v>2025-07-31</c:v>
                </c:pt>
                <c:pt idx="93">
                  <c:v>2025-08-31</c:v>
                </c:pt>
                <c:pt idx="94">
                  <c:v>2025-09-30</c:v>
                </c:pt>
                <c:pt idx="95">
                  <c:v>2025-10-31</c:v>
                </c:pt>
                <c:pt idx="96">
                  <c:v>2025-11-30</c:v>
                </c:pt>
                <c:pt idx="97">
                  <c:v>2025-12-31</c:v>
                </c:pt>
                <c:pt idx="98">
                  <c:v>2026-01-31</c:v>
                </c:pt>
                <c:pt idx="99">
                  <c:v>2026-02-28</c:v>
                </c:pt>
                <c:pt idx="100">
                  <c:v>2026-03-31</c:v>
                </c:pt>
                <c:pt idx="101">
                  <c:v>2026-04-30</c:v>
                </c:pt>
                <c:pt idx="102">
                  <c:v>2026-05-31</c:v>
                </c:pt>
                <c:pt idx="103">
                  <c:v>2026-06-30</c:v>
                </c:pt>
                <c:pt idx="104">
                  <c:v>2026-07-31</c:v>
                </c:pt>
                <c:pt idx="105">
                  <c:v>2026-08-31</c:v>
                </c:pt>
                <c:pt idx="106">
                  <c:v>2026-09-30</c:v>
                </c:pt>
              </c:strCache>
            </c:strRef>
          </c:cat>
          <c:val>
            <c:numRef>
              <c:f>'Chart Data'!$F$2:$F$108</c:f>
              <c:numCache>
                <c:formatCode>0.0"x"</c:formatCode>
                <c:ptCount val="107"/>
                <c:pt idx="0">
                  <c:v>1.0017</c:v>
                </c:pt>
                <c:pt idx="1">
                  <c:v>1.0067999999999999</c:v>
                </c:pt>
                <c:pt idx="2">
                  <c:v>1.0152000000000001</c:v>
                </c:pt>
                <c:pt idx="3">
                  <c:v>1.0027999999999999</c:v>
                </c:pt>
                <c:pt idx="4">
                  <c:v>1.0029999999999999</c:v>
                </c:pt>
                <c:pt idx="5">
                  <c:v>1.0033000000000001</c:v>
                </c:pt>
                <c:pt idx="6">
                  <c:v>1.0066999999999999</c:v>
                </c:pt>
                <c:pt idx="7">
                  <c:v>1.0035000000000001</c:v>
                </c:pt>
                <c:pt idx="8">
                  <c:v>1.0088999999999999</c:v>
                </c:pt>
                <c:pt idx="9">
                  <c:v>1.0129999999999999</c:v>
                </c:pt>
                <c:pt idx="10">
                  <c:v>1.0128999999999999</c:v>
                </c:pt>
                <c:pt idx="11">
                  <c:v>0.99819999999999998</c:v>
                </c:pt>
                <c:pt idx="12">
                  <c:v>1.0006999999999999</c:v>
                </c:pt>
                <c:pt idx="13">
                  <c:v>0.997</c:v>
                </c:pt>
                <c:pt idx="14">
                  <c:v>1.0226</c:v>
                </c:pt>
                <c:pt idx="15">
                  <c:v>1.0295000000000001</c:v>
                </c:pt>
                <c:pt idx="16">
                  <c:v>1.0410999999999999</c:v>
                </c:pt>
                <c:pt idx="17">
                  <c:v>1.0491999999999999</c:v>
                </c:pt>
                <c:pt idx="18">
                  <c:v>1.0426</c:v>
                </c:pt>
                <c:pt idx="19">
                  <c:v>1.0694999999999999</c:v>
                </c:pt>
                <c:pt idx="20">
                  <c:v>1.069</c:v>
                </c:pt>
                <c:pt idx="21">
                  <c:v>1.0773999999999999</c:v>
                </c:pt>
                <c:pt idx="22">
                  <c:v>1.0808</c:v>
                </c:pt>
                <c:pt idx="23">
                  <c:v>1.0927</c:v>
                </c:pt>
                <c:pt idx="24">
                  <c:v>1.0954999999999999</c:v>
                </c:pt>
                <c:pt idx="25">
                  <c:v>1.1107</c:v>
                </c:pt>
                <c:pt idx="26">
                  <c:v>1.1131</c:v>
                </c:pt>
                <c:pt idx="27">
                  <c:v>1.1001000000000001</c:v>
                </c:pt>
                <c:pt idx="28">
                  <c:v>1.0419</c:v>
                </c:pt>
                <c:pt idx="29">
                  <c:v>1.0837000000000001</c:v>
                </c:pt>
                <c:pt idx="30">
                  <c:v>1.1104000000000001</c:v>
                </c:pt>
                <c:pt idx="31">
                  <c:v>1.1269</c:v>
                </c:pt>
                <c:pt idx="32">
                  <c:v>1.1594</c:v>
                </c:pt>
                <c:pt idx="33">
                  <c:v>1.1763999999999999</c:v>
                </c:pt>
                <c:pt idx="34">
                  <c:v>1.1631</c:v>
                </c:pt>
                <c:pt idx="35">
                  <c:v>1.1526000000000001</c:v>
                </c:pt>
                <c:pt idx="36">
                  <c:v>1.1958</c:v>
                </c:pt>
                <c:pt idx="37">
                  <c:v>1.2224999999999999</c:v>
                </c:pt>
                <c:pt idx="38">
                  <c:v>1.2192000000000001</c:v>
                </c:pt>
                <c:pt idx="39">
                  <c:v>1.2232000000000001</c:v>
                </c:pt>
                <c:pt idx="40">
                  <c:v>1.2259</c:v>
                </c:pt>
                <c:pt idx="41">
                  <c:v>1.25</c:v>
                </c:pt>
                <c:pt idx="42">
                  <c:v>1.2699</c:v>
                </c:pt>
                <c:pt idx="43">
                  <c:v>1.2685999999999999</c:v>
                </c:pt>
                <c:pt idx="44">
                  <c:v>1.2773000000000001</c:v>
                </c:pt>
                <c:pt idx="45">
                  <c:v>1.2817000000000001</c:v>
                </c:pt>
                <c:pt idx="46">
                  <c:v>1.2642</c:v>
                </c:pt>
                <c:pt idx="47">
                  <c:v>1.2805</c:v>
                </c:pt>
                <c:pt idx="48">
                  <c:v>1.2635000000000001</c:v>
                </c:pt>
                <c:pt idx="49">
                  <c:v>1.2850999999999999</c:v>
                </c:pt>
                <c:pt idx="50">
                  <c:v>1.2685</c:v>
                </c:pt>
                <c:pt idx="51">
                  <c:v>1.2656000000000001</c:v>
                </c:pt>
                <c:pt idx="52">
                  <c:v>1.2569999999999999</c:v>
                </c:pt>
                <c:pt idx="53">
                  <c:v>1.2189000000000001</c:v>
                </c:pt>
                <c:pt idx="54">
                  <c:v>1.2284999999999999</c:v>
                </c:pt>
                <c:pt idx="55">
                  <c:v>1.1876</c:v>
                </c:pt>
                <c:pt idx="56">
                  <c:v>1.2134</c:v>
                </c:pt>
                <c:pt idx="57">
                  <c:v>1.1811</c:v>
                </c:pt>
                <c:pt idx="58">
                  <c:v>1.1214999999999999</c:v>
                </c:pt>
                <c:pt idx="59">
                  <c:v>1.1377999999999999</c:v>
                </c:pt>
                <c:pt idx="60">
                  <c:v>1.1968000000000001</c:v>
                </c:pt>
                <c:pt idx="61">
                  <c:v>1.1839999999999999</c:v>
                </c:pt>
                <c:pt idx="62">
                  <c:v>1.2285999999999999</c:v>
                </c:pt>
                <c:pt idx="63">
                  <c:v>1.1917</c:v>
                </c:pt>
                <c:pt idx="64">
                  <c:v>1.2230000000000001</c:v>
                </c:pt>
                <c:pt idx="65">
                  <c:v>1.2326999999999999</c:v>
                </c:pt>
                <c:pt idx="66">
                  <c:v>1.2114</c:v>
                </c:pt>
                <c:pt idx="67">
                  <c:v>1.2266999999999999</c:v>
                </c:pt>
                <c:pt idx="68">
                  <c:v>1.2513000000000001</c:v>
                </c:pt>
                <c:pt idx="69">
                  <c:v>1.2358</c:v>
                </c:pt>
                <c:pt idx="70">
                  <c:v>1.2088000000000001</c:v>
                </c:pt>
                <c:pt idx="71">
                  <c:v>1.2016</c:v>
                </c:pt>
                <c:pt idx="72">
                  <c:v>1.2503</c:v>
                </c:pt>
                <c:pt idx="73">
                  <c:v>1.2827999999999999</c:v>
                </c:pt>
                <c:pt idx="74">
                  <c:v>1.282</c:v>
                </c:pt>
                <c:pt idx="75">
                  <c:v>1.2887999999999999</c:v>
                </c:pt>
                <c:pt idx="76">
                  <c:v>1.3225</c:v>
                </c:pt>
                <c:pt idx="77">
                  <c:v>1.3059000000000001</c:v>
                </c:pt>
                <c:pt idx="78">
                  <c:v>1.3311999999999999</c:v>
                </c:pt>
                <c:pt idx="79">
                  <c:v>1.3405</c:v>
                </c:pt>
                <c:pt idx="80">
                  <c:v>1.3688</c:v>
                </c:pt>
                <c:pt idx="81">
                  <c:v>1.3885000000000001</c:v>
                </c:pt>
                <c:pt idx="82">
                  <c:v>1.415</c:v>
                </c:pt>
                <c:pt idx="83">
                  <c:v>1.3976</c:v>
                </c:pt>
                <c:pt idx="84">
                  <c:v>1.4066000000000001</c:v>
                </c:pt>
                <c:pt idx="85">
                  <c:v>1.3855999999999999</c:v>
                </c:pt>
                <c:pt idx="86">
                  <c:v>1.4166000000000001</c:v>
                </c:pt>
                <c:pt idx="87">
                  <c:v>1.4345000000000001</c:v>
                </c:pt>
                <c:pt idx="88">
                  <c:v>1.4451000000000001</c:v>
                </c:pt>
                <c:pt idx="89">
                  <c:v>1.4468000000000001</c:v>
                </c:pt>
                <c:pt idx="90">
                  <c:v>1.4671000000000001</c:v>
                </c:pt>
                <c:pt idx="91">
                  <c:v>1.5026999999999999</c:v>
                </c:pt>
                <c:pt idx="92">
                  <c:v>1.506</c:v>
                </c:pt>
                <c:pt idx="93">
                  <c:v>1.5356000000000001</c:v>
                </c:pt>
                <c:pt idx="94">
                  <c:v>1.5746</c:v>
                </c:pt>
                <c:pt idx="95">
                  <c:v>1.5925</c:v>
                </c:pt>
                <c:pt idx="96">
                  <c:v>1.6088</c:v>
                </c:pt>
                <c:pt idx="97">
                  <c:v>1.6191</c:v>
                </c:pt>
                <c:pt idx="98">
                  <c:v>1.6740999999999999</c:v>
                </c:pt>
                <c:pt idx="99">
                  <c:v>1.7172000000000001</c:v>
                </c:pt>
                <c:pt idx="100">
                  <c:v>1.6755</c:v>
                </c:pt>
                <c:pt idx="101">
                  <c:v>1.7302999999999999</c:v>
                </c:pt>
                <c:pt idx="102">
                  <c:v>1.7461</c:v>
                </c:pt>
                <c:pt idx="103">
                  <c:v>1.7234</c:v>
                </c:pt>
                <c:pt idx="104">
                  <c:v>1.7295</c:v>
                </c:pt>
                <c:pt idx="105">
                  <c:v>1.7674000000000001</c:v>
                </c:pt>
                <c:pt idx="106">
                  <c:v>1.7336</c:v>
                </c:pt>
              </c:numCache>
            </c:numRef>
          </c:val>
          <c:smooth val="0"/>
          <c:extLst>
            <c:ext xmlns:c16="http://schemas.microsoft.com/office/drawing/2014/chart" uri="{C3380CC4-5D6E-409C-BE32-E72D297353CC}">
              <c16:uniqueId val="{00000002-5DA4-475F-A10A-CE67DEA9BC83}"/>
            </c:ext>
          </c:extLst>
        </c:ser>
        <c:dLbls>
          <c:showLegendKey val="0"/>
          <c:showVal val="0"/>
          <c:showCatName val="0"/>
          <c:showSerName val="0"/>
          <c:showPercent val="0"/>
          <c:showBubbleSize val="0"/>
        </c:dLbls>
        <c:smooth val="0"/>
        <c:axId val="48650112"/>
        <c:axId val="48672768"/>
      </c:line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max val="2.2999999999999998"/>
          <c:min val="0.9"/>
        </c:scaling>
        <c:delete val="0"/>
        <c:axPos val="l"/>
        <c:majorGridlines>
          <c:spPr>
            <a:ln w="5715">
              <a:solidFill>
                <a:srgbClr val="D6D9D3"/>
              </a:solidFill>
            </a:ln>
          </c:spPr>
        </c:majorGridlines>
        <c:numFmt formatCode="0.0&quot;x&quot;" sourceLinked="1"/>
        <c:majorTickMark val="none"/>
        <c:minorTickMark val="none"/>
        <c:tickLblPos val="nextTo"/>
        <c:spPr>
          <a:ln w="9525">
            <a:solidFill>
              <a:srgbClr val="D4D4D4"/>
            </a:solidFill>
            <a:prstDash val="solid"/>
          </a:ln>
        </c:spPr>
        <c:txPr>
          <a:bodyPr anchorCtr="1"/>
          <a:lstStyle/>
          <a:p>
            <a:pPr>
              <a:defRPr sz="1125">
                <a:solidFill>
                  <a:srgbClr val="64716B"/>
                </a:solidFill>
                <a:latin typeface="Arial"/>
                <a:ea typeface="Arial"/>
                <a:cs typeface="Arial"/>
              </a:defRPr>
            </a:pPr>
            <a:endParaRPr lang="it-IT"/>
          </a:p>
        </c:txPr>
        <c:crossAx val="48650112"/>
        <c:crosses val="autoZero"/>
        <c:crossBetween val="between"/>
        <c:majorUnit val="0.3"/>
      </c:valAx>
      <c:spPr>
        <a:noFill/>
        <a:ln w="0">
          <a:noFill/>
        </a:ln>
      </c:spPr>
    </c:plotArea>
    <c:plotVisOnly val="1"/>
    <c:dispBlanksAs val="zero"/>
    <c:showDLblsOverMax val="1"/>
  </c:chart>
  <c:spPr>
    <a:no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col"/>
        <c:grouping val="clustered"/>
        <c:varyColors val="0"/>
        <c:ser>
          <c:idx val="0"/>
          <c:order val="0"/>
          <c:tx>
            <c:v>Our SAA</c:v>
          </c:tx>
          <c:spPr>
            <a:solidFill>
              <a:srgbClr val="3D6358"/>
            </a:solidFill>
          </c:spPr>
          <c:invertIfNegative val="0"/>
          <c:cat>
            <c:strRef>
              <c:f>'Chart Data'!$A$2:$A$5</c:f>
              <c:strCache>
                <c:ptCount val="4"/>
                <c:pt idx="0">
                  <c:v>2015–16
commodities</c:v>
                </c:pt>
                <c:pt idx="1">
                  <c:v>Q4 2018
tightening</c:v>
                </c:pt>
                <c:pt idx="2">
                  <c:v>Covid crash
2020</c:v>
                </c:pt>
                <c:pt idx="3">
                  <c:v>2022
rate shock</c:v>
                </c:pt>
              </c:strCache>
            </c:strRef>
          </c:cat>
          <c:val>
            <c:numRef>
              <c:f>'Chart Data'!$B$2:$B$5</c:f>
              <c:numCache>
                <c:formatCode>0%</c:formatCode>
                <c:ptCount val="4"/>
                <c:pt idx="0">
                  <c:v>-7.8200000000000006E-2</c:v>
                </c:pt>
                <c:pt idx="1">
                  <c:v>-5.2299999999999999E-2</c:v>
                </c:pt>
                <c:pt idx="2">
                  <c:v>-0.10349999999999999</c:v>
                </c:pt>
                <c:pt idx="3">
                  <c:v>-0.10340000000000001</c:v>
                </c:pt>
              </c:numCache>
            </c:numRef>
          </c:val>
          <c:extLst>
            <c:ext xmlns:c16="http://schemas.microsoft.com/office/drawing/2014/chart" uri="{C3380CC4-5D6E-409C-BE32-E72D297353CC}">
              <c16:uniqueId val="{00000000-ABFB-4FE0-B252-498F420CD9F1}"/>
            </c:ext>
          </c:extLst>
        </c:ser>
        <c:ser>
          <c:idx val="1"/>
          <c:order val="1"/>
          <c:tx>
            <c:v>Equal Weight</c:v>
          </c:tx>
          <c:spPr>
            <a:solidFill>
              <a:srgbClr val="9B8052"/>
            </a:solidFill>
          </c:spPr>
          <c:invertIfNegative val="0"/>
          <c:cat>
            <c:strRef>
              <c:f>'Chart Data'!$C$2:$C$5</c:f>
              <c:strCache>
                <c:ptCount val="4"/>
                <c:pt idx="0">
                  <c:v>2015–16
commodities</c:v>
                </c:pt>
                <c:pt idx="1">
                  <c:v>Q4 2018
tightening</c:v>
                </c:pt>
                <c:pt idx="2">
                  <c:v>Covid crash
2020</c:v>
                </c:pt>
                <c:pt idx="3">
                  <c:v>2022
rate shock</c:v>
                </c:pt>
              </c:strCache>
            </c:strRef>
          </c:cat>
          <c:val>
            <c:numRef>
              <c:f>'Chart Data'!$D$2:$D$5</c:f>
              <c:numCache>
                <c:formatCode>0%</c:formatCode>
                <c:ptCount val="4"/>
                <c:pt idx="0">
                  <c:v>-9.5899999999999999E-2</c:v>
                </c:pt>
                <c:pt idx="1">
                  <c:v>-6.5199999999999994E-2</c:v>
                </c:pt>
                <c:pt idx="2">
                  <c:v>-0.1313</c:v>
                </c:pt>
                <c:pt idx="3">
                  <c:v>-0.1178</c:v>
                </c:pt>
              </c:numCache>
            </c:numRef>
          </c:val>
          <c:extLst>
            <c:ext xmlns:c16="http://schemas.microsoft.com/office/drawing/2014/chart" uri="{C3380CC4-5D6E-409C-BE32-E72D297353CC}">
              <c16:uniqueId val="{00000001-ABFB-4FE0-B252-498F420CD9F1}"/>
            </c:ext>
          </c:extLst>
        </c:ser>
        <c:ser>
          <c:idx val="2"/>
          <c:order val="2"/>
          <c:tx>
            <c:v>100% equity (VOO)</c:v>
          </c:tx>
          <c:spPr>
            <a:solidFill>
              <a:srgbClr val="9BABA3"/>
            </a:solidFill>
          </c:spPr>
          <c:invertIfNegative val="0"/>
          <c:cat>
            <c:strRef>
              <c:f>'Chart Data'!$E$2:$E$5</c:f>
              <c:strCache>
                <c:ptCount val="4"/>
                <c:pt idx="0">
                  <c:v>2015–16
commodities</c:v>
                </c:pt>
                <c:pt idx="1">
                  <c:v>Q4 2018
tightening</c:v>
                </c:pt>
                <c:pt idx="2">
                  <c:v>Covid crash
2020</c:v>
                </c:pt>
                <c:pt idx="3">
                  <c:v>2022
rate shock</c:v>
                </c:pt>
              </c:strCache>
            </c:strRef>
          </c:cat>
          <c:val>
            <c:numRef>
              <c:f>'Chart Data'!$F$2:$F$5</c:f>
              <c:numCache>
                <c:formatCode>0%</c:formatCode>
                <c:ptCount val="4"/>
                <c:pt idx="0">
                  <c:v>-6.8699999999999997E-2</c:v>
                </c:pt>
                <c:pt idx="1">
                  <c:v>-0.13469999999999999</c:v>
                </c:pt>
                <c:pt idx="2">
                  <c:v>-0.19550000000000001</c:v>
                </c:pt>
                <c:pt idx="3">
                  <c:v>-0.1774</c:v>
                </c:pt>
              </c:numCache>
            </c:numRef>
          </c:val>
          <c:extLst>
            <c:ext xmlns:c16="http://schemas.microsoft.com/office/drawing/2014/chart" uri="{C3380CC4-5D6E-409C-BE32-E72D297353CC}">
              <c16:uniqueId val="{00000002-ABFB-4FE0-B252-498F420CD9F1}"/>
            </c:ext>
          </c:extLst>
        </c:ser>
        <c:dLbls>
          <c:showLegendKey val="0"/>
          <c:showVal val="0"/>
          <c:showCatName val="0"/>
          <c:showSerName val="0"/>
          <c:showPercent val="0"/>
          <c:showBubbleSize val="0"/>
        </c:dLbls>
        <c:gapWidth val="55"/>
        <c:axId val="48650112"/>
        <c:axId val="48672768"/>
      </c:bar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max val="0"/>
          <c:min val="-0.2"/>
        </c:scaling>
        <c:delete val="0"/>
        <c:axPos val="l"/>
        <c:majorGridlines>
          <c:spPr>
            <a:ln w="5715">
              <a:solidFill>
                <a:srgbClr val="D6D9D3"/>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125">
                <a:solidFill>
                  <a:srgbClr val="64716B"/>
                </a:solidFill>
                <a:latin typeface="Arial"/>
                <a:ea typeface="Arial"/>
                <a:cs typeface="Arial"/>
              </a:defRPr>
            </a:pPr>
            <a:endParaRPr lang="it-IT"/>
          </a:p>
        </c:txPr>
        <c:crossAx val="48650112"/>
        <c:crosses val="autoZero"/>
        <c:crossBetween val="between"/>
        <c:majorUnit val="0.05"/>
      </c:valAx>
      <c:spPr>
        <a:noFill/>
        <a:ln w="0">
          <a:noFill/>
        </a:ln>
      </c:spPr>
    </c:plotArea>
    <c:legend>
      <c:legendPos val="b"/>
      <c:overlay val="0"/>
      <c:txPr>
        <a:bodyPr anchorCtr="1"/>
        <a:lstStyle/>
        <a:p>
          <a:pPr>
            <a:defRPr sz="1200">
              <a:solidFill>
                <a:srgbClr val="101918"/>
              </a:solidFill>
              <a:latin typeface="Arial"/>
              <a:ea typeface="Arial"/>
              <a:cs typeface="Arial"/>
            </a:defRPr>
          </a:pPr>
          <a:endParaRPr lang="it-IT"/>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1 (suggested: Giorgio Galdiolo)</a:t>
            </a:r>
          </a:p>
          <a:p>
            <a:r>
              <a:t>TARGET: 40 seconds</a:t>
            </a:r>
          </a:p>
          <a:p>
            <a:endParaRPr/>
          </a:p>
          <a:p>
            <a:r>
              <a:t>Good morning. We are BlackHawk Capital, a student fund at USI Lugano, and this is our Round 1 strategic asset allocation for the Asset Management Challenge. We manage a simulated one hundred million dollar mandate. All five of us will speak. I will start with the market outlook that shapes the exposures we want to own, and my colleagues will then take you through the fund selection, the portfolio itself, the allocation method and the historical tests.</a:t>
            </a:r>
          </a:p>
          <a:p>
            <a:endParaRPr/>
          </a:p>
          <a:p>
            <a:r>
              <a:t>Start the slide show here. Appendices at the end are hidden and available for questions only.</a:t>
            </a:r>
          </a:p>
          <a:p>
            <a:endParaRPr/>
          </a:p>
          <a:p>
            <a:r>
              <a:t>SOURCES</a:t>
            </a:r>
          </a:p>
          <a:p>
            <a:r>
              <a:t>- AMC_Round1_Portfolio_Analysis.pdf, BlackHawk Capital report, information cutoff 12 October 2026. Portfolio data through September 2026.</a:t>
            </a:r>
          </a:p>
          <a:p>
            <a:r>
              <a:t>- AMC 2026 - Round 1 guidelines (1).pdf and AMC 2026 - General guidelines (1).pdf.</a:t>
            </a:r>
          </a:p>
          <a:p>
            <a:r>
              <a:t>- report/report_identity.json. Mountain graphic and house style from the BlackHawk Capital website.</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1 (suggested: Giorgio Galdiolo)</a:t>
            </a:r>
          </a:p>
          <a:p>
            <a:r>
              <a:t>TARGET: 125 seconds</a:t>
            </a:r>
          </a:p>
          <a:p>
            <a:endParaRPr/>
          </a:p>
          <a:p>
            <a:r>
              <a:t>Our starting view is that growth remains investable, while inflation and interest rates deserve a meaningful place in how we build the portfolio. The IMF projects three percent global growth in 2026 and three point four percent in 2027. The table shows the official projections available at our twelve October cutoff. US growth is around two point three percent, the euro area far weaker at zero point nine, and US headline PCE inflation is still projected at three point seven percent for 2026 before falling to two point three. These come from different institutions with different conventions: the Fed measures Q4 over Q4, the ECB uses annual averages, so we read them as context rather than as a single forecast. On policy, the Fed moved its target range to three point seven five to four percent in September, and the ECB took the deposit rate to two point five percent. The latest inflation print we had was August, with headline CPI at three point four percent and energy up sixteen point three percent. That energy pressure matters because it can weaken purchasing power while keeping policy restrictive. Our conclusion: we want participation in corporate earnings, but we do not want the fund to depend on an uninterrupted equity rally or on an immediate easing cycle. That view decides which exposures we want. How much of each we hold is decided later, by the risk budget. One update before I hand over. Our analysis is dated the twelfth of October, and the September inflation data landed just after that. Headline CPI came in at three point seven percent against three point four in August, core at two point six, and producer prices rose one point three percent in a single month, the largest jump since March 2022. Energy drove both. That is the direction this slide already described, so our outlook is unchanged, and I want to be explicit that it changes nothing in the portfolio: our weights come from a sixty-month covariance and use no inflation forecast at all.</a:t>
            </a:r>
          </a:p>
          <a:p>
            <a:endParaRPr/>
          </a:p>
          <a:p>
            <a:r>
              <a:t>Do not discuss the portfolio on this slide. The guidelines ask the presentation to open with a consistent market outlook.</a:t>
            </a:r>
          </a:p>
          <a:p>
            <a:endParaRPr/>
          </a:p>
          <a:p>
            <a:r>
              <a:t>On the forecast table, if asked: these come from different institutions on different conventions. Federal Reserve inflation is Q4 over Q4; euro-area HICP is an annual average. We use them to frame the conditions our holdings face, not to forecast ETF returns.</a:t>
            </a:r>
          </a:p>
          <a:p>
            <a:endParaRPr/>
          </a:p>
          <a:p>
            <a:r>
              <a:t>If asked whether the September data changes the allocation, the answer is no, for two reasons: positions stay unchanged between rounds, and capped ERC takes no macro view. If pressed on whether it helps or hurts us, the honest answer is in the report scenarios: an inflation shock costs us 1.66% because GLD and DBC offset the bond and equity legs, but a 2022-style rate shock costs 6.37% because gold falls too. Hot producer prices raise the odds of the second, not the first. Same data, cited in report section 1 with the BLS releases of 14 and 15 October.</a:t>
            </a:r>
          </a:p>
          <a:p>
            <a:endParaRPr/>
          </a:p>
          <a:p>
            <a:r>
              <a:t>SOURCES</a:t>
            </a:r>
          </a:p>
          <a:p>
            <a:r>
              <a:t>- AMC_Round1_Portfolio_Analysis.pdf, BlackHawk Capital report, information cutoff 12 October 2026. Portfolio data through September 2026.</a:t>
            </a:r>
          </a:p>
          <a:p>
            <a:r>
              <a:t>- Report section 1, Growth, inflation and the policy setting. Table: Selected official forecasts available at 12 October 2026.</a:t>
            </a:r>
          </a:p>
          <a:p>
            <a:r>
              <a:t>- IMF World Economic Outlook, Federal Reserve SEP, ECB staff projections, BLS CPI.</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(suggested: Alessandro Maugeri)</a:t>
            </a:r>
          </a:p>
          <a:p>
            <a:r>
              <a:t>TARGET: 85 seconds</a:t>
            </a:r>
          </a:p>
          <a:p>
            <a:endParaRPr/>
          </a:p>
          <a:p>
            <a:r>
              <a:t>These are the eight funds we selected and the job each one does. Our equity choices express geography and style. VOO gives us a broad US core. VTV tilts that US exposure towards value, changing the balance between technology and financial companies; its overlap with VOO is deliberate, because it is a style tilt inside the same market, not a separate market. IEFA broadens the regional mix across developed markets outside the US, including Japan and Europe, and we prefer that broad exposure to a narrow country call. EEM adds emerging-market businesses, with meaningful technology exposure in Taiwan and South Korea. Outside equities we separate the risks rather than lumping them together. IEF holds seven to ten year US Treasuries and supplies nominal duration. IGSB holds short investment-grade corporate bonds, so it brings credit risk with much less rate sensitivity; an asset-class label alone would hide that difference. GLD holds physical bullion, and DBC holds broad commodity futures, which also carries the effect of the forward curve. So across eight funds we have four genuinely distinct risk drivers: equity, duration, credit and real assets. For Round 1 we prefer these broad building blocks to a series of sector bets, and later tactical decisions will be judged against this strategic reference.</a:t>
            </a:r>
          </a:p>
          <a:p>
            <a:endParaRPr/>
          </a:p>
          <a:p>
            <a:r>
              <a:t>Say nothing about weights or the allocation method here. The portfolio comes next.</a:t>
            </a:r>
          </a:p>
          <a:p>
            <a:endParaRPr/>
          </a:p>
          <a:p>
            <a:r>
              <a:t>SOURCES</a:t>
            </a:r>
          </a:p>
          <a:p>
            <a:r>
              <a:t>- AMC_Round1_Portfolio_Analysis.pdf, BlackHawk Capital report, information cutoff 12 October 2026. Portfolio data through September 2026.</a:t>
            </a:r>
          </a:p>
          <a:p>
            <a:r>
              <a:t>- Report section 2, Asset universe and strategic roles. Table: Eight selected instruments and their strategic roles.</a:t>
            </a:r>
          </a:p>
          <a:p>
            <a:r>
              <a:t>- All eight funds have the 60 complete monthly observations required for risk estimation, so no proxy series is needed.</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(suggested: Alessandro Maugeri)</a:t>
            </a:r>
          </a:p>
          <a:p>
            <a:r>
              <a:t>TARGET: 85 seconds</a:t>
            </a:r>
          </a:p>
          <a:p>
            <a:endParaRPr/>
          </a:p>
          <a:p>
            <a:r>
              <a:t>This is the portfolio we propose, in percent on the chart and in US dollars on the table. The fund is fully invested and long only, so the eight weights add to one hundred percent, and because the mandate is exactly one hundred million dollars, each percentage point is one million dollars. The colours group the sleeves. The four greens are equities and together they are thirty-seven point two percent of capital, about thirty-seven million dollars. The two golds are bonds, thirty-six percent. The red and grey are the real assets, gold and commodities, twenty-six point seven percent. Our largest single position is IEF at twenty-four percent, twenty-four million dollars of Treasury duration. That is deliberate: Treasuries are cheap in risk terms, so we can hold a lot of capital there without the risk budget being dominated by it. At the other end, IGSB sits at exactly twelve percent and DBC at exactly fifteen percent, and those two are not coincidences: they are sitting exactly on the caps we impose, which my colleague will explain in a moment. The equity funds are each between eight and ten and a half percent, so no single equity position dominates. I will now hand over, and you will see how these numbers are actually produced.</a:t>
            </a:r>
          </a:p>
          <a:p>
            <a:endParaRPr/>
          </a:p>
          <a:p>
            <a:r>
              <a:t>If asked for the exact dollar amounts: the report records a provisional investment of USD 99,999,242.96 with USD 757.04 residual cash at 9 Oct prices, before restating at the 16 Oct Bloomberg closes. Appendix D has the full position record. Handoff after this slide: Speaker 3. Speaker 2 total target: 170 seconds.</a:t>
            </a:r>
          </a:p>
          <a:p>
            <a:endParaRPr/>
          </a:p>
          <a:p>
            <a:r>
              <a:t>SOURCES</a:t>
            </a:r>
          </a:p>
          <a:p>
            <a:r>
              <a:t>- AMC_Round1_Portfolio_Analysis.pdf, BlackHawk Capital report, information cutoff 12 October 2026. Portfolio data through September 2026.</a:t>
            </a:r>
          </a:p>
          <a:p>
            <a:r>
              <a:t>- Class 3 Part I in-class slides, slide 26, Investment policy checkpoint.</a:t>
            </a:r>
          </a:p>
          <a:p>
            <a:r>
              <a:t>- Report, Investment policy, Table: Strategic capital allocation and normalized risk contribution. report/report_metrics.json supplies exact weights.</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(suggested: Stefano Martino)</a:t>
            </a:r>
          </a:p>
          <a:p>
            <a:r>
              <a:t>TARGET: 95 seconds</a:t>
            </a:r>
          </a:p>
          <a:p>
            <a:endParaRPr/>
          </a:p>
          <a:p>
            <a:r>
              <a:t>This is how that allocation is actually built, in four steps. Step one: we start from an equal risk budget. Each of the eight funds is given a target of twelve and a half percent of total portfolio risk. Note that is twelve and a half percent of risk, not of capital. That is the whole idea of Equal Risk Contribution. Step two: the optimizer searches for the capital weights whose actual risk contributions match those targets, on a covariance matrix estimated from sixty complete monthly returns in US dollars, October 2021 through September 2026. Every fund has a full history over that window, so we never fall back on a proxy, and we use every pairwise correlation, not just individual volatilities. Step three: we impose hard structural constraints. Long only, fully invested, no leverage, and our own instrument caps. Step four, and this matters: we verify before we accept the solution. We check the fifty percent equity ceiling and the seven to nine percent volatility band, and our solution lands at eight point five eight percent. Now, why the caps. Look at the table: two of the four are binding. IGSB sits exactly at twelve percent and DBC exactly at fifteen, which is why you saw those round numbers on the previous slide. Without those caps, pure ERC would put thirty-four percent of the entire fund into IGSB alone, simply because it is the least volatile thing we hold. We are not willing to do that. The caps are a concentration policy: they protect us if the covariance estimates turn out to be wrong, and they are the direct reason our final risk shares are not perfectly equal.</a:t>
            </a:r>
          </a:p>
          <a:p>
            <a:endParaRPr/>
          </a:p>
          <a:p>
            <a:r>
              <a:t>Individual volatilities and excess means are in Appendix A; the correlation matrix is in Appendix B. Expect the question: why not uncapped ERC, which has a higher walk-forward Sharpe of 0.718? Answer: it breaches our own concentration policy, not the AMC rules.</a:t>
            </a:r>
          </a:p>
          <a:p>
            <a:endParaRPr/>
          </a:p>
          <a:p>
            <a:r>
              <a:t>SOURCES</a:t>
            </a:r>
          </a:p>
          <a:p>
            <a:r>
              <a:t>- AMC_Round1_Portfolio_Analysis.pdf, BlackHawk Capital report, information cutoff 12 October 2026. Portfolio data through September 2026.</a:t>
            </a:r>
          </a:p>
          <a:p>
            <a:r>
              <a:t>- Class 3 Part I in-class slides, slide 26, Investment policy checkpoint.</a:t>
            </a:r>
          </a:p>
          <a:p>
            <a:r>
              <a:t>- Report section 3, Sources and estimation conventions, and section 4, Allocation methodology.</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(suggested: Stefano Martino)</a:t>
            </a:r>
          </a:p>
          <a:p>
            <a:r>
              <a:t>TARGET: 75 seconds</a:t>
            </a:r>
          </a:p>
          <a:p>
            <a:endParaRPr/>
          </a:p>
          <a:p>
            <a:r>
              <a:t>This is the diversification we actually achieve, once the capped ERC weights are in place. The left chart is the one to read carefully. The dark bars are capital, the gold bars are risk. For equities, thirty-seven point two percent of the capital produces fifty-six point one percent of the estimated risk. For corporate credit the relationship runs the other way: twelve percent of the capital contributes only three and a half percent of the risk, because IGSB is so much less volatile than everything else. Government bonds, gold and commodities each land close to their capital weight. That gap between the dark and gold bars for equities is the single most important fact about this portfolio: a multi-asset capital allocation can still be strongly affected by an equity sell-off. The right chart shows the same fund by geography. The United States is fifty-six and a half percent, but be careful reading that number, because it includes our two US bond sleeves, IEF and IGSB. So it is not fifty-six percent of equity-market concentration. Global and real assets are twenty-six point seven percent, and the two non-US equity sleeves are about eight percent each. We judge diversification by correlations and by actual holdings, not by counting how many tickers we own.</a:t>
            </a:r>
          </a:p>
          <a:p>
            <a:endParaRPr/>
          </a:p>
          <a:p>
            <a:r>
              <a:t>Handoff after this slide: Speaker 4 takes the method comparison and the backtests. Speaker 3 total target: 170 seconds.</a:t>
            </a:r>
          </a:p>
          <a:p>
            <a:endParaRPr/>
          </a:p>
          <a:p>
            <a:r>
              <a:t>SOURCES</a:t>
            </a:r>
          </a:p>
          <a:p>
            <a:r>
              <a:t>- AMC_Round1_Portfolio_Analysis.pdf, BlackHawk Capital report, information cutoff 12 October 2026. Portfolio data through September 2026.</a:t>
            </a:r>
          </a:p>
          <a:p>
            <a:r>
              <a:t>- Report section 5, Portfolio diversification, Figure 6: Allocation by asset class and geographic mandate, and Figure 5: Capital allocation versus normalized risk contribution.</a:t>
            </a:r>
          </a:p>
          <a:p>
            <a:r>
              <a:t>- exhibits/E9_allocation_breakdown.csv and E1_weight_vs_risk.csv.</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4 (suggested: Giorgio Ferretto)</a:t>
            </a:r>
          </a:p>
          <a:p>
            <a:r>
              <a:t>TARGET: 70 seconds</a:t>
            </a:r>
          </a:p>
          <a:p>
            <a:endParaRPr/>
          </a:p>
          <a:p>
            <a:r>
              <a:t>Checkpoint two asks us to compare our allocation against the robust alternatives, so here is every rule we actually tested, six of them, with the numbers underneath. Read the chart first. Grey is the Sharpe fitted on the formation window, green is the honest walk-forward Sharpe. Notice how different those two can be. Maximum Sharpe has by far the best fitted number, zero point nine eight seven, but that is almost meaningless because it is fitted using historical excess means on the same data. Its walk-forward number drops to zero point six nine one. Minimum Variance is actually negative in sample. Now the table. Equal Weight has the best walk-forward Sharpe at zero point six six one, but its formation volatility is nine point six six percent, which breaches the nine percent ceiling, so it is not admissible under the AMC rules at all. Uncapped ERC is next best at zero point seven one eight, and it is admissible on volatility at seven point zero six, but it puts thirty-four point one percent of the fund in IGSB, which breaches our own concentration policy. Risk Parity has the same problem with thirty-seven point two percent. Maximum Sharpe relies on the expected-return estimates we deliberately refuse to use. Minimum Variance falls below the seven percent floor. So we are left with our capped ERC at eight point five eight percent volatility and a walk-forward Sharpe of zero point five eight three. We are not claiming it is the best backtest on this page. We are saying it is the one that satisfies both the AMC risk band and our own concentration limits, and we accept the Sharpe we give up for that.</a:t>
            </a:r>
          </a:p>
          <a:p>
            <a:endParaRPr/>
          </a:p>
          <a:p>
            <a:r>
              <a:t>Minimum Variance has no walk-forward Sharpe in the report; it is plotted as zero and shown as a dash in the table. The report paired tests do not establish a significant Sharpe advantage for the alternatives at the 5% level.</a:t>
            </a:r>
          </a:p>
          <a:p>
            <a:endParaRPr/>
          </a:p>
          <a:p>
            <a:r>
              <a:t>SOURCES</a:t>
            </a:r>
          </a:p>
          <a:p>
            <a:r>
              <a:t>- AMC_Round1_Portfolio_Analysis.pdf, BlackHawk Capital report, information cutoff 12 October 2026. Portfolio data through September 2026.</a:t>
            </a:r>
          </a:p>
          <a:p>
            <a:r>
              <a:t>- Class 3 Part II in-class slides, slide 23, Assignment 1: allocation versus robust approaches.</a:t>
            </a:r>
          </a:p>
          <a:p>
            <a:r>
              <a:t>- Report section 4.5, Table: Allocation methods and the reason for our choice. Report section 4.6, Checkpoint 2 weights and risk contributions.</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4 (suggested: Giorgio Ferretto)</a:t>
            </a:r>
          </a:p>
          <a:p>
            <a:r>
              <a:t>TARGET: 105 seconds</a:t>
            </a:r>
          </a:p>
          <a:p>
            <a:endParaRPr/>
          </a:p>
          <a:p>
            <a:r>
              <a:t>Now the historical evidence, and I want to be precise about what each test does and does not prove. This slide is the in-sample test. We take the weights we hold today, apply them across the entire common history from November 2012 to September 2026, and rebalance monthly. That gives one hundred and sixty-seven monthly observations. The green line is our SAA, gold is Equal Weight, grey is Risk Parity. Over this sample our allocation turns one dollar into roughly two point three, sitting between the other two rules. The table gives the numbers. Annualized return six point one two percent, annualized volatility seven point five four, Sharpe zero point five seven six, with a t-statistic of two point one six on excess returns, a maximum drawdown of minus thirteen point one percent, and a monthly five percent value at risk of three point five eight percent. But here is the honest caveat, and it is the reason we show the next slide. These weights were estimated at the end of this very history. The test is in sample by construction, so it describes how the allocation would have behaved; it does not demonstrate that the method works going forward. Note also that 2008 is not in our common sample, so the worst crisis of the last twenty years is simply absent from this chart.</a:t>
            </a:r>
          </a:p>
          <a:p>
            <a:endParaRPr/>
          </a:p>
          <a:p>
            <a:r>
              <a:t>Displayed year labels: 2012, 2016, 2020, 2024, 2026. This is a simulation, not live challenge performance.</a:t>
            </a:r>
          </a:p>
          <a:p>
            <a:endParaRPr/>
          </a:p>
          <a:p>
            <a:r>
              <a:t>SOURCES</a:t>
            </a:r>
          </a:p>
          <a:p>
            <a:r>
              <a:t>- AMC_Round1_Portfolio_Analysis.pdf, BlackHawk Capital report, information cutoff 12 October 2026. Portfolio data through September 2026.</a:t>
            </a:r>
          </a:p>
          <a:p>
            <a:r>
              <a:t>- Class 4 in-class slides, slides 9, 15 and 16, backtest discount and protocol.</a:t>
            </a:r>
          </a:p>
          <a:p>
            <a:r>
              <a:t>- Report section 6, Backtest and historical risk, Figure 12: Cumulative wealth and drawdown of today’s allocation.</a:t>
            </a:r>
          </a:p>
          <a:p>
            <a:r>
              <a:t>- exhibits/E4_backtest_cumulative.csv, all 167 monthly observations retained. Table: Three distinct historical evaluations, column Current fixed SAA.</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5 (suggested: Raffaele Sicolo)</a:t>
            </a:r>
          </a:p>
          <a:p>
            <a:r>
              <a:t>TARGET: 85 seconds</a:t>
            </a:r>
          </a:p>
          <a:p>
            <a:endParaRPr/>
          </a:p>
          <a:p>
            <a:r>
              <a:t>This is the test that actually matters, because it never uses information we would not have had at the time. Every month we re-estimate the weights using only the previous sixty complete months, hold that portfolio for the following month, and repeat. The test starts in November 2017, once the first estimation window is complete, and gives one hundred and seven monthly observations. Reading the chart: our SAA in green ends at about one point eight times the starting dollar. Equal Weight in gold ends higher, at about two point one six, and Risk Parity in grey is just below us. So we are not claiming to beat the alternatives. What we are claiming is that we deliver this result inside the risk band, without putting a third of the fund in one instrument. Look at the table. These are the net figures, after costs. Annualized return six point eight one percent, Sharpe zero point five seven nine. Before costs those were six point eight four and zero point five eight three, so at ten basis points per dollar traded monthly rebalancing costs about three basis points of annual return and four thousandths of a Sharpe point: the turnover is cheap. Volatility is seven point one seven percent, maximum drawdown minus fourteen point one nine percent, and monthly five percent VaR three point four percent. The t-statistic on net excess returns is one point seven four, which is below the conventional threshold, so we say plainly that the mean return itself remains statistically uncertain.</a:t>
            </a:r>
          </a:p>
          <a:p>
            <a:endParaRPr/>
          </a:p>
          <a:p>
            <a:r>
              <a:t>Trading-cost assumption: 10 bps per dollar bought or sold, drift-adjusted turnover, initial establishment excluded.</a:t>
            </a:r>
          </a:p>
          <a:p>
            <a:endParaRPr/>
          </a:p>
          <a:p>
            <a:r>
              <a:t>SOURCES</a:t>
            </a:r>
          </a:p>
          <a:p>
            <a:r>
              <a:t>- AMC_Round1_Portfolio_Analysis.pdf, BlackHawk Capital report, information cutoff 12 October 2026. Portfolio data through September 2026.</a:t>
            </a:r>
          </a:p>
          <a:p>
            <a:r>
              <a:t>- Class 4 in-class slides, slides 9, 15 and 16, backtest discount and protocol.</a:t>
            </a:r>
          </a:p>
          <a:p>
            <a:r>
              <a:t>- Report section 6, walk-forward protocol, Figure 11: Walk forward cumulative performance. 107 monthly observations.</a:t>
            </a:r>
          </a:p>
          <a:p>
            <a:r>
              <a:t>- Table: Three distinct historical evaluations, columns Walk forward gross and Walk forward net. exhibits/E11_out_of_sample_cumulative.csv.</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5 (suggested: Raffaele Sicolo)</a:t>
            </a:r>
          </a:p>
          <a:p>
            <a:r>
              <a:t>TARGET: 85 seconds</a:t>
            </a:r>
          </a:p>
          <a:p>
            <a:endParaRPr/>
          </a:p>
          <a:p>
            <a:r>
              <a:t>To close, the complete Checkpoint three picture. The table on the left keeps the three evaluations separate, because mixing them would be misleading. In sample, Sharpe zero point five seven six. Walk-forward gross, zero point five eight three. Walk-forward net, after costs, zero point five seven nine, with volatility of seven point one seven percent and a maximum drawdown of minus fourteen point one nine percent, inside our stated twenty percent tolerance. The chart on the right is the stress test, four historical crises. In three of the four, our SAA in green loses clearly less than Equal Weight in gold and far less than a hundred percent equity position in grey: minus ten point three five percent in the Covid crash against minus nineteen point five five for the S&amp;P 500, and minus ten point three four in the 2022 rate shock against minus seventeen point seven four. The exception is honest and worth stating out loud: in the 2015 to 2016 commodity sell-off we lost seven point eight percent while pure equity lost only six point nine, because gold and commodities are a quarter of our capital. Finally, our expectation going forward. We apply the full fifty percent research discount from Class four, so we tell you to plan on a Sharpe near zero point two nine, not zero point five seven nine. We take the full haircut because we documented thirty-four configurations, because we chose the universe and the caps after reviewing history, and because the 2008 crisis is not in our sample. Thank you. We are happy to take questions.</a:t>
            </a:r>
          </a:p>
          <a:p>
            <a:endParaRPr/>
          </a:p>
          <a:p>
            <a:r>
              <a:t>Stress returns apply today’s fixed weights retrospectively; VOO is a diagnostic equity reference, not a benchmark. Speaker 5 total target: 170 seconds. End of main deck: 10 slides, 850 seconds, leaving roughly 50 seconds for handoffs inside the 15-minute limit.</a:t>
            </a:r>
          </a:p>
          <a:p>
            <a:endParaRPr/>
          </a:p>
          <a:p>
            <a:r>
              <a:t>SOURCES</a:t>
            </a:r>
          </a:p>
          <a:p>
            <a:r>
              <a:t>- AMC_Round1_Portfolio_Analysis.pdf, BlackHawk Capital report, information cutoff 12 October 2026. Portfolio data through September 2026.</a:t>
            </a:r>
          </a:p>
          <a:p>
            <a:r>
              <a:t>- Class 4 in-class slides, slides 9, 15 and 16, backtest discount and protocol.</a:t>
            </a:r>
          </a:p>
          <a:p>
            <a:r>
              <a:t>- Report section 6, Figure 14: Returns during selected historical stress periods. Table: Three distinct historical evaluations. exhibits/E6_stress_tests.csv.</a:t>
            </a:r>
          </a:p>
          <a:p>
            <a:r>
              <a:t>- Research discount rule of thumb: Class 4 in-class slides.</a:t>
            </a:r>
          </a:p>
          <a:p>
            <a:endParaRPr/>
          </a:p>
          <a:p>
            <a:r>
              <a:t>All portfolio figures are historical estimates or simulations from the report. No live challenge performance is available in this Round 1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2E7EEE2-92E3-4C53-B31D-D90843A9242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DDBA1D7E-C02C-47B0-BD1D-A03CDF1278C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24326BD-A186-4081-AF38-9F0E387B335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18B9F8D-1A2B-433B-B3BB-10FEC732960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A3E9A8B-E067-4011-BBFC-1DBA01ECD93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39F00D6-A42C-4B41-8DDA-24ED8355832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4693047-0651-4A7C-A8A7-8C764333532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460B05E4-E11A-4F4C-BDEA-33EA8D11FD6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884B904-D2FC-4C5E-A88F-068D028459B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7ED82FB-32F5-4659-A5AE-6BECAECB4FB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ckHawk light">
    <p:spTree>
      <p:nvGrpSpPr>
        <p:cNvPr id="1" name=""/>
        <p:cNvGrpSpPr/>
        <p:nvPr/>
      </p:nvGrpSpPr>
      <p:grpSpPr>
        <a:xfrm>
          <a:off x="0" y="0"/>
          <a:ext cx="0" cy="0"/>
          <a:chOff x="0" y="0"/>
          <a:chExt cx="0" cy="0"/>
        </a:xfrm>
      </p:grpSpPr>
      <p:sp>
        <p:nvSpPr>
          <p:cNvPr id="2" name="placeholder_1">
            <a:extLst>
              <a:ext uri="{FF2B5EF4-FFF2-40B4-BE49-F238E27FC236}">
                <a16:creationId xmlns:a16="http://schemas.microsoft.com/office/drawing/2014/main" id="{7E8E1016-7FC4-48DC-A204-B787AA571369}"/>
              </a:ext>
            </a:extLst>
          </p:cNvPr>
          <p:cNvSpPr>
            <a:spLocks noGrp="1"/>
          </p:cNvSpPr>
          <p:nvPr>
            <p:ph type="title"/>
          </p:nvPr>
        </p:nvSpPr>
        <p:spPr>
          <a:xfrm>
            <a:off x="609600" y="638175"/>
            <a:ext cx="9486900" cy="704850"/>
          </a:xfrm>
          <a:prstGeom prst="rect">
            <a:avLst/>
          </a:prstGeom>
          <a:noFill/>
          <a:ln w="0">
            <a:noFill/>
          </a:ln>
        </p:spPr>
        <p:txBody>
          <a:bodyPr lIns="0" tIns="0" rIns="0" bIns="0"/>
          <a:lstStyle>
            <a:defPPr>
              <a:defRPr sz="3300" b="1">
                <a:solidFill>
                  <a:srgbClr val="101918"/>
                </a:solidFill>
                <a:latin typeface="Arial"/>
                <a:ea typeface="Arial"/>
                <a:cs typeface="Arial"/>
              </a:defRPr>
            </a:def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BlackHawk dark">
    <p:spTree>
      <p:nvGrpSpPr>
        <p:cNvPr id="1" name=""/>
        <p:cNvGrpSpPr/>
        <p:nvPr/>
      </p:nvGrpSpPr>
      <p:grpSpPr>
        <a:xfrm>
          <a:off x="0" y="0"/>
          <a:ext cx="0" cy="0"/>
          <a:chOff x="0" y="0"/>
          <a:chExt cx="0" cy="0"/>
        </a:xfrm>
      </p:grpSpPr>
      <p:sp>
        <p:nvSpPr>
          <p:cNvPr id="2" name="placeholder_1">
            <a:extLst>
              <a:ext uri="{FF2B5EF4-FFF2-40B4-BE49-F238E27FC236}">
                <a16:creationId xmlns:a16="http://schemas.microsoft.com/office/drawing/2014/main" id="{452681F6-61F3-4A03-8BB8-94FE91423DB2}"/>
              </a:ext>
            </a:extLst>
          </p:cNvPr>
          <p:cNvSpPr>
            <a:spLocks noGrp="1"/>
          </p:cNvSpPr>
          <p:nvPr>
            <p:ph type="title"/>
          </p:nvPr>
        </p:nvSpPr>
        <p:spPr>
          <a:xfrm>
            <a:off x="609600" y="638175"/>
            <a:ext cx="9486900" cy="704850"/>
          </a:xfrm>
          <a:prstGeom prst="rect">
            <a:avLst/>
          </a:prstGeom>
          <a:noFill/>
          <a:ln w="0">
            <a:noFill/>
          </a:ln>
        </p:spPr>
        <p:txBody>
          <a:bodyPr lIns="0" tIns="0" rIns="0" bIns="0"/>
          <a:lstStyle>
            <a:defPPr>
              <a:defRPr sz="3300" b="1">
                <a:solidFill>
                  <a:srgbClr val="FFFFFF"/>
                </a:solidFill>
                <a:latin typeface="Arial"/>
                <a:ea typeface="Arial"/>
                <a:cs typeface="Arial"/>
              </a:defRPr>
            </a:def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chart" Target="../charts/char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918"/>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F637553F-EA70-473A-83F4-DAB5BCA7EC33}"/>
              </a:ext>
            </a:extLst>
          </p:cNvPr>
          <p:cNvPicPr>
            <a:picLocks noChangeAspect="1"/>
          </p:cNvPicPr>
          <p:nvPr/>
        </p:nvPicPr>
        <p:blipFill>
          <a:blip r:embed="rId3"/>
          <a:stretch/>
        </p:blipFill>
        <p:spPr>
          <a:xfrm>
            <a:off x="0" y="1428750"/>
            <a:ext cx="12192000" cy="5486400"/>
          </a:xfrm>
          <a:prstGeom prst="rect">
            <a:avLst/>
          </a:prstGeom>
        </p:spPr>
      </p:pic>
      <p:pic>
        <p:nvPicPr>
          <p:cNvPr id="3" name="Immagine 2">
            <a:extLst>
              <a:ext uri="{FF2B5EF4-FFF2-40B4-BE49-F238E27FC236}">
                <a16:creationId xmlns:a16="http://schemas.microsoft.com/office/drawing/2014/main" id="{659C3DD1-4EB7-4DEF-B81B-E091A7CE48F0}"/>
              </a:ext>
            </a:extLst>
          </p:cNvPr>
          <p:cNvPicPr>
            <a:picLocks noChangeAspect="1"/>
          </p:cNvPicPr>
          <p:nvPr/>
        </p:nvPicPr>
        <p:blipFill>
          <a:blip r:embed="rId4"/>
          <a:stretch/>
        </p:blipFill>
        <p:spPr>
          <a:xfrm>
            <a:off x="761134" y="457200"/>
            <a:ext cx="1735282" cy="1143000"/>
          </a:xfrm>
          <a:prstGeom prst="rect">
            <a:avLst/>
          </a:prstGeom>
        </p:spPr>
      </p:pic>
      <p:sp>
        <p:nvSpPr>
          <p:cNvPr id="4" name="USI LUGANO  ·  MASTER IN FINANCE">
            <a:extLst>
              <a:ext uri="{FF2B5EF4-FFF2-40B4-BE49-F238E27FC236}">
                <a16:creationId xmlns:a16="http://schemas.microsoft.com/office/drawing/2014/main" id="{D7F0FECA-6721-4A12-9F3F-BEBA28FDDA43}"/>
              </a:ext>
            </a:extLst>
          </p:cNvPr>
          <p:cNvSpPr>
            <a:spLocks noGrp="1"/>
          </p:cNvSpPr>
          <p:nvPr/>
        </p:nvSpPr>
        <p:spPr>
          <a:xfrm>
            <a:off x="609600" y="1962150"/>
            <a:ext cx="6667500" cy="238125"/>
          </a:xfrm>
          <a:prstGeom prst="rect">
            <a:avLst/>
          </a:prstGeom>
          <a:noFill/>
          <a:ln w="0">
            <a:noFill/>
          </a:ln>
        </p:spPr>
        <p:txBody>
          <a:bodyPr wrap="square" lIns="0" tIns="0" rIns="0" bIns="0">
            <a:noAutofit/>
          </a:bodyPr>
          <a:lstStyle>
            <a:defPPr>
              <a:defRPr sz="1125" b="1">
                <a:solidFill>
                  <a:srgbClr val="C5B48F"/>
                </a:solidFill>
                <a:latin typeface="Arial"/>
                <a:ea typeface="Arial"/>
                <a:cs typeface="Arial"/>
              </a:defRPr>
            </a:defPPr>
          </a:lstStyle>
          <a:p>
            <a:pPr>
              <a:defRPr sz="1125" b="1">
                <a:solidFill>
                  <a:srgbClr val="C5B48F"/>
                </a:solidFill>
                <a:latin typeface="Arial"/>
                <a:ea typeface="Arial"/>
                <a:cs typeface="Arial"/>
              </a:defRPr>
            </a:pPr>
            <a:r>
              <a:rPr sz="1125" b="1">
                <a:solidFill>
                  <a:srgbClr val="C5B48F"/>
                </a:solidFill>
                <a:latin typeface="Arial"/>
                <a:ea typeface="Arial"/>
                <a:cs typeface="Arial"/>
              </a:rPr>
              <a:t>USI LUGANO  ·  MASTER IN FINANCE</a:t>
            </a:r>
          </a:p>
        </p:txBody>
      </p:sp>
      <p:sp>
        <p:nvSpPr>
          <p:cNvPr id="5" name="BlackHawk Capital">
            <a:extLst>
              <a:ext uri="{FF2B5EF4-FFF2-40B4-BE49-F238E27FC236}">
                <a16:creationId xmlns:a16="http://schemas.microsoft.com/office/drawing/2014/main" id="{70922151-AB6A-41EA-86BD-F820FA8B8A1A}"/>
              </a:ext>
            </a:extLst>
          </p:cNvPr>
          <p:cNvSpPr>
            <a:spLocks noGrp="1"/>
          </p:cNvSpPr>
          <p:nvPr/>
        </p:nvSpPr>
        <p:spPr>
          <a:xfrm>
            <a:off x="609600" y="2295525"/>
            <a:ext cx="8572500" cy="819150"/>
          </a:xfrm>
          <a:prstGeom prst="rect">
            <a:avLst/>
          </a:prstGeom>
          <a:noFill/>
          <a:ln w="0">
            <a:noFill/>
          </a:ln>
        </p:spPr>
        <p:txBody>
          <a:bodyPr wrap="square" lIns="0" tIns="0" rIns="0" bIns="0">
            <a:noAutofit/>
          </a:bodyPr>
          <a:lstStyle>
            <a:defPPr>
              <a:defRPr sz="4800" b="1">
                <a:solidFill>
                  <a:srgbClr val="FFFFFF"/>
                </a:solidFill>
                <a:latin typeface="Arial"/>
                <a:ea typeface="Arial"/>
                <a:cs typeface="Arial"/>
              </a:defRPr>
            </a:defPPr>
          </a:lstStyle>
          <a:p>
            <a:pPr>
              <a:defRPr sz="4800" b="1">
                <a:solidFill>
                  <a:srgbClr val="FFFFFF"/>
                </a:solidFill>
                <a:latin typeface="Arial"/>
                <a:ea typeface="Arial"/>
                <a:cs typeface="Arial"/>
              </a:defRPr>
            </a:pPr>
            <a:r>
              <a:rPr sz="4800" b="1">
                <a:solidFill>
                  <a:srgbClr val="FFFFFF"/>
                </a:solidFill>
                <a:latin typeface="Arial"/>
                <a:ea typeface="Arial"/>
                <a:cs typeface="Arial"/>
              </a:rPr>
              <a:t>BlackHawk Capital</a:t>
            </a:r>
          </a:p>
        </p:txBody>
      </p:sp>
      <p:sp>
        <p:nvSpPr>
          <p:cNvPr id="6" name="rule">
            <a:extLst>
              <a:ext uri="{FF2B5EF4-FFF2-40B4-BE49-F238E27FC236}">
                <a16:creationId xmlns:a16="http://schemas.microsoft.com/office/drawing/2014/main" id="{F22061F6-D4F0-4CD8-8C01-F608DBD7DB30}"/>
              </a:ext>
            </a:extLst>
          </p:cNvPr>
          <p:cNvSpPr>
            <a:spLocks noGrp="1"/>
          </p:cNvSpPr>
          <p:nvPr/>
        </p:nvSpPr>
        <p:spPr>
          <a:xfrm>
            <a:off x="609600" y="3276600"/>
            <a:ext cx="2724150" cy="38100"/>
          </a:xfrm>
          <a:prstGeom prst="rect">
            <a:avLst/>
          </a:prstGeom>
          <a:solidFill>
            <a:srgbClr val="9B8052"/>
          </a:solidFill>
          <a:ln w="0">
            <a:noFill/>
          </a:ln>
        </p:spPr>
        <p:txBody>
          <a:bodyPr/>
          <a:lstStyle/>
          <a:p>
            <a:endParaRPr lang="it-IT"/>
          </a:p>
        </p:txBody>
      </p:sp>
      <p:sp>
        <p:nvSpPr>
          <p:cNvPr id="7" name="Asset Management Challenge 2026  ·  Round 1">
            <a:extLst>
              <a:ext uri="{FF2B5EF4-FFF2-40B4-BE49-F238E27FC236}">
                <a16:creationId xmlns:a16="http://schemas.microsoft.com/office/drawing/2014/main" id="{945D83DD-7E3A-4395-8C49-1D679097E72D}"/>
              </a:ext>
            </a:extLst>
          </p:cNvPr>
          <p:cNvSpPr>
            <a:spLocks noGrp="1"/>
          </p:cNvSpPr>
          <p:nvPr/>
        </p:nvSpPr>
        <p:spPr>
          <a:xfrm>
            <a:off x="609600" y="3543300"/>
            <a:ext cx="8191500" cy="400050"/>
          </a:xfrm>
          <a:prstGeom prst="rect">
            <a:avLst/>
          </a:prstGeom>
          <a:noFill/>
          <a:ln w="0">
            <a:noFill/>
          </a:ln>
        </p:spPr>
        <p:txBody>
          <a:bodyPr wrap="square" lIns="0" tIns="0" rIns="0" bIns="0">
            <a:noAutofit/>
          </a:bodyPr>
          <a:lstStyle>
            <a:defPPr>
              <a:defRPr sz="2250">
                <a:solidFill>
                  <a:srgbClr val="FFFFFF"/>
                </a:solidFill>
                <a:latin typeface="Arial"/>
                <a:ea typeface="Arial"/>
                <a:cs typeface="Arial"/>
              </a:defRPr>
            </a:defPPr>
          </a:lstStyle>
          <a:p>
            <a:pPr>
              <a:defRPr sz="2250">
                <a:solidFill>
                  <a:srgbClr val="FFFFFF"/>
                </a:solidFill>
                <a:latin typeface="Arial"/>
                <a:ea typeface="Arial"/>
                <a:cs typeface="Arial"/>
              </a:defRPr>
            </a:pPr>
            <a:r>
              <a:rPr sz="2250">
                <a:solidFill>
                  <a:srgbClr val="FFFFFF"/>
                </a:solidFill>
                <a:latin typeface="Arial"/>
                <a:ea typeface="Arial"/>
                <a:cs typeface="Arial"/>
              </a:rPr>
              <a:t>Asset Management Challenge 2026  ·  Round 1</a:t>
            </a:r>
          </a:p>
        </p:txBody>
      </p:sp>
      <p:sp>
        <p:nvSpPr>
          <p:cNvPr id="8" name="Strategic Asset Allocation  ·  USD 100 million s">
            <a:extLst>
              <a:ext uri="{FF2B5EF4-FFF2-40B4-BE49-F238E27FC236}">
                <a16:creationId xmlns:a16="http://schemas.microsoft.com/office/drawing/2014/main" id="{46FE120C-7AAC-4141-B177-4AE1E0911FE1}"/>
              </a:ext>
            </a:extLst>
          </p:cNvPr>
          <p:cNvSpPr>
            <a:spLocks noGrp="1"/>
          </p:cNvSpPr>
          <p:nvPr/>
        </p:nvSpPr>
        <p:spPr>
          <a:xfrm>
            <a:off x="609600" y="4019550"/>
            <a:ext cx="8191500" cy="304800"/>
          </a:xfrm>
          <a:prstGeom prst="rect">
            <a:avLst/>
          </a:prstGeom>
          <a:noFill/>
          <a:ln w="0">
            <a:noFill/>
          </a:ln>
        </p:spPr>
        <p:txBody>
          <a:bodyPr wrap="square" lIns="0" tIns="0" rIns="0" bIns="0">
            <a:noAutofit/>
          </a:bodyPr>
          <a:lstStyle>
            <a:defPPr>
              <a:defRPr sz="1575">
                <a:solidFill>
                  <a:srgbClr val="D3DCD6"/>
                </a:solidFill>
                <a:latin typeface="Arial"/>
                <a:ea typeface="Arial"/>
                <a:cs typeface="Arial"/>
              </a:defRPr>
            </a:defPPr>
          </a:lstStyle>
          <a:p>
            <a:pPr>
              <a:defRPr sz="1575">
                <a:solidFill>
                  <a:srgbClr val="D3DCD6"/>
                </a:solidFill>
                <a:latin typeface="Arial"/>
                <a:ea typeface="Arial"/>
                <a:cs typeface="Arial"/>
              </a:defRPr>
            </a:pPr>
            <a:r>
              <a:rPr sz="1575" dirty="0">
                <a:solidFill>
                  <a:srgbClr val="D3DCD6"/>
                </a:solidFill>
                <a:latin typeface="Arial"/>
                <a:ea typeface="Arial"/>
                <a:cs typeface="Arial"/>
              </a:rPr>
              <a:t>Strategic Asset Allocation  </a:t>
            </a:r>
            <a:endParaRPr lang="it-IT" sz="1575" dirty="0">
              <a:solidFill>
                <a:srgbClr val="D3DCD6"/>
              </a:solidFill>
              <a:latin typeface="Arial"/>
              <a:ea typeface="Arial"/>
              <a:cs typeface="Arial"/>
            </a:endParaRPr>
          </a:p>
          <a:p>
            <a:pPr>
              <a:defRPr sz="1575">
                <a:solidFill>
                  <a:srgbClr val="D3DCD6"/>
                </a:solidFill>
                <a:latin typeface="Arial"/>
                <a:ea typeface="Arial"/>
                <a:cs typeface="Arial"/>
              </a:defRPr>
            </a:pPr>
            <a:endParaRPr sz="1575" dirty="0">
              <a:solidFill>
                <a:srgbClr val="D3DCD6"/>
              </a:solidFill>
              <a:latin typeface="Arial"/>
              <a:ea typeface="Arial"/>
              <a:cs typeface="Arial"/>
            </a:endParaRPr>
          </a:p>
        </p:txBody>
      </p:sp>
      <p:sp>
        <p:nvSpPr>
          <p:cNvPr id="9" name="A broader perspective. A disciplined approach.">
            <a:extLst>
              <a:ext uri="{FF2B5EF4-FFF2-40B4-BE49-F238E27FC236}">
                <a16:creationId xmlns:a16="http://schemas.microsoft.com/office/drawing/2014/main" id="{831DFA2E-D056-4A56-8B1E-B8B847888388}"/>
              </a:ext>
            </a:extLst>
          </p:cNvPr>
          <p:cNvSpPr>
            <a:spLocks noGrp="1"/>
          </p:cNvSpPr>
          <p:nvPr/>
        </p:nvSpPr>
        <p:spPr>
          <a:xfrm>
            <a:off x="609600" y="4629150"/>
            <a:ext cx="6667500" cy="381000"/>
          </a:xfrm>
          <a:prstGeom prst="rect">
            <a:avLst/>
          </a:prstGeom>
          <a:noFill/>
          <a:ln w="0">
            <a:noFill/>
          </a:ln>
        </p:spPr>
        <p:txBody>
          <a:bodyPr wrap="square" lIns="0" tIns="0" rIns="0" bIns="0">
            <a:noAutofit/>
          </a:bodyPr>
          <a:lstStyle>
            <a:defPPr>
              <a:defRPr sz="1950" b="1">
                <a:solidFill>
                  <a:srgbClr val="C5B48F"/>
                </a:solidFill>
                <a:latin typeface="Arial"/>
                <a:ea typeface="Arial"/>
                <a:cs typeface="Arial"/>
              </a:defRPr>
            </a:defPPr>
          </a:lstStyle>
          <a:p>
            <a:pPr>
              <a:defRPr sz="1950" b="1">
                <a:solidFill>
                  <a:srgbClr val="C5B48F"/>
                </a:solidFill>
                <a:latin typeface="Arial"/>
                <a:ea typeface="Arial"/>
                <a:cs typeface="Arial"/>
              </a:defRPr>
            </a:pPr>
            <a:r>
              <a:rPr sz="1950" b="1">
                <a:solidFill>
                  <a:srgbClr val="C5B48F"/>
                </a:solidFill>
                <a:latin typeface="Arial"/>
                <a:ea typeface="Arial"/>
                <a:cs typeface="Arial"/>
              </a:rPr>
              <a:t>A broader perspective. A disciplined approach.</a:t>
            </a:r>
          </a:p>
        </p:txBody>
      </p:sp>
      <p:sp>
        <p:nvSpPr>
          <p:cNvPr id="11" name="Giorgio Galdiolo  ·  Alessandro Maugeri  ·  Stef">
            <a:extLst>
              <a:ext uri="{FF2B5EF4-FFF2-40B4-BE49-F238E27FC236}">
                <a16:creationId xmlns:a16="http://schemas.microsoft.com/office/drawing/2014/main" id="{A8015E06-FF38-43A3-AB33-BDCF99A9C3DD}"/>
              </a:ext>
            </a:extLst>
          </p:cNvPr>
          <p:cNvSpPr>
            <a:spLocks noGrp="1"/>
          </p:cNvSpPr>
          <p:nvPr/>
        </p:nvSpPr>
        <p:spPr>
          <a:xfrm>
            <a:off x="2819400" y="5734050"/>
            <a:ext cx="8763000" cy="285750"/>
          </a:xfrm>
          <a:prstGeom prst="rect">
            <a:avLst/>
          </a:prstGeom>
          <a:noFill/>
          <a:ln w="0">
            <a:noFill/>
          </a:ln>
        </p:spPr>
        <p:txBody>
          <a:bodyPr wrap="square" lIns="0" tIns="0" rIns="0" bIns="0">
            <a:noAutofit/>
          </a:bodyPr>
          <a:lstStyle>
            <a:defPPr algn="r">
              <a:defRPr sz="1350">
                <a:solidFill>
                  <a:srgbClr val="FFFFFF"/>
                </a:solidFill>
                <a:latin typeface="Arial"/>
                <a:ea typeface="Arial"/>
                <a:cs typeface="Arial"/>
              </a:defRPr>
            </a:defPPr>
          </a:lstStyle>
          <a:p>
            <a:pPr algn="r">
              <a:defRPr sz="1350">
                <a:solidFill>
                  <a:srgbClr val="FFFFFF"/>
                </a:solidFill>
                <a:latin typeface="Arial"/>
                <a:ea typeface="Arial"/>
                <a:cs typeface="Arial"/>
              </a:defRPr>
            </a:pPr>
            <a:r>
              <a:rPr sz="1350">
                <a:solidFill>
                  <a:srgbClr val="FFFFFF"/>
                </a:solidFill>
                <a:latin typeface="Arial"/>
                <a:ea typeface="Arial"/>
                <a:cs typeface="Arial"/>
              </a:rPr>
              <a:t>Giorgio Galdiolo  ·  Alessandro Maugeri  ·  Stefano Martino  ·  Giorgio Ferretto  ·  Raffaele Sicolo</a:t>
            </a:r>
          </a:p>
        </p:txBody>
      </p:sp>
      <p:sp>
        <p:nvSpPr>
          <p:cNvPr id="12" name="UNIVERSITÀ DELLA SVIZZERA ITALIANA  ·  OCTOBER 2">
            <a:extLst>
              <a:ext uri="{FF2B5EF4-FFF2-40B4-BE49-F238E27FC236}">
                <a16:creationId xmlns:a16="http://schemas.microsoft.com/office/drawing/2014/main" id="{A680740C-9FA3-40A0-90D0-9EA63EBAB9AD}"/>
              </a:ext>
            </a:extLst>
          </p:cNvPr>
          <p:cNvSpPr>
            <a:spLocks noGrp="1"/>
          </p:cNvSpPr>
          <p:nvPr/>
        </p:nvSpPr>
        <p:spPr>
          <a:xfrm>
            <a:off x="609600" y="6496050"/>
            <a:ext cx="5715000" cy="209550"/>
          </a:xfrm>
          <a:prstGeom prst="rect">
            <a:avLst/>
          </a:prstGeom>
          <a:noFill/>
          <a:ln w="0">
            <a:noFill/>
          </a:ln>
        </p:spPr>
        <p:txBody>
          <a:bodyPr wrap="square" lIns="0" tIns="0" rIns="0" bIns="0">
            <a:noAutofit/>
          </a:bodyPr>
          <a:lstStyle>
            <a:defPPr>
              <a:defRPr sz="900" b="1">
                <a:solidFill>
                  <a:srgbClr val="ADBDB4"/>
                </a:solidFill>
                <a:latin typeface="Arial"/>
                <a:ea typeface="Arial"/>
                <a:cs typeface="Arial"/>
              </a:defRPr>
            </a:defPPr>
          </a:lstStyle>
          <a:p>
            <a:pPr>
              <a:defRPr sz="900" b="1">
                <a:solidFill>
                  <a:srgbClr val="ADBDB4"/>
                </a:solidFill>
                <a:latin typeface="Arial"/>
                <a:ea typeface="Arial"/>
                <a:cs typeface="Arial"/>
              </a:defRPr>
            </a:pPr>
            <a:r>
              <a:rPr sz="900" b="1">
                <a:solidFill>
                  <a:srgbClr val="ADBDB4"/>
                </a:solidFill>
                <a:latin typeface="Arial"/>
                <a:ea typeface="Arial"/>
                <a:cs typeface="Arial"/>
              </a:rPr>
              <a:t>UNIVERSITÀ DELLA SVIZZERA ITALIANA  ·  OCTOBER 2026</a:t>
            </a:r>
          </a:p>
        </p:txBody>
      </p:sp>
    </p:spTree>
    <p:extLst>
      <p:ext uri="{BB962C8B-B14F-4D97-AF65-F5344CB8AC3E}">
        <p14:creationId xmlns:p14="http://schemas.microsoft.com/office/powerpoint/2010/main" val="201241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6" name="placeholder_1">
            <a:extLst>
              <a:ext uri="{FF2B5EF4-FFF2-40B4-BE49-F238E27FC236}">
                <a16:creationId xmlns:a16="http://schemas.microsoft.com/office/drawing/2014/main" id="{7E8E1016-7FC4-48DC-A204-B787AA571369}"/>
              </a:ext>
            </a:extLst>
          </p:cNvPr>
          <p:cNvSpPr>
            <a:spLocks noGrp="1"/>
          </p:cNvSpPr>
          <p:nvPr>
            <p:ph type="title"/>
          </p:nvPr>
        </p:nvSpPr>
        <p:spPr>
          <a:prstGeom prst="rect">
            <a:avLst/>
          </a:prstGeom>
          <a:noFill/>
          <a:ln w="0">
            <a:noFill/>
          </a:ln>
        </p:spPr>
        <p:txBody>
          <a:bodyPr lIns="0" tIns="0" rIns="0" bIns="0"/>
          <a:lstStyle>
            <a:defPPr>
              <a:defRPr sz="3300" b="1">
                <a:solidFill>
                  <a:srgbClr val="101918"/>
                </a:solidFill>
                <a:latin typeface="Arial"/>
                <a:ea typeface="Arial"/>
                <a:cs typeface="Arial"/>
              </a:defRPr>
            </a:defPPr>
          </a:lstStyle>
          <a:p>
            <a:pPr>
              <a:defRPr sz="3300" b="1">
                <a:solidFill>
                  <a:srgbClr val="101918"/>
                </a:solidFill>
                <a:latin typeface="Arial"/>
                <a:ea typeface="Arial"/>
                <a:cs typeface="Arial"/>
              </a:defRPr>
            </a:pPr>
            <a:r>
              <a:t>Market outlook</a:t>
            </a:r>
          </a:p>
        </p:txBody>
      </p:sp>
      <p:sp>
        <p:nvSpPr>
          <p:cNvPr id="2" name="OUR MACRO VIEW AT THE 12 OCTOBER 2026 INFORMATIO">
            <a:extLst>
              <a:ext uri="{FF2B5EF4-FFF2-40B4-BE49-F238E27FC236}">
                <a16:creationId xmlns:a16="http://schemas.microsoft.com/office/drawing/2014/main" id="{5D425C6E-9175-4473-889E-3A1116135F44}"/>
              </a:ext>
            </a:extLst>
          </p:cNvPr>
          <p:cNvSpPr>
            <a:spLocks noGrp="1"/>
          </p:cNvSpPr>
          <p:nvPr/>
        </p:nvSpPr>
        <p:spPr>
          <a:xfrm>
            <a:off x="609600" y="295275"/>
            <a:ext cx="9486900" cy="238125"/>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OUR MACRO VIEW AT THE 12 OCTOBER 2026 INFORMATION CUTOFF</a:t>
            </a:r>
          </a:p>
        </p:txBody>
      </p:sp>
      <p:pic>
        <p:nvPicPr>
          <p:cNvPr id="3" name="Immagine 2">
            <a:extLst>
              <a:ext uri="{FF2B5EF4-FFF2-40B4-BE49-F238E27FC236}">
                <a16:creationId xmlns:a16="http://schemas.microsoft.com/office/drawing/2014/main" id="{A4B74C6F-6FD9-4C7B-BBBC-AAED776A1990}"/>
              </a:ext>
            </a:extLst>
          </p:cNvPr>
          <p:cNvPicPr>
            <a:picLocks noChangeAspect="1"/>
          </p:cNvPicPr>
          <p:nvPr/>
        </p:nvPicPr>
        <p:blipFill>
          <a:blip r:embed="rId3"/>
          <a:stretch/>
        </p:blipFill>
        <p:spPr>
          <a:xfrm>
            <a:off x="10435460" y="190500"/>
            <a:ext cx="1055630" cy="695325"/>
          </a:xfrm>
          <a:prstGeom prst="rect">
            <a:avLst/>
          </a:prstGeom>
        </p:spPr>
      </p:pic>
      <p:sp>
        <p:nvSpPr>
          <p:cNvPr id="4" name="02">
            <a:extLst>
              <a:ext uri="{FF2B5EF4-FFF2-40B4-BE49-F238E27FC236}">
                <a16:creationId xmlns:a16="http://schemas.microsoft.com/office/drawing/2014/main" id="{2843512A-4582-4232-BE46-275B54FF85D3}"/>
              </a:ext>
            </a:extLst>
          </p:cNvPr>
          <p:cNvSpPr>
            <a:spLocks noGrp="1"/>
          </p:cNvSpPr>
          <p:nvPr/>
        </p:nvSpPr>
        <p:spPr>
          <a:xfrm>
            <a:off x="10287000" y="6496050"/>
            <a:ext cx="1295400" cy="209550"/>
          </a:xfrm>
          <a:prstGeom prst="rect">
            <a:avLst/>
          </a:prstGeom>
          <a:noFill/>
          <a:ln w="0">
            <a:noFill/>
          </a:ln>
        </p:spPr>
        <p:txBody>
          <a:bodyPr wrap="square" lIns="0" tIns="0" rIns="0" bIns="0">
            <a:noAutofit/>
          </a:bodyPr>
          <a:lstStyle>
            <a:defPPr algn="r">
              <a:defRPr sz="1050">
                <a:solidFill>
                  <a:srgbClr val="64716B"/>
                </a:solidFill>
                <a:latin typeface="Arial"/>
                <a:ea typeface="Arial"/>
                <a:cs typeface="Arial"/>
              </a:defRPr>
            </a:defPPr>
          </a:lstStyle>
          <a:p>
            <a:pPr algn="r">
              <a:defRPr sz="1050">
                <a:solidFill>
                  <a:srgbClr val="64716B"/>
                </a:solidFill>
                <a:latin typeface="Arial"/>
                <a:ea typeface="Arial"/>
                <a:cs typeface="Arial"/>
              </a:defRPr>
            </a:pPr>
            <a:r>
              <a:rPr sz="1050">
                <a:solidFill>
                  <a:srgbClr val="64716B"/>
                </a:solidFill>
                <a:latin typeface="Arial"/>
                <a:ea typeface="Arial"/>
                <a:cs typeface="Arial"/>
              </a:rPr>
              <a:t>02</a:t>
            </a:r>
          </a:p>
        </p:txBody>
      </p:sp>
      <p:sp>
        <p:nvSpPr>
          <p:cNvPr id="5" name="Growth is still investable. Inflation and policy">
            <a:extLst>
              <a:ext uri="{FF2B5EF4-FFF2-40B4-BE49-F238E27FC236}">
                <a16:creationId xmlns:a16="http://schemas.microsoft.com/office/drawing/2014/main" id="{6AE21EF7-A185-482E-851B-F47E588DA91E}"/>
              </a:ext>
            </a:extLst>
          </p:cNvPr>
          <p:cNvSpPr>
            <a:spLocks noGrp="1"/>
          </p:cNvSpPr>
          <p:nvPr/>
        </p:nvSpPr>
        <p:spPr>
          <a:xfrm>
            <a:off x="609600" y="1476375"/>
            <a:ext cx="5505450" cy="1257300"/>
          </a:xfrm>
          <a:prstGeom prst="rect">
            <a:avLst/>
          </a:prstGeom>
          <a:noFill/>
          <a:ln w="0">
            <a:noFill/>
          </a:ln>
        </p:spPr>
        <p:txBody>
          <a:bodyPr wrap="square" lIns="0" tIns="0" rIns="0" bIns="0">
            <a:noAutofit/>
          </a:bodyPr>
          <a:lstStyle>
            <a:defPPr>
              <a:defRPr sz="2175" b="1">
                <a:solidFill>
                  <a:srgbClr val="101918"/>
                </a:solidFill>
                <a:latin typeface="Arial"/>
                <a:ea typeface="Arial"/>
                <a:cs typeface="Arial"/>
              </a:defRPr>
            </a:defPPr>
          </a:lstStyle>
          <a:p>
            <a:pPr>
              <a:defRPr sz="2175" b="1">
                <a:solidFill>
                  <a:srgbClr val="101918"/>
                </a:solidFill>
                <a:latin typeface="Arial"/>
                <a:ea typeface="Arial"/>
                <a:cs typeface="Arial"/>
              </a:defRPr>
            </a:pPr>
            <a:r>
              <a:rPr sz="2175" b="1">
                <a:solidFill>
                  <a:srgbClr val="101918"/>
                </a:solidFill>
                <a:latin typeface="Arial"/>
                <a:ea typeface="Arial"/>
                <a:cs typeface="Arial"/>
              </a:rPr>
              <a:t>Growth is still investable. Inflation and policy rates still deserve a place in portfolio construction.</a:t>
            </a:r>
          </a:p>
        </p:txBody>
      </p:sp>
      <p:sp>
        <p:nvSpPr>
          <p:cNvPr id="6" name="Participation without a single engine">
            <a:extLst>
              <a:ext uri="{FF2B5EF4-FFF2-40B4-BE49-F238E27FC236}">
                <a16:creationId xmlns:a16="http://schemas.microsoft.com/office/drawing/2014/main" id="{0A2A6690-80F6-4142-9068-6C89FCAD8E81}"/>
              </a:ext>
            </a:extLst>
          </p:cNvPr>
          <p:cNvSpPr>
            <a:spLocks noGrp="1"/>
          </p:cNvSpPr>
          <p:nvPr/>
        </p:nvSpPr>
        <p:spPr>
          <a:xfrm>
            <a:off x="609600" y="2857500"/>
            <a:ext cx="5505450" cy="314325"/>
          </a:xfrm>
          <a:prstGeom prst="rect">
            <a:avLst/>
          </a:prstGeom>
          <a:noFill/>
          <a:ln w="0">
            <a:noFill/>
          </a:ln>
        </p:spPr>
        <p:txBody>
          <a:bodyPr wrap="square" lIns="0" tIns="0" rIns="0" bIns="0">
            <a:noAutofit/>
          </a:bodyPr>
          <a:lstStyle>
            <a:defPPr>
              <a:defRPr sz="1950" b="1">
                <a:solidFill>
                  <a:srgbClr val="101918"/>
                </a:solidFill>
                <a:latin typeface="Arial"/>
                <a:ea typeface="Arial"/>
                <a:cs typeface="Arial"/>
              </a:defRPr>
            </a:defPPr>
          </a:lstStyle>
          <a:p>
            <a:pPr>
              <a:defRPr sz="1950" b="1">
                <a:solidFill>
                  <a:srgbClr val="101918"/>
                </a:solidFill>
                <a:latin typeface="Arial"/>
                <a:ea typeface="Arial"/>
                <a:cs typeface="Arial"/>
              </a:defRPr>
            </a:pPr>
            <a:r>
              <a:rPr sz="1950" b="1">
                <a:solidFill>
                  <a:srgbClr val="101918"/>
                </a:solidFill>
                <a:latin typeface="Arial"/>
                <a:ea typeface="Arial"/>
                <a:cs typeface="Arial"/>
              </a:rPr>
              <a:t>Participation without a single engine</a:t>
            </a:r>
          </a:p>
        </p:txBody>
      </p:sp>
      <p:sp>
        <p:nvSpPr>
          <p:cNvPr id="7" name="The IMF projects 3.0% global growth in 2026 and ">
            <a:extLst>
              <a:ext uri="{FF2B5EF4-FFF2-40B4-BE49-F238E27FC236}">
                <a16:creationId xmlns:a16="http://schemas.microsoft.com/office/drawing/2014/main" id="{0848406A-9C67-4414-977F-C038C3368D92}"/>
              </a:ext>
            </a:extLst>
          </p:cNvPr>
          <p:cNvSpPr>
            <a:spLocks noGrp="1"/>
          </p:cNvSpPr>
          <p:nvPr/>
        </p:nvSpPr>
        <p:spPr>
          <a:xfrm>
            <a:off x="609600" y="3267075"/>
            <a:ext cx="5505450" cy="809625"/>
          </a:xfrm>
          <a:prstGeom prst="rect">
            <a:avLst/>
          </a:prstGeom>
          <a:noFill/>
          <a:ln w="0">
            <a:noFill/>
          </a:ln>
        </p:spPr>
        <p:txBody>
          <a:bodyPr wrap="square" lIns="0" tIns="0" rIns="0" bIns="0">
            <a:noAutofit/>
          </a:bodyPr>
          <a:lstStyle>
            <a:defPPr>
              <a:defRPr sz="1725">
                <a:solidFill>
                  <a:srgbClr val="64716B"/>
                </a:solidFill>
                <a:latin typeface="Arial"/>
                <a:ea typeface="Arial"/>
                <a:cs typeface="Arial"/>
              </a:defRPr>
            </a:defPPr>
          </a:lstStyle>
          <a:p>
            <a:pPr>
              <a:defRPr sz="1725">
                <a:solidFill>
                  <a:srgbClr val="64716B"/>
                </a:solidFill>
                <a:latin typeface="Arial"/>
                <a:ea typeface="Arial"/>
                <a:cs typeface="Arial"/>
              </a:defRPr>
            </a:pPr>
            <a:r>
              <a:rPr sz="1725">
                <a:solidFill>
                  <a:srgbClr val="64716B"/>
                </a:solidFill>
                <a:latin typeface="Arial"/>
                <a:ea typeface="Arial"/>
                <a:cs typeface="Arial"/>
              </a:rPr>
              <a:t>The IMF projects 3.0% global growth in 2026 and 3.4% in 2027, but energy costs and technology demand make the regional picture uneven.</a:t>
            </a:r>
          </a:p>
        </p:txBody>
      </p:sp>
      <p:sp>
        <p:nvSpPr>
          <p:cNvPr id="8" name="Policy is not finished tightening">
            <a:extLst>
              <a:ext uri="{FF2B5EF4-FFF2-40B4-BE49-F238E27FC236}">
                <a16:creationId xmlns:a16="http://schemas.microsoft.com/office/drawing/2014/main" id="{63DB944D-4518-4B9F-B7F6-0BC084B09C6D}"/>
              </a:ext>
            </a:extLst>
          </p:cNvPr>
          <p:cNvSpPr>
            <a:spLocks noGrp="1"/>
          </p:cNvSpPr>
          <p:nvPr/>
        </p:nvSpPr>
        <p:spPr>
          <a:xfrm>
            <a:off x="609600" y="4191000"/>
            <a:ext cx="5505450" cy="314325"/>
          </a:xfrm>
          <a:prstGeom prst="rect">
            <a:avLst/>
          </a:prstGeom>
          <a:noFill/>
          <a:ln w="0">
            <a:noFill/>
          </a:ln>
        </p:spPr>
        <p:txBody>
          <a:bodyPr wrap="square" lIns="0" tIns="0" rIns="0" bIns="0">
            <a:noAutofit/>
          </a:bodyPr>
          <a:lstStyle>
            <a:defPPr>
              <a:defRPr sz="1950" b="1">
                <a:solidFill>
                  <a:srgbClr val="101918"/>
                </a:solidFill>
                <a:latin typeface="Arial"/>
                <a:ea typeface="Arial"/>
                <a:cs typeface="Arial"/>
              </a:defRPr>
            </a:defPPr>
          </a:lstStyle>
          <a:p>
            <a:pPr>
              <a:defRPr sz="1950" b="1">
                <a:solidFill>
                  <a:srgbClr val="101918"/>
                </a:solidFill>
                <a:latin typeface="Arial"/>
                <a:ea typeface="Arial"/>
                <a:cs typeface="Arial"/>
              </a:defRPr>
            </a:pPr>
            <a:r>
              <a:rPr sz="1950" b="1">
                <a:solidFill>
                  <a:srgbClr val="101918"/>
                </a:solidFill>
                <a:latin typeface="Arial"/>
                <a:ea typeface="Arial"/>
                <a:cs typeface="Arial"/>
              </a:rPr>
              <a:t>Policy is not finished tightening</a:t>
            </a:r>
          </a:p>
        </p:txBody>
      </p:sp>
      <p:sp>
        <p:nvSpPr>
          <p:cNvPr id="9" name="The Fed moved to 3.75–4.00% and the ECB to 2.50%">
            <a:extLst>
              <a:ext uri="{FF2B5EF4-FFF2-40B4-BE49-F238E27FC236}">
                <a16:creationId xmlns:a16="http://schemas.microsoft.com/office/drawing/2014/main" id="{E3DADD70-291F-46B5-83FE-FF5D27E8B0F8}"/>
              </a:ext>
            </a:extLst>
          </p:cNvPr>
          <p:cNvSpPr>
            <a:spLocks noGrp="1"/>
          </p:cNvSpPr>
          <p:nvPr/>
        </p:nvSpPr>
        <p:spPr>
          <a:xfrm>
            <a:off x="609600" y="4600575"/>
            <a:ext cx="5505450" cy="809625"/>
          </a:xfrm>
          <a:prstGeom prst="rect">
            <a:avLst/>
          </a:prstGeom>
          <a:noFill/>
          <a:ln w="0">
            <a:noFill/>
          </a:ln>
        </p:spPr>
        <p:txBody>
          <a:bodyPr wrap="square" lIns="0" tIns="0" rIns="0" bIns="0">
            <a:noAutofit/>
          </a:bodyPr>
          <a:lstStyle>
            <a:defPPr>
              <a:defRPr sz="1725">
                <a:solidFill>
                  <a:srgbClr val="64716B"/>
                </a:solidFill>
                <a:latin typeface="Arial"/>
                <a:ea typeface="Arial"/>
                <a:cs typeface="Arial"/>
              </a:defRPr>
            </a:defPPr>
          </a:lstStyle>
          <a:p>
            <a:pPr>
              <a:defRPr sz="1725">
                <a:solidFill>
                  <a:srgbClr val="64716B"/>
                </a:solidFill>
                <a:latin typeface="Arial"/>
                <a:ea typeface="Arial"/>
                <a:cs typeface="Arial"/>
              </a:defRPr>
            </a:pPr>
            <a:r>
              <a:rPr sz="1725">
                <a:solidFill>
                  <a:srgbClr val="64716B"/>
                </a:solidFill>
                <a:latin typeface="Arial"/>
                <a:ea typeface="Arial"/>
                <a:cs typeface="Arial"/>
              </a:rPr>
              <a:t>The Fed moved to 3.75–4.00% and the ECB to 2.50% in September. US headline CPI was 3.4% year on year in August, with energy up 16.3%.</a:t>
            </a:r>
          </a:p>
        </p:txBody>
      </p:sp>
      <p:sp>
        <p:nvSpPr>
          <p:cNvPr id="10" name="We want earnings exposure that does not depend o">
            <a:extLst>
              <a:ext uri="{FF2B5EF4-FFF2-40B4-BE49-F238E27FC236}">
                <a16:creationId xmlns:a16="http://schemas.microsoft.com/office/drawing/2014/main" id="{D121AB68-C64C-47CA-AC43-9FE4FAD57A33}"/>
              </a:ext>
            </a:extLst>
          </p:cNvPr>
          <p:cNvSpPr>
            <a:spLocks noGrp="1"/>
          </p:cNvSpPr>
          <p:nvPr/>
        </p:nvSpPr>
        <p:spPr>
          <a:xfrm>
            <a:off x="609600" y="5581650"/>
            <a:ext cx="5505450" cy="571500"/>
          </a:xfrm>
          <a:prstGeom prst="rect">
            <a:avLst/>
          </a:prstGeom>
          <a:noFill/>
          <a:ln w="0">
            <a:noFill/>
          </a:ln>
        </p:spPr>
        <p:txBody>
          <a:bodyPr wrap="square" lIns="0" tIns="0" rIns="0" bIns="0">
            <a:noAutofit/>
          </a:bodyPr>
          <a:lstStyle>
            <a:defPPr>
              <a:defRPr sz="1725" b="1">
                <a:solidFill>
                  <a:srgbClr val="3D6358"/>
                </a:solidFill>
                <a:latin typeface="Arial"/>
                <a:ea typeface="Arial"/>
                <a:cs typeface="Arial"/>
              </a:defRPr>
            </a:defPPr>
          </a:lstStyle>
          <a:p>
            <a:pPr>
              <a:defRPr sz="1725" b="1">
                <a:solidFill>
                  <a:srgbClr val="3D6358"/>
                </a:solidFill>
                <a:latin typeface="Arial"/>
                <a:ea typeface="Arial"/>
                <a:cs typeface="Arial"/>
              </a:defRPr>
            </a:pPr>
            <a:r>
              <a:rPr sz="1725" b="1">
                <a:solidFill>
                  <a:srgbClr val="3D6358"/>
                </a:solidFill>
                <a:latin typeface="Arial"/>
                <a:ea typeface="Arial"/>
                <a:cs typeface="Arial"/>
              </a:rPr>
              <a:t>We want earnings exposure that does not depend on an immediate easing cycle.</a:t>
            </a:r>
          </a:p>
        </p:txBody>
      </p:sp>
      <p:sp>
        <p:nvSpPr>
          <p:cNvPr id="11" name="Selected official forecasts">
            <a:extLst>
              <a:ext uri="{FF2B5EF4-FFF2-40B4-BE49-F238E27FC236}">
                <a16:creationId xmlns:a16="http://schemas.microsoft.com/office/drawing/2014/main" id="{EA08274F-87D9-4933-ADC0-06A2591D3475}"/>
              </a:ext>
            </a:extLst>
          </p:cNvPr>
          <p:cNvSpPr>
            <a:spLocks noGrp="1"/>
          </p:cNvSpPr>
          <p:nvPr/>
        </p:nvSpPr>
        <p:spPr>
          <a:xfrm>
            <a:off x="6667500" y="1504950"/>
            <a:ext cx="4914900" cy="304800"/>
          </a:xfrm>
          <a:prstGeom prst="rect">
            <a:avLst/>
          </a:prstGeom>
          <a:noFill/>
          <a:ln w="0">
            <a:noFill/>
          </a:ln>
        </p:spPr>
        <p:txBody>
          <a:bodyPr wrap="square" lIns="0" tIns="0" rIns="0" bIns="0">
            <a:noAutofit/>
          </a:bodyPr>
          <a:lstStyle>
            <a:defPPr>
              <a:defRPr sz="1875" b="1">
                <a:solidFill>
                  <a:srgbClr val="101918"/>
                </a:solidFill>
                <a:latin typeface="Arial"/>
                <a:ea typeface="Arial"/>
                <a:cs typeface="Arial"/>
              </a:defRPr>
            </a:defPPr>
          </a:lstStyle>
          <a:p>
            <a:pPr>
              <a:defRPr sz="1875" b="1">
                <a:solidFill>
                  <a:srgbClr val="101918"/>
                </a:solidFill>
                <a:latin typeface="Arial"/>
                <a:ea typeface="Arial"/>
                <a:cs typeface="Arial"/>
              </a:defRPr>
            </a:pPr>
            <a:r>
              <a:rPr sz="1875" b="1">
                <a:solidFill>
                  <a:srgbClr val="101918"/>
                </a:solidFill>
                <a:latin typeface="Arial"/>
                <a:ea typeface="Arial"/>
                <a:cs typeface="Arial"/>
              </a:rPr>
              <a:t>Selected official forecasts</a:t>
            </a:r>
          </a:p>
        </p:txBody>
      </p:sp>
      <p:graphicFrame>
        <p:nvGraphicFramePr>
          <p:cNvPr id="12" name="Tabella 11">
            <a:extLst>
              <a:ext uri="{FF2B5EF4-FFF2-40B4-BE49-F238E27FC236}">
                <a16:creationId xmlns:a16="http://schemas.microsoft.com/office/drawing/2014/main" id="{F4C670C7-C174-4176-94FB-BCD749A63525}"/>
              </a:ext>
            </a:extLst>
          </p:cNvPr>
          <p:cNvGraphicFramePr/>
          <p:nvPr/>
        </p:nvGraphicFramePr>
        <p:xfrm>
          <a:off x="6667500" y="1905000"/>
          <a:ext cx="4914900" cy="2533650"/>
        </p:xfrm>
        <a:graphic>
          <a:graphicData uri="http://schemas.openxmlformats.org/drawingml/2006/table">
            <a:tbl>
              <a:tblPr/>
              <a:tblGrid>
                <a:gridCol w="28575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tblGrid>
              <a:tr h="422275">
                <a:tc>
                  <a:txBody>
                    <a:bodyPr/>
                    <a:lstStyle/>
                    <a:p>
                      <a:pPr algn="l"/>
                      <a:r>
                        <a:rPr sz="1575" b="1">
                          <a:solidFill>
                            <a:srgbClr val="FFFFFF"/>
                          </a:solidFill>
                          <a:latin typeface="Arial"/>
                          <a:ea typeface="Arial"/>
                          <a:cs typeface="Arial"/>
                        </a:rPr>
                        <a:t>Measure</a:t>
                      </a:r>
                    </a:p>
                  </a:txBody>
                  <a:tcPr anchor="ctr">
                    <a:lnL w="5239">
                      <a:solidFill>
                        <a:srgbClr val="D6D9D3"/>
                      </a:solidFill>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575" b="1">
                          <a:solidFill>
                            <a:srgbClr val="FFFFFF"/>
                          </a:solidFill>
                          <a:latin typeface="Arial"/>
                          <a:ea typeface="Arial"/>
                          <a:cs typeface="Arial"/>
                        </a:rPr>
                        <a:t>2026</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575" b="1">
                          <a:solidFill>
                            <a:srgbClr val="FFFFFF"/>
                          </a:solidFill>
                          <a:latin typeface="Arial"/>
                          <a:ea typeface="Arial"/>
                          <a:cs typeface="Arial"/>
                        </a:rPr>
                        <a:t>2027</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extLst>
                  <a:ext uri="{0D108BD9-81ED-4DB2-BD59-A6C34878D82A}">
                    <a16:rowId xmlns:a16="http://schemas.microsoft.com/office/drawing/2014/main" val="10000"/>
                  </a:ext>
                </a:extLst>
              </a:tr>
              <a:tr h="422275">
                <a:tc>
                  <a:txBody>
                    <a:bodyPr/>
                    <a:lstStyle/>
                    <a:p>
                      <a:pPr algn="l"/>
                      <a:r>
                        <a:rPr sz="1575" b="1">
                          <a:solidFill>
                            <a:srgbClr val="101918"/>
                          </a:solidFill>
                          <a:latin typeface="Arial"/>
                          <a:ea typeface="Arial"/>
                          <a:cs typeface="Arial"/>
                        </a:rPr>
                        <a:t>Global real GDP</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3.0%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3.4%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1"/>
                  </a:ext>
                </a:extLst>
              </a:tr>
              <a:tr h="422275">
                <a:tc>
                  <a:txBody>
                    <a:bodyPr/>
                    <a:lstStyle/>
                    <a:p>
                      <a:pPr algn="l"/>
                      <a:r>
                        <a:rPr sz="1575" b="1">
                          <a:solidFill>
                            <a:srgbClr val="101918"/>
                          </a:solidFill>
                          <a:latin typeface="Arial"/>
                          <a:ea typeface="Arial"/>
                          <a:cs typeface="Arial"/>
                        </a:rPr>
                        <a:t>US real GDP</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2.3%</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2.4%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2"/>
                  </a:ext>
                </a:extLst>
              </a:tr>
              <a:tr h="422275">
                <a:tc>
                  <a:txBody>
                    <a:bodyPr/>
                    <a:lstStyle/>
                    <a:p>
                      <a:pPr algn="l"/>
                      <a:r>
                        <a:rPr sz="1575" b="1">
                          <a:solidFill>
                            <a:srgbClr val="101918"/>
                          </a:solidFill>
                          <a:latin typeface="Arial"/>
                          <a:ea typeface="Arial"/>
                          <a:cs typeface="Arial"/>
                        </a:rPr>
                        <a:t>Euro area real GDP</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0.9%</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1.4%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3"/>
                  </a:ext>
                </a:extLst>
              </a:tr>
              <a:tr h="422275">
                <a:tc>
                  <a:txBody>
                    <a:bodyPr/>
                    <a:lstStyle/>
                    <a:p>
                      <a:pPr algn="l"/>
                      <a:r>
                        <a:rPr sz="1575" b="1">
                          <a:solidFill>
                            <a:srgbClr val="101918"/>
                          </a:solidFill>
                          <a:latin typeface="Arial"/>
                          <a:ea typeface="Arial"/>
                          <a:cs typeface="Arial"/>
                        </a:rPr>
                        <a:t>US headline PCE inflation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3.7%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2.3%</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4"/>
                  </a:ext>
                </a:extLst>
              </a:tr>
              <a:tr h="422275">
                <a:tc>
                  <a:txBody>
                    <a:bodyPr/>
                    <a:lstStyle/>
                    <a:p>
                      <a:pPr algn="l"/>
                      <a:r>
                        <a:rPr sz="1575" b="1">
                          <a:solidFill>
                            <a:srgbClr val="101918"/>
                          </a:solidFill>
                          <a:latin typeface="Arial"/>
                          <a:ea typeface="Arial"/>
                          <a:cs typeface="Arial"/>
                        </a:rPr>
                        <a:t>Euro area headline HICP</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3.0%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a:solidFill>
                            <a:srgbClr val="101918"/>
                          </a:solidFill>
                          <a:latin typeface="Arial"/>
                          <a:ea typeface="Arial"/>
                          <a:cs typeface="Arial"/>
                        </a:rPr>
                        <a:t>2.5%</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5"/>
                  </a:ext>
                </a:extLst>
              </a:tr>
            </a:tbl>
          </a:graphicData>
        </a:graphic>
      </p:graphicFrame>
      <p:sp>
        <p:nvSpPr>
          <p:cNvPr id="13" name="rule">
            <a:extLst>
              <a:ext uri="{FF2B5EF4-FFF2-40B4-BE49-F238E27FC236}">
                <a16:creationId xmlns:a16="http://schemas.microsoft.com/office/drawing/2014/main" id="{F9687565-3543-4DB7-A972-546FFBCF5005}"/>
              </a:ext>
            </a:extLst>
          </p:cNvPr>
          <p:cNvSpPr>
            <a:spLocks noGrp="1"/>
          </p:cNvSpPr>
          <p:nvPr/>
        </p:nvSpPr>
        <p:spPr>
          <a:xfrm>
            <a:off x="6667500" y="4648200"/>
            <a:ext cx="4914900" cy="28575"/>
          </a:xfrm>
          <a:prstGeom prst="rect">
            <a:avLst/>
          </a:prstGeom>
          <a:solidFill>
            <a:srgbClr val="9B8052"/>
          </a:solidFill>
          <a:ln w="0">
            <a:noFill/>
          </a:ln>
        </p:spPr>
        <p:txBody>
          <a:bodyPr/>
          <a:lstStyle/>
          <a:p>
            <a:endParaRPr lang="it-IT"/>
          </a:p>
        </p:txBody>
      </p:sp>
      <p:sp>
        <p:nvSpPr>
          <p:cNvPr id="14" name="SINCE OUR 12 OCTOBER CUTOFF">
            <a:extLst>
              <a:ext uri="{FF2B5EF4-FFF2-40B4-BE49-F238E27FC236}">
                <a16:creationId xmlns:a16="http://schemas.microsoft.com/office/drawing/2014/main" id="{5D1B8684-636C-4EA7-957D-D139642E629A}"/>
              </a:ext>
            </a:extLst>
          </p:cNvPr>
          <p:cNvSpPr>
            <a:spLocks noGrp="1"/>
          </p:cNvSpPr>
          <p:nvPr/>
        </p:nvSpPr>
        <p:spPr>
          <a:xfrm>
            <a:off x="6667500" y="4781550"/>
            <a:ext cx="4914900" cy="228600"/>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SINCE OUR 12 OCTOBER CUTOFF</a:t>
            </a:r>
          </a:p>
        </p:txBody>
      </p:sp>
      <p:sp>
        <p:nvSpPr>
          <p:cNvPr id="15" name="September CPI 3.7% y/y, core 2.6%. September PPI">
            <a:extLst>
              <a:ext uri="{FF2B5EF4-FFF2-40B4-BE49-F238E27FC236}">
                <a16:creationId xmlns:a16="http://schemas.microsoft.com/office/drawing/2014/main" id="{561A2042-B6A3-4E1A-932B-F22D6140B6D0}"/>
              </a:ext>
            </a:extLst>
          </p:cNvPr>
          <p:cNvSpPr>
            <a:spLocks noGrp="1"/>
          </p:cNvSpPr>
          <p:nvPr/>
        </p:nvSpPr>
        <p:spPr>
          <a:xfrm>
            <a:off x="6667500" y="5048250"/>
            <a:ext cx="4914900" cy="952500"/>
          </a:xfrm>
          <a:prstGeom prst="rect">
            <a:avLst/>
          </a:prstGeom>
          <a:noFill/>
          <a:ln w="0">
            <a:noFill/>
          </a:ln>
        </p:spPr>
        <p:txBody>
          <a:bodyPr wrap="square" lIns="0" tIns="0" rIns="0" bIns="0">
            <a:noAutofit/>
          </a:bodyPr>
          <a:lstStyle>
            <a:defPPr>
              <a:defRPr sz="1500">
                <a:solidFill>
                  <a:srgbClr val="101918"/>
                </a:solidFill>
                <a:latin typeface="Arial"/>
                <a:ea typeface="Arial"/>
                <a:cs typeface="Arial"/>
              </a:defRPr>
            </a:defPPr>
          </a:lstStyle>
          <a:p>
            <a:pPr>
              <a:defRPr sz="1500">
                <a:solidFill>
                  <a:srgbClr val="101918"/>
                </a:solidFill>
                <a:latin typeface="Arial"/>
                <a:ea typeface="Arial"/>
                <a:cs typeface="Arial"/>
              </a:defRPr>
            </a:pPr>
            <a:r>
              <a:rPr sz="1500">
                <a:solidFill>
                  <a:srgbClr val="101918"/>
                </a:solidFill>
                <a:latin typeface="Arial"/>
                <a:ea typeface="Arial"/>
                <a:cs typeface="Arial"/>
              </a:rPr>
              <a:t>September CPI 3.7% y/y, core 2.6%. September PPI +1.3% m/m, the largest since March 2022; energy drove both. Direction unchanged: our weights use no inflation forecast.</a:t>
            </a:r>
          </a:p>
        </p:txBody>
      </p:sp>
    </p:spTree>
    <p:extLst>
      <p:ext uri="{BB962C8B-B14F-4D97-AF65-F5344CB8AC3E}">
        <p14:creationId xmlns:p14="http://schemas.microsoft.com/office/powerpoint/2010/main" val="2055409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1" name="placeholder_1">
            <a:extLst>
              <a:ext uri="{FF2B5EF4-FFF2-40B4-BE49-F238E27FC236}">
                <a16:creationId xmlns:a16="http://schemas.microsoft.com/office/drawing/2014/main" id="{7E8E1016-7FC4-48DC-A204-B787AA571369}"/>
              </a:ext>
            </a:extLst>
          </p:cNvPr>
          <p:cNvSpPr>
            <a:spLocks noGrp="1"/>
          </p:cNvSpPr>
          <p:nvPr>
            <p:ph type="title"/>
          </p:nvPr>
        </p:nvSpPr>
        <p:spPr>
          <a:prstGeom prst="rect">
            <a:avLst/>
          </a:prstGeom>
          <a:noFill/>
          <a:ln w="0">
            <a:noFill/>
          </a:ln>
        </p:spPr>
        <p:txBody>
          <a:bodyPr lIns="0" tIns="0" rIns="0" bIns="0"/>
          <a:lstStyle>
            <a:defPPr>
              <a:defRPr sz="3300" b="1">
                <a:solidFill>
                  <a:srgbClr val="101918"/>
                </a:solidFill>
                <a:latin typeface="Arial"/>
                <a:ea typeface="Arial"/>
                <a:cs typeface="Arial"/>
              </a:defRPr>
            </a:defPPr>
          </a:lstStyle>
          <a:p>
            <a:pPr>
              <a:defRPr sz="3300" b="1">
                <a:solidFill>
                  <a:srgbClr val="101918"/>
                </a:solidFill>
                <a:latin typeface="Arial"/>
                <a:ea typeface="Arial"/>
                <a:cs typeface="Arial"/>
              </a:defRPr>
            </a:pPr>
            <a:r>
              <a:t>Why these eight ETFs</a:t>
            </a:r>
          </a:p>
        </p:txBody>
      </p:sp>
      <p:sp>
        <p:nvSpPr>
          <p:cNvPr id="2" name="FUND SELECTION / GEOGRAPHIC AND STYLE DIVERSIFIC">
            <a:extLst>
              <a:ext uri="{FF2B5EF4-FFF2-40B4-BE49-F238E27FC236}">
                <a16:creationId xmlns:a16="http://schemas.microsoft.com/office/drawing/2014/main" id="{B95AC565-69F0-4678-925A-28E96DE3A13D}"/>
              </a:ext>
            </a:extLst>
          </p:cNvPr>
          <p:cNvSpPr>
            <a:spLocks noGrp="1"/>
          </p:cNvSpPr>
          <p:nvPr/>
        </p:nvSpPr>
        <p:spPr>
          <a:xfrm>
            <a:off x="609600" y="295275"/>
            <a:ext cx="9486900" cy="238125"/>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FUND SELECTION / GEOGRAPHIC AND STYLE DIVERSIFICATION</a:t>
            </a:r>
          </a:p>
        </p:txBody>
      </p:sp>
      <p:pic>
        <p:nvPicPr>
          <p:cNvPr id="3" name="Immagine 2">
            <a:extLst>
              <a:ext uri="{FF2B5EF4-FFF2-40B4-BE49-F238E27FC236}">
                <a16:creationId xmlns:a16="http://schemas.microsoft.com/office/drawing/2014/main" id="{BEF23B9B-AC28-480E-B67C-AB8B8E34FC41}"/>
              </a:ext>
            </a:extLst>
          </p:cNvPr>
          <p:cNvPicPr>
            <a:picLocks noChangeAspect="1"/>
          </p:cNvPicPr>
          <p:nvPr/>
        </p:nvPicPr>
        <p:blipFill>
          <a:blip r:embed="rId3"/>
          <a:stretch/>
        </p:blipFill>
        <p:spPr>
          <a:xfrm>
            <a:off x="10435460" y="190500"/>
            <a:ext cx="1055630" cy="695325"/>
          </a:xfrm>
          <a:prstGeom prst="rect">
            <a:avLst/>
          </a:prstGeom>
        </p:spPr>
      </p:pic>
      <p:sp>
        <p:nvSpPr>
          <p:cNvPr id="4" name="03">
            <a:extLst>
              <a:ext uri="{FF2B5EF4-FFF2-40B4-BE49-F238E27FC236}">
                <a16:creationId xmlns:a16="http://schemas.microsoft.com/office/drawing/2014/main" id="{20FFD8C4-49A5-4CD5-BC30-0ED6CBA30600}"/>
              </a:ext>
            </a:extLst>
          </p:cNvPr>
          <p:cNvSpPr>
            <a:spLocks noGrp="1"/>
          </p:cNvSpPr>
          <p:nvPr/>
        </p:nvSpPr>
        <p:spPr>
          <a:xfrm>
            <a:off x="10287000" y="6496050"/>
            <a:ext cx="1295400" cy="209550"/>
          </a:xfrm>
          <a:prstGeom prst="rect">
            <a:avLst/>
          </a:prstGeom>
          <a:noFill/>
          <a:ln w="0">
            <a:noFill/>
          </a:ln>
        </p:spPr>
        <p:txBody>
          <a:bodyPr wrap="square" lIns="0" tIns="0" rIns="0" bIns="0">
            <a:noAutofit/>
          </a:bodyPr>
          <a:lstStyle>
            <a:defPPr algn="r">
              <a:defRPr sz="1050">
                <a:solidFill>
                  <a:srgbClr val="64716B"/>
                </a:solidFill>
                <a:latin typeface="Arial"/>
                <a:ea typeface="Arial"/>
                <a:cs typeface="Arial"/>
              </a:defRPr>
            </a:defPPr>
          </a:lstStyle>
          <a:p>
            <a:pPr algn="r">
              <a:defRPr sz="1050">
                <a:solidFill>
                  <a:srgbClr val="64716B"/>
                </a:solidFill>
                <a:latin typeface="Arial"/>
                <a:ea typeface="Arial"/>
                <a:cs typeface="Arial"/>
              </a:defRPr>
            </a:pPr>
            <a:r>
              <a:rPr sz="1050">
                <a:solidFill>
                  <a:srgbClr val="64716B"/>
                </a:solidFill>
                <a:latin typeface="Arial"/>
                <a:ea typeface="Arial"/>
                <a:cs typeface="Arial"/>
              </a:rPr>
              <a:t>03</a:t>
            </a:r>
          </a:p>
        </p:txBody>
      </p:sp>
      <p:graphicFrame>
        <p:nvGraphicFramePr>
          <p:cNvPr id="5" name="Tabella 4">
            <a:extLst>
              <a:ext uri="{FF2B5EF4-FFF2-40B4-BE49-F238E27FC236}">
                <a16:creationId xmlns:a16="http://schemas.microsoft.com/office/drawing/2014/main" id="{FF934B56-E327-4433-AF45-78EE3DD3F691}"/>
              </a:ext>
            </a:extLst>
          </p:cNvPr>
          <p:cNvGraphicFramePr/>
          <p:nvPr/>
        </p:nvGraphicFramePr>
        <p:xfrm>
          <a:off x="609600" y="1581150"/>
          <a:ext cx="6724650" cy="4191845"/>
        </p:xfrm>
        <a:graphic>
          <a:graphicData uri="http://schemas.openxmlformats.org/drawingml/2006/table">
            <a:tbl>
              <a:tblPr/>
              <a:tblGrid>
                <a:gridCol w="800100">
                  <a:extLst>
                    <a:ext uri="{9D8B030D-6E8A-4147-A177-3AD203B41FA5}">
                      <a16:colId xmlns:a16="http://schemas.microsoft.com/office/drawing/2014/main" val="20000"/>
                    </a:ext>
                  </a:extLst>
                </a:gridCol>
                <a:gridCol w="354330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tblGrid>
              <a:tr h="436033">
                <a:tc>
                  <a:txBody>
                    <a:bodyPr/>
                    <a:lstStyle/>
                    <a:p>
                      <a:pPr algn="l"/>
                      <a:r>
                        <a:rPr sz="1350" b="1">
                          <a:solidFill>
                            <a:srgbClr val="FFFFFF"/>
                          </a:solidFill>
                          <a:latin typeface="Arial"/>
                          <a:ea typeface="Arial"/>
                          <a:cs typeface="Arial"/>
                        </a:rPr>
                        <a:t>ETF</a:t>
                      </a:r>
                    </a:p>
                  </a:txBody>
                  <a:tcPr anchor="ctr">
                    <a:lnL w="5239">
                      <a:solidFill>
                        <a:srgbClr val="D6D9D3"/>
                      </a:solidFill>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350" b="1">
                          <a:solidFill>
                            <a:srgbClr val="FFFFFF"/>
                          </a:solidFill>
                          <a:latin typeface="Arial"/>
                          <a:ea typeface="Arial"/>
                          <a:cs typeface="Arial"/>
                        </a:rPr>
                        <a:t>Security</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350" b="1">
                          <a:solidFill>
                            <a:srgbClr val="FFFFFF"/>
                          </a:solidFill>
                          <a:latin typeface="Arial"/>
                          <a:ea typeface="Arial"/>
                          <a:cs typeface="Arial"/>
                        </a:rPr>
                        <a:t>Strategic role</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extLst>
                  <a:ext uri="{0D108BD9-81ED-4DB2-BD59-A6C34878D82A}">
                    <a16:rowId xmlns:a16="http://schemas.microsoft.com/office/drawing/2014/main" val="10000"/>
                  </a:ext>
                </a:extLst>
              </a:tr>
              <a:tr h="436033">
                <a:tc>
                  <a:txBody>
                    <a:bodyPr/>
                    <a:lstStyle/>
                    <a:p>
                      <a:pPr algn="l"/>
                      <a:r>
                        <a:rPr sz="1350" b="1">
                          <a:solidFill>
                            <a:srgbClr val="101918"/>
                          </a:solidFill>
                          <a:latin typeface="Arial"/>
                          <a:ea typeface="Arial"/>
                          <a:cs typeface="Arial"/>
                        </a:rPr>
                        <a:t>VOO</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Vanguard S&amp;P 500 ETF</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US equity core</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1"/>
                  </a:ext>
                </a:extLst>
              </a:tr>
              <a:tr h="436033">
                <a:tc>
                  <a:txBody>
                    <a:bodyPr/>
                    <a:lstStyle/>
                    <a:p>
                      <a:pPr algn="l"/>
                      <a:r>
                        <a:rPr sz="1350" b="1">
                          <a:solidFill>
                            <a:srgbClr val="101918"/>
                          </a:solidFill>
                          <a:latin typeface="Arial"/>
                          <a:ea typeface="Arial"/>
                          <a:cs typeface="Arial"/>
                        </a:rPr>
                        <a:t>VTV</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Vanguard Value ETF</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US value style</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2"/>
                  </a:ext>
                </a:extLst>
              </a:tr>
              <a:tr h="436033">
                <a:tc>
                  <a:txBody>
                    <a:bodyPr/>
                    <a:lstStyle/>
                    <a:p>
                      <a:pPr algn="l"/>
                      <a:r>
                        <a:rPr sz="1350" b="1">
                          <a:solidFill>
                            <a:srgbClr val="101918"/>
                          </a:solidFill>
                          <a:latin typeface="Arial"/>
                          <a:ea typeface="Arial"/>
                          <a:cs typeface="Arial"/>
                        </a:rPr>
                        <a:t>IEFA</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iShares Core MSCI EAFE ETF</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Developed equity outside the US</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3"/>
                  </a:ext>
                </a:extLst>
              </a:tr>
              <a:tr h="436033">
                <a:tc>
                  <a:txBody>
                    <a:bodyPr/>
                    <a:lstStyle/>
                    <a:p>
                      <a:pPr algn="l"/>
                      <a:r>
                        <a:rPr sz="1350" b="1">
                          <a:solidFill>
                            <a:srgbClr val="101918"/>
                          </a:solidFill>
                          <a:latin typeface="Arial"/>
                          <a:ea typeface="Arial"/>
                          <a:cs typeface="Arial"/>
                        </a:rPr>
                        <a:t>EEM</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iShares MSCI Emerging Markets ETF</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Emerging equity including South Korea</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4"/>
                  </a:ext>
                </a:extLst>
              </a:tr>
              <a:tr h="436033">
                <a:tc>
                  <a:txBody>
                    <a:bodyPr/>
                    <a:lstStyle/>
                    <a:p>
                      <a:pPr algn="l"/>
                      <a:r>
                        <a:rPr sz="1350" b="1">
                          <a:solidFill>
                            <a:srgbClr val="101918"/>
                          </a:solidFill>
                          <a:latin typeface="Arial"/>
                          <a:ea typeface="Arial"/>
                          <a:cs typeface="Arial"/>
                        </a:rPr>
                        <a:t>IEF</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iShares 7–10 Year Treasury Bond ETF</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Treasury duration</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5"/>
                  </a:ext>
                </a:extLst>
              </a:tr>
              <a:tr h="436033">
                <a:tc>
                  <a:txBody>
                    <a:bodyPr/>
                    <a:lstStyle/>
                    <a:p>
                      <a:pPr algn="l"/>
                      <a:r>
                        <a:rPr sz="1350" b="1">
                          <a:solidFill>
                            <a:srgbClr val="101918"/>
                          </a:solidFill>
                          <a:latin typeface="Arial"/>
                          <a:ea typeface="Arial"/>
                          <a:cs typeface="Arial"/>
                        </a:rPr>
                        <a:t>IGSB</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iShares 1–5 Year Investment Grade Corporate Bond ETF</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Short corporate credit</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6"/>
                  </a:ext>
                </a:extLst>
              </a:tr>
              <a:tr h="436033">
                <a:tc>
                  <a:txBody>
                    <a:bodyPr/>
                    <a:lstStyle/>
                    <a:p>
                      <a:pPr algn="l"/>
                      <a:r>
                        <a:rPr sz="1350" b="1">
                          <a:solidFill>
                            <a:srgbClr val="101918"/>
                          </a:solidFill>
                          <a:latin typeface="Arial"/>
                          <a:ea typeface="Arial"/>
                          <a:cs typeface="Arial"/>
                        </a:rPr>
                        <a:t>GLD</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SPDR Gold Shares</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Physical gold</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7"/>
                  </a:ext>
                </a:extLst>
              </a:tr>
              <a:tr h="436033">
                <a:tc>
                  <a:txBody>
                    <a:bodyPr/>
                    <a:lstStyle/>
                    <a:p>
                      <a:pPr algn="l"/>
                      <a:r>
                        <a:rPr sz="1350" b="1">
                          <a:solidFill>
                            <a:srgbClr val="101918"/>
                          </a:solidFill>
                          <a:latin typeface="Arial"/>
                          <a:ea typeface="Arial"/>
                          <a:cs typeface="Arial"/>
                        </a:rPr>
                        <a:t>DBC</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Invesco DB Commodity Index Tracking Fund</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350">
                          <a:solidFill>
                            <a:srgbClr val="101918"/>
                          </a:solidFill>
                          <a:latin typeface="Arial"/>
                          <a:ea typeface="Arial"/>
                          <a:cs typeface="Arial"/>
                        </a:rPr>
                        <a:t>Broad commodity futures</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8"/>
                  </a:ext>
                </a:extLst>
              </a:tr>
            </a:tbl>
          </a:graphicData>
        </a:graphic>
      </p:graphicFrame>
      <p:sp>
        <p:nvSpPr>
          <p:cNvPr id="6" name="Diversification by geography">
            <a:extLst>
              <a:ext uri="{FF2B5EF4-FFF2-40B4-BE49-F238E27FC236}">
                <a16:creationId xmlns:a16="http://schemas.microsoft.com/office/drawing/2014/main" id="{04AD4391-41AB-45F8-A683-5F1A754B2FE9}"/>
              </a:ext>
            </a:extLst>
          </p:cNvPr>
          <p:cNvSpPr>
            <a:spLocks noGrp="1"/>
          </p:cNvSpPr>
          <p:nvPr/>
        </p:nvSpPr>
        <p:spPr>
          <a:xfrm>
            <a:off x="7639050" y="1581150"/>
            <a:ext cx="3943350" cy="304800"/>
          </a:xfrm>
          <a:prstGeom prst="rect">
            <a:avLst/>
          </a:prstGeom>
          <a:noFill/>
          <a:ln w="0">
            <a:noFill/>
          </a:ln>
        </p:spPr>
        <p:txBody>
          <a:bodyPr wrap="square" lIns="0" tIns="0" rIns="0" bIns="0">
            <a:noAutofit/>
          </a:bodyPr>
          <a:lstStyle>
            <a:defPPr>
              <a:defRPr sz="1800" b="1">
                <a:solidFill>
                  <a:srgbClr val="101918"/>
                </a:solidFill>
                <a:latin typeface="Arial"/>
                <a:ea typeface="Arial"/>
                <a:cs typeface="Arial"/>
              </a:defRPr>
            </a:defPPr>
          </a:lstStyle>
          <a:p>
            <a:pPr>
              <a:defRPr sz="1800" b="1">
                <a:solidFill>
                  <a:srgbClr val="101918"/>
                </a:solidFill>
                <a:latin typeface="Arial"/>
                <a:ea typeface="Arial"/>
                <a:cs typeface="Arial"/>
              </a:defRPr>
            </a:pPr>
            <a:r>
              <a:rPr sz="1800" b="1">
                <a:solidFill>
                  <a:srgbClr val="101918"/>
                </a:solidFill>
                <a:latin typeface="Arial"/>
                <a:ea typeface="Arial"/>
                <a:cs typeface="Arial"/>
              </a:rPr>
              <a:t>Diversification by geography</a:t>
            </a:r>
          </a:p>
        </p:txBody>
      </p:sp>
      <p:sp>
        <p:nvSpPr>
          <p:cNvPr id="7" name="VOO and VTV cover the US core, IEFA adds develop">
            <a:extLst>
              <a:ext uri="{FF2B5EF4-FFF2-40B4-BE49-F238E27FC236}">
                <a16:creationId xmlns:a16="http://schemas.microsoft.com/office/drawing/2014/main" id="{4664741D-DDFF-427D-804F-9DA8AF06B716}"/>
              </a:ext>
            </a:extLst>
          </p:cNvPr>
          <p:cNvSpPr>
            <a:spLocks noGrp="1"/>
          </p:cNvSpPr>
          <p:nvPr/>
        </p:nvSpPr>
        <p:spPr>
          <a:xfrm>
            <a:off x="7639050" y="1943100"/>
            <a:ext cx="3943350" cy="1181100"/>
          </a:xfrm>
          <a:prstGeom prst="rect">
            <a:avLst/>
          </a:prstGeom>
          <a:noFill/>
          <a:ln w="0">
            <a:noFill/>
          </a:ln>
        </p:spPr>
        <p:txBody>
          <a:bodyPr wrap="square" lIns="0" tIns="0" rIns="0" bIns="0">
            <a:noAutofit/>
          </a:bodyPr>
          <a:lstStyle>
            <a:defPPr>
              <a:defRPr sz="1500">
                <a:solidFill>
                  <a:srgbClr val="64716B"/>
                </a:solidFill>
                <a:latin typeface="Arial"/>
                <a:ea typeface="Arial"/>
                <a:cs typeface="Arial"/>
              </a:defRPr>
            </a:defPPr>
          </a:lstStyle>
          <a:p>
            <a:pPr>
              <a:defRPr sz="1500">
                <a:solidFill>
                  <a:srgbClr val="64716B"/>
                </a:solidFill>
                <a:latin typeface="Arial"/>
                <a:ea typeface="Arial"/>
                <a:cs typeface="Arial"/>
              </a:defRPr>
            </a:pPr>
            <a:r>
              <a:rPr sz="1500">
                <a:solidFill>
                  <a:srgbClr val="64716B"/>
                </a:solidFill>
                <a:latin typeface="Arial"/>
                <a:ea typeface="Arial"/>
                <a:cs typeface="Arial"/>
              </a:rPr>
              <a:t>VOO and VTV cover the US core, IEFA adds developed markets outside the US, and EEM brings emerging economies. We prefer broad regional blocks to narrow country calls.</a:t>
            </a:r>
          </a:p>
        </p:txBody>
      </p:sp>
      <p:sp>
        <p:nvSpPr>
          <p:cNvPr id="8" name="Diversification by style">
            <a:extLst>
              <a:ext uri="{FF2B5EF4-FFF2-40B4-BE49-F238E27FC236}">
                <a16:creationId xmlns:a16="http://schemas.microsoft.com/office/drawing/2014/main" id="{06338124-8C85-480D-B2E7-59095A066E6C}"/>
              </a:ext>
            </a:extLst>
          </p:cNvPr>
          <p:cNvSpPr>
            <a:spLocks noGrp="1"/>
          </p:cNvSpPr>
          <p:nvPr/>
        </p:nvSpPr>
        <p:spPr>
          <a:xfrm>
            <a:off x="7639050" y="3219450"/>
            <a:ext cx="3943350" cy="304800"/>
          </a:xfrm>
          <a:prstGeom prst="rect">
            <a:avLst/>
          </a:prstGeom>
          <a:noFill/>
          <a:ln w="0">
            <a:noFill/>
          </a:ln>
        </p:spPr>
        <p:txBody>
          <a:bodyPr wrap="square" lIns="0" tIns="0" rIns="0" bIns="0">
            <a:noAutofit/>
          </a:bodyPr>
          <a:lstStyle>
            <a:defPPr>
              <a:defRPr sz="1800" b="1">
                <a:solidFill>
                  <a:srgbClr val="101918"/>
                </a:solidFill>
                <a:latin typeface="Arial"/>
                <a:ea typeface="Arial"/>
                <a:cs typeface="Arial"/>
              </a:defRPr>
            </a:defPPr>
          </a:lstStyle>
          <a:p>
            <a:pPr>
              <a:defRPr sz="1800" b="1">
                <a:solidFill>
                  <a:srgbClr val="101918"/>
                </a:solidFill>
                <a:latin typeface="Arial"/>
                <a:ea typeface="Arial"/>
                <a:cs typeface="Arial"/>
              </a:defRPr>
            </a:pPr>
            <a:r>
              <a:rPr sz="1800" b="1">
                <a:solidFill>
                  <a:srgbClr val="101918"/>
                </a:solidFill>
                <a:latin typeface="Arial"/>
                <a:ea typeface="Arial"/>
                <a:cs typeface="Arial"/>
              </a:rPr>
              <a:t>Diversification by style</a:t>
            </a:r>
          </a:p>
        </p:txBody>
      </p:sp>
      <p:sp>
        <p:nvSpPr>
          <p:cNvPr id="9" name="VTV tilts our US exposure towards value, changin">
            <a:extLst>
              <a:ext uri="{FF2B5EF4-FFF2-40B4-BE49-F238E27FC236}">
                <a16:creationId xmlns:a16="http://schemas.microsoft.com/office/drawing/2014/main" id="{22F0F469-948D-40E4-B703-7C8E768B4F5F}"/>
              </a:ext>
            </a:extLst>
          </p:cNvPr>
          <p:cNvSpPr>
            <a:spLocks noGrp="1"/>
          </p:cNvSpPr>
          <p:nvPr/>
        </p:nvSpPr>
        <p:spPr>
          <a:xfrm>
            <a:off x="7639050" y="3581400"/>
            <a:ext cx="3943350" cy="1181100"/>
          </a:xfrm>
          <a:prstGeom prst="rect">
            <a:avLst/>
          </a:prstGeom>
          <a:noFill/>
          <a:ln w="0">
            <a:noFill/>
          </a:ln>
        </p:spPr>
        <p:txBody>
          <a:bodyPr wrap="square" lIns="0" tIns="0" rIns="0" bIns="0">
            <a:noAutofit/>
          </a:bodyPr>
          <a:lstStyle>
            <a:defPPr>
              <a:defRPr sz="1500">
                <a:solidFill>
                  <a:srgbClr val="64716B"/>
                </a:solidFill>
                <a:latin typeface="Arial"/>
                <a:ea typeface="Arial"/>
                <a:cs typeface="Arial"/>
              </a:defRPr>
            </a:defPPr>
          </a:lstStyle>
          <a:p>
            <a:pPr>
              <a:defRPr sz="1500">
                <a:solidFill>
                  <a:srgbClr val="64716B"/>
                </a:solidFill>
                <a:latin typeface="Arial"/>
                <a:ea typeface="Arial"/>
                <a:cs typeface="Arial"/>
              </a:defRPr>
            </a:pPr>
            <a:r>
              <a:rPr sz="1500">
                <a:solidFill>
                  <a:srgbClr val="64716B"/>
                </a:solidFill>
                <a:latin typeface="Arial"/>
                <a:ea typeface="Arial"/>
                <a:cs typeface="Arial"/>
              </a:rPr>
              <a:t>VTV tilts our US exposure towards value, changing the balance between technology and financials. Its overlap with VOO is intentional: it is a style tilt inside the same market.</a:t>
            </a:r>
          </a:p>
        </p:txBody>
      </p:sp>
      <p:sp>
        <p:nvSpPr>
          <p:cNvPr id="10" name="Four distinct risk drivers: equity, duration, cr">
            <a:extLst>
              <a:ext uri="{FF2B5EF4-FFF2-40B4-BE49-F238E27FC236}">
                <a16:creationId xmlns:a16="http://schemas.microsoft.com/office/drawing/2014/main" id="{CE5067C3-53B6-4014-B835-078A471CEF29}"/>
              </a:ext>
            </a:extLst>
          </p:cNvPr>
          <p:cNvSpPr>
            <a:spLocks noGrp="1"/>
          </p:cNvSpPr>
          <p:nvPr/>
        </p:nvSpPr>
        <p:spPr>
          <a:xfrm>
            <a:off x="7639050" y="4914900"/>
            <a:ext cx="3943350" cy="762000"/>
          </a:xfrm>
          <a:prstGeom prst="rect">
            <a:avLst/>
          </a:prstGeom>
          <a:noFill/>
          <a:ln w="0">
            <a:noFill/>
          </a:ln>
        </p:spPr>
        <p:txBody>
          <a:bodyPr wrap="square" lIns="0" tIns="0" rIns="0" bIns="0">
            <a:noAutofit/>
          </a:bodyPr>
          <a:lstStyle>
            <a:defPPr>
              <a:defRPr sz="1650" b="1">
                <a:solidFill>
                  <a:srgbClr val="3D6358"/>
                </a:solidFill>
                <a:latin typeface="Arial"/>
                <a:ea typeface="Arial"/>
                <a:cs typeface="Arial"/>
              </a:defRPr>
            </a:defPPr>
          </a:lstStyle>
          <a:p>
            <a:pPr>
              <a:defRPr sz="1650" b="1">
                <a:solidFill>
                  <a:srgbClr val="3D6358"/>
                </a:solidFill>
                <a:latin typeface="Arial"/>
                <a:ea typeface="Arial"/>
                <a:cs typeface="Arial"/>
              </a:defRPr>
            </a:pPr>
            <a:r>
              <a:rPr sz="1650" b="1">
                <a:solidFill>
                  <a:srgbClr val="3D6358"/>
                </a:solidFill>
                <a:latin typeface="Arial"/>
                <a:ea typeface="Arial"/>
                <a:cs typeface="Arial"/>
              </a:rPr>
              <a:t>Four distinct risk drivers: equity, duration, credit and real assets.</a:t>
            </a:r>
          </a:p>
        </p:txBody>
      </p:sp>
    </p:spTree>
    <p:extLst>
      <p:ext uri="{BB962C8B-B14F-4D97-AF65-F5344CB8AC3E}">
        <p14:creationId xmlns:p14="http://schemas.microsoft.com/office/powerpoint/2010/main" val="1194656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9" name="placeholder_1">
            <a:extLst>
              <a:ext uri="{FF2B5EF4-FFF2-40B4-BE49-F238E27FC236}">
                <a16:creationId xmlns:a16="http://schemas.microsoft.com/office/drawing/2014/main" id="{7E8E1016-7FC4-48DC-A204-B787AA571369}"/>
              </a:ext>
            </a:extLst>
          </p:cNvPr>
          <p:cNvSpPr>
            <a:spLocks noGrp="1"/>
          </p:cNvSpPr>
          <p:nvPr>
            <p:ph type="title"/>
          </p:nvPr>
        </p:nvSpPr>
        <p:spPr>
          <a:prstGeom prst="rect">
            <a:avLst/>
          </a:prstGeom>
          <a:noFill/>
          <a:ln w="0">
            <a:noFill/>
          </a:ln>
        </p:spPr>
        <p:txBody>
          <a:bodyPr lIns="0" tIns="0" rIns="0" bIns="0"/>
          <a:lstStyle>
            <a:defPPr>
              <a:defRPr sz="3300" b="1">
                <a:solidFill>
                  <a:srgbClr val="101918"/>
                </a:solidFill>
                <a:latin typeface="Arial"/>
                <a:ea typeface="Arial"/>
                <a:cs typeface="Arial"/>
              </a:defRPr>
            </a:defPPr>
          </a:lstStyle>
          <a:p>
            <a:pPr>
              <a:defRPr sz="3300" b="1">
                <a:solidFill>
                  <a:srgbClr val="101918"/>
                </a:solidFill>
                <a:latin typeface="Arial"/>
                <a:ea typeface="Arial"/>
                <a:cs typeface="Arial"/>
              </a:defRPr>
            </a:pPr>
            <a:r>
              <a:t>The portfolio we propose</a:t>
            </a:r>
          </a:p>
        </p:txBody>
      </p:sp>
      <p:sp>
        <p:nvSpPr>
          <p:cNvPr id="2" name="CHECKPOINT 1 / CAPITAL WEIGHTS IN PERCENT AND US">
            <a:extLst>
              <a:ext uri="{FF2B5EF4-FFF2-40B4-BE49-F238E27FC236}">
                <a16:creationId xmlns:a16="http://schemas.microsoft.com/office/drawing/2014/main" id="{135F582E-E9FB-4DBA-91A3-484D9F964856}"/>
              </a:ext>
            </a:extLst>
          </p:cNvPr>
          <p:cNvSpPr>
            <a:spLocks noGrp="1"/>
          </p:cNvSpPr>
          <p:nvPr/>
        </p:nvSpPr>
        <p:spPr>
          <a:xfrm>
            <a:off x="609600" y="295275"/>
            <a:ext cx="9486900" cy="238125"/>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CHECKPOINT 1 / CAPITAL WEIGHTS IN PERCENT AND US DOLLARS</a:t>
            </a:r>
          </a:p>
        </p:txBody>
      </p:sp>
      <p:pic>
        <p:nvPicPr>
          <p:cNvPr id="3" name="Immagine 2">
            <a:extLst>
              <a:ext uri="{FF2B5EF4-FFF2-40B4-BE49-F238E27FC236}">
                <a16:creationId xmlns:a16="http://schemas.microsoft.com/office/drawing/2014/main" id="{B5A51830-2C3D-499E-B5D4-B22A79B3819B}"/>
              </a:ext>
            </a:extLst>
          </p:cNvPr>
          <p:cNvPicPr>
            <a:picLocks noChangeAspect="1"/>
          </p:cNvPicPr>
          <p:nvPr/>
        </p:nvPicPr>
        <p:blipFill>
          <a:blip r:embed="rId3"/>
          <a:stretch/>
        </p:blipFill>
        <p:spPr>
          <a:xfrm>
            <a:off x="10435460" y="190500"/>
            <a:ext cx="1055630" cy="695325"/>
          </a:xfrm>
          <a:prstGeom prst="rect">
            <a:avLst/>
          </a:prstGeom>
        </p:spPr>
      </p:pic>
      <p:sp>
        <p:nvSpPr>
          <p:cNvPr id="4" name="04">
            <a:extLst>
              <a:ext uri="{FF2B5EF4-FFF2-40B4-BE49-F238E27FC236}">
                <a16:creationId xmlns:a16="http://schemas.microsoft.com/office/drawing/2014/main" id="{A01D06DD-1897-4E80-A594-842AC44AEC99}"/>
              </a:ext>
            </a:extLst>
          </p:cNvPr>
          <p:cNvSpPr>
            <a:spLocks noGrp="1"/>
          </p:cNvSpPr>
          <p:nvPr/>
        </p:nvSpPr>
        <p:spPr>
          <a:xfrm>
            <a:off x="10287000" y="6496050"/>
            <a:ext cx="1295400" cy="209550"/>
          </a:xfrm>
          <a:prstGeom prst="rect">
            <a:avLst/>
          </a:prstGeom>
          <a:noFill/>
          <a:ln w="0">
            <a:noFill/>
          </a:ln>
        </p:spPr>
        <p:txBody>
          <a:bodyPr wrap="square" lIns="0" tIns="0" rIns="0" bIns="0">
            <a:noAutofit/>
          </a:bodyPr>
          <a:lstStyle>
            <a:defPPr algn="r">
              <a:defRPr sz="1050">
                <a:solidFill>
                  <a:srgbClr val="64716B"/>
                </a:solidFill>
                <a:latin typeface="Arial"/>
                <a:ea typeface="Arial"/>
                <a:cs typeface="Arial"/>
              </a:defRPr>
            </a:defPPr>
          </a:lstStyle>
          <a:p>
            <a:pPr algn="r">
              <a:defRPr sz="1050">
                <a:solidFill>
                  <a:srgbClr val="64716B"/>
                </a:solidFill>
                <a:latin typeface="Arial"/>
                <a:ea typeface="Arial"/>
                <a:cs typeface="Arial"/>
              </a:defRPr>
            </a:pPr>
            <a:r>
              <a:rPr sz="1050">
                <a:solidFill>
                  <a:srgbClr val="64716B"/>
                </a:solidFill>
                <a:latin typeface="Arial"/>
                <a:ea typeface="Arial"/>
                <a:cs typeface="Arial"/>
              </a:rPr>
              <a:t>04</a:t>
            </a:r>
          </a:p>
        </p:txBody>
      </p:sp>
      <p:graphicFrame>
        <p:nvGraphicFramePr>
          <p:cNvPr id="5" name="Chart">
            <a:extLst>
              <a:ext uri="{FF2B5EF4-FFF2-40B4-BE49-F238E27FC236}">
                <a16:creationId xmlns:a16="http://schemas.microsoft.com/office/drawing/2014/main" id="{8E132294-06FD-4F2E-84EB-CEFAC6CE49CA}"/>
              </a:ext>
            </a:extLst>
          </p:cNvPr>
          <p:cNvGraphicFramePr/>
          <p:nvPr/>
        </p:nvGraphicFramePr>
        <p:xfrm>
          <a:off x="381000" y="1485900"/>
          <a:ext cx="6172200" cy="4038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ella 5">
            <a:extLst>
              <a:ext uri="{FF2B5EF4-FFF2-40B4-BE49-F238E27FC236}">
                <a16:creationId xmlns:a16="http://schemas.microsoft.com/office/drawing/2014/main" id="{0C21CA5E-68F8-40D4-ABA1-A19539A709B7}"/>
              </a:ext>
            </a:extLst>
          </p:cNvPr>
          <p:cNvGraphicFramePr/>
          <p:nvPr/>
        </p:nvGraphicFramePr>
        <p:xfrm>
          <a:off x="6896100" y="1524000"/>
          <a:ext cx="4686300" cy="3790950"/>
        </p:xfrm>
        <a:graphic>
          <a:graphicData uri="http://schemas.openxmlformats.org/drawingml/2006/table">
            <a:tbl>
              <a:tblPr/>
              <a:tblGrid>
                <a:gridCol w="1143000">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1771650">
                  <a:extLst>
                    <a:ext uri="{9D8B030D-6E8A-4147-A177-3AD203B41FA5}">
                      <a16:colId xmlns:a16="http://schemas.microsoft.com/office/drawing/2014/main" val="20002"/>
                    </a:ext>
                  </a:extLst>
                </a:gridCol>
              </a:tblGrid>
              <a:tr h="379095">
                <a:tc>
                  <a:txBody>
                    <a:bodyPr/>
                    <a:lstStyle/>
                    <a:p>
                      <a:pPr algn="l"/>
                      <a:r>
                        <a:rPr sz="1500" b="1">
                          <a:solidFill>
                            <a:srgbClr val="FFFFFF"/>
                          </a:solidFill>
                          <a:latin typeface="Arial"/>
                          <a:ea typeface="Arial"/>
                          <a:cs typeface="Arial"/>
                        </a:rPr>
                        <a:t>ETF</a:t>
                      </a:r>
                    </a:p>
                  </a:txBody>
                  <a:tcPr anchor="ctr">
                    <a:lnL w="5239">
                      <a:solidFill>
                        <a:srgbClr val="D6D9D3"/>
                      </a:solidFill>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500" b="1">
                          <a:solidFill>
                            <a:srgbClr val="FFFFFF"/>
                          </a:solidFill>
                          <a:latin typeface="Arial"/>
                          <a:ea typeface="Arial"/>
                          <a:cs typeface="Arial"/>
                        </a:rPr>
                        <a:t>Weight</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500" b="1">
                          <a:solidFill>
                            <a:srgbClr val="FFFFFF"/>
                          </a:solidFill>
                          <a:latin typeface="Arial"/>
                          <a:ea typeface="Arial"/>
                          <a:cs typeface="Arial"/>
                        </a:rPr>
                        <a:t>USD million</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extLst>
                  <a:ext uri="{0D108BD9-81ED-4DB2-BD59-A6C34878D82A}">
                    <a16:rowId xmlns:a16="http://schemas.microsoft.com/office/drawing/2014/main" val="10000"/>
                  </a:ext>
                </a:extLst>
              </a:tr>
              <a:tr h="379095">
                <a:tc>
                  <a:txBody>
                    <a:bodyPr/>
                    <a:lstStyle/>
                    <a:p>
                      <a:pPr algn="l"/>
                      <a:r>
                        <a:rPr sz="1500" b="1">
                          <a:solidFill>
                            <a:srgbClr val="101918"/>
                          </a:solidFill>
                          <a:latin typeface="Arial"/>
                          <a:ea typeface="Arial"/>
                          <a:cs typeface="Arial"/>
                        </a:rPr>
                        <a:t>VOO</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9.91%</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9.91</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1"/>
                  </a:ext>
                </a:extLst>
              </a:tr>
              <a:tr h="379095">
                <a:tc>
                  <a:txBody>
                    <a:bodyPr/>
                    <a:lstStyle/>
                    <a:p>
                      <a:pPr algn="l"/>
                      <a:r>
                        <a:rPr sz="1500" b="1">
                          <a:solidFill>
                            <a:srgbClr val="101918"/>
                          </a:solidFill>
                          <a:latin typeface="Arial"/>
                          <a:ea typeface="Arial"/>
                          <a:cs typeface="Arial"/>
                        </a:rPr>
                        <a:t>VTV</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10.54%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10.54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2"/>
                  </a:ext>
                </a:extLst>
              </a:tr>
              <a:tr h="379095">
                <a:tc>
                  <a:txBody>
                    <a:bodyPr/>
                    <a:lstStyle/>
                    <a:p>
                      <a:pPr algn="l"/>
                      <a:r>
                        <a:rPr sz="1500" b="1">
                          <a:solidFill>
                            <a:srgbClr val="101918"/>
                          </a:solidFill>
                          <a:latin typeface="Arial"/>
                          <a:ea typeface="Arial"/>
                          <a:cs typeface="Arial"/>
                        </a:rPr>
                        <a:t>IEFA</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8.47%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8.47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3"/>
                  </a:ext>
                </a:extLst>
              </a:tr>
              <a:tr h="379095">
                <a:tc>
                  <a:txBody>
                    <a:bodyPr/>
                    <a:lstStyle/>
                    <a:p>
                      <a:pPr algn="l"/>
                      <a:r>
                        <a:rPr sz="1500" b="1">
                          <a:solidFill>
                            <a:srgbClr val="101918"/>
                          </a:solidFill>
                          <a:latin typeface="Arial"/>
                          <a:ea typeface="Arial"/>
                          <a:cs typeface="Arial"/>
                        </a:rPr>
                        <a:t>EEM</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8.30%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8.30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4"/>
                  </a:ext>
                </a:extLst>
              </a:tr>
              <a:tr h="379095">
                <a:tc>
                  <a:txBody>
                    <a:bodyPr/>
                    <a:lstStyle/>
                    <a:p>
                      <a:pPr algn="l"/>
                      <a:r>
                        <a:rPr sz="1500" b="1">
                          <a:solidFill>
                            <a:srgbClr val="101918"/>
                          </a:solidFill>
                          <a:latin typeface="Arial"/>
                          <a:ea typeface="Arial"/>
                          <a:cs typeface="Arial"/>
                        </a:rPr>
                        <a:t>IEF</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24.04%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24.04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5"/>
                  </a:ext>
                </a:extLst>
              </a:tr>
              <a:tr h="379095">
                <a:tc>
                  <a:txBody>
                    <a:bodyPr/>
                    <a:lstStyle/>
                    <a:p>
                      <a:pPr algn="l"/>
                      <a:r>
                        <a:rPr sz="1500" b="1">
                          <a:solidFill>
                            <a:srgbClr val="101918"/>
                          </a:solidFill>
                          <a:latin typeface="Arial"/>
                          <a:ea typeface="Arial"/>
                          <a:cs typeface="Arial"/>
                        </a:rPr>
                        <a:t>IGSB</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12.00%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12.00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6"/>
                  </a:ext>
                </a:extLst>
              </a:tr>
              <a:tr h="379095">
                <a:tc>
                  <a:txBody>
                    <a:bodyPr/>
                    <a:lstStyle/>
                    <a:p>
                      <a:pPr algn="l"/>
                      <a:r>
                        <a:rPr sz="1500" b="1">
                          <a:solidFill>
                            <a:srgbClr val="101918"/>
                          </a:solidFill>
                          <a:latin typeface="Arial"/>
                          <a:ea typeface="Arial"/>
                          <a:cs typeface="Arial"/>
                        </a:rPr>
                        <a:t>GLD</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11.75%</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11.75</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7"/>
                  </a:ext>
                </a:extLst>
              </a:tr>
              <a:tr h="379095">
                <a:tc>
                  <a:txBody>
                    <a:bodyPr/>
                    <a:lstStyle/>
                    <a:p>
                      <a:pPr algn="l"/>
                      <a:r>
                        <a:rPr sz="1500" b="1">
                          <a:solidFill>
                            <a:srgbClr val="101918"/>
                          </a:solidFill>
                          <a:latin typeface="Arial"/>
                          <a:ea typeface="Arial"/>
                          <a:cs typeface="Arial"/>
                        </a:rPr>
                        <a:t>DBC</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15.00%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15.00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8"/>
                  </a:ext>
                </a:extLst>
              </a:tr>
              <a:tr h="379095">
                <a:tc>
                  <a:txBody>
                    <a:bodyPr/>
                    <a:lstStyle/>
                    <a:p>
                      <a:pPr algn="l"/>
                      <a:r>
                        <a:rPr sz="1500" b="1">
                          <a:solidFill>
                            <a:srgbClr val="101918"/>
                          </a:solidFill>
                          <a:latin typeface="Arial"/>
                          <a:ea typeface="Arial"/>
                          <a:cs typeface="Arial"/>
                        </a:rPr>
                        <a:t>Total</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500" b="1">
                          <a:solidFill>
                            <a:srgbClr val="101918"/>
                          </a:solidFill>
                          <a:latin typeface="Arial"/>
                          <a:ea typeface="Arial"/>
                          <a:cs typeface="Arial"/>
                        </a:rPr>
                        <a:t>100.00%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500" b="1">
                          <a:solidFill>
                            <a:srgbClr val="101918"/>
                          </a:solidFill>
                          <a:latin typeface="Arial"/>
                          <a:ea typeface="Arial"/>
                          <a:cs typeface="Arial"/>
                        </a:rPr>
                        <a:t>100.00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extLst>
                  <a:ext uri="{0D108BD9-81ED-4DB2-BD59-A6C34878D82A}">
                    <a16:rowId xmlns:a16="http://schemas.microsoft.com/office/drawing/2014/main" val="10009"/>
                  </a:ext>
                </a:extLst>
              </a:tr>
            </a:tbl>
          </a:graphicData>
        </a:graphic>
      </p:graphicFrame>
      <p:sp>
        <p:nvSpPr>
          <p:cNvPr id="7" name="rule">
            <a:extLst>
              <a:ext uri="{FF2B5EF4-FFF2-40B4-BE49-F238E27FC236}">
                <a16:creationId xmlns:a16="http://schemas.microsoft.com/office/drawing/2014/main" id="{35D1901A-8F7D-44D4-85C3-5C31F4E83536}"/>
              </a:ext>
            </a:extLst>
          </p:cNvPr>
          <p:cNvSpPr>
            <a:spLocks noGrp="1"/>
          </p:cNvSpPr>
          <p:nvPr/>
        </p:nvSpPr>
        <p:spPr>
          <a:xfrm>
            <a:off x="6896100" y="5486400"/>
            <a:ext cx="4686300" cy="9525"/>
          </a:xfrm>
          <a:prstGeom prst="rect">
            <a:avLst/>
          </a:prstGeom>
          <a:solidFill>
            <a:srgbClr val="D6D9D3"/>
          </a:solidFill>
          <a:ln w="0">
            <a:noFill/>
          </a:ln>
        </p:spPr>
        <p:txBody>
          <a:bodyPr/>
          <a:lstStyle/>
          <a:p>
            <a:endParaRPr lang="it-IT"/>
          </a:p>
        </p:txBody>
      </p:sp>
      <p:sp>
        <p:nvSpPr>
          <p:cNvPr id="8" name="Fully invested, long only. IEF is our largest po">
            <a:extLst>
              <a:ext uri="{FF2B5EF4-FFF2-40B4-BE49-F238E27FC236}">
                <a16:creationId xmlns:a16="http://schemas.microsoft.com/office/drawing/2014/main" id="{B38E6BB4-E3CA-4842-B779-94924EAA9F2E}"/>
              </a:ext>
            </a:extLst>
          </p:cNvPr>
          <p:cNvSpPr>
            <a:spLocks noGrp="1"/>
          </p:cNvSpPr>
          <p:nvPr/>
        </p:nvSpPr>
        <p:spPr>
          <a:xfrm>
            <a:off x="6896100" y="5619750"/>
            <a:ext cx="4686300" cy="628650"/>
          </a:xfrm>
          <a:prstGeom prst="rect">
            <a:avLst/>
          </a:prstGeom>
          <a:noFill/>
          <a:ln w="0">
            <a:noFill/>
          </a:ln>
        </p:spPr>
        <p:txBody>
          <a:bodyPr wrap="square" lIns="0" tIns="0" rIns="0" bIns="0">
            <a:noAutofit/>
          </a:bodyPr>
          <a:lstStyle>
            <a:defPPr>
              <a:defRPr sz="1575" b="1">
                <a:solidFill>
                  <a:srgbClr val="3D6358"/>
                </a:solidFill>
                <a:latin typeface="Arial"/>
                <a:ea typeface="Arial"/>
                <a:cs typeface="Arial"/>
              </a:defRPr>
            </a:defPPr>
          </a:lstStyle>
          <a:p>
            <a:pPr>
              <a:defRPr sz="1575" b="1">
                <a:solidFill>
                  <a:srgbClr val="3D6358"/>
                </a:solidFill>
                <a:latin typeface="Arial"/>
                <a:ea typeface="Arial"/>
                <a:cs typeface="Arial"/>
              </a:defRPr>
            </a:pPr>
            <a:r>
              <a:rPr sz="1575" b="1">
                <a:solidFill>
                  <a:srgbClr val="3D6358"/>
                </a:solidFill>
                <a:latin typeface="Arial"/>
                <a:ea typeface="Arial"/>
                <a:cs typeface="Arial"/>
              </a:rPr>
              <a:t>Fully invested, long only. IEF is our largest position at 24.0%; IGSB and DBC sit exactly on their caps.</a:t>
            </a:r>
          </a:p>
        </p:txBody>
      </p:sp>
    </p:spTree>
    <p:extLst>
      <p:ext uri="{BB962C8B-B14F-4D97-AF65-F5344CB8AC3E}">
        <p14:creationId xmlns:p14="http://schemas.microsoft.com/office/powerpoint/2010/main" val="1181769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1" name="placeholder_1">
            <a:extLst>
              <a:ext uri="{FF2B5EF4-FFF2-40B4-BE49-F238E27FC236}">
                <a16:creationId xmlns:a16="http://schemas.microsoft.com/office/drawing/2014/main" id="{7E8E1016-7FC4-48DC-A204-B787AA571369}"/>
              </a:ext>
            </a:extLst>
          </p:cNvPr>
          <p:cNvSpPr>
            <a:spLocks noGrp="1"/>
          </p:cNvSpPr>
          <p:nvPr>
            <p:ph type="title"/>
          </p:nvPr>
        </p:nvSpPr>
        <p:spPr>
          <a:prstGeom prst="rect">
            <a:avLst/>
          </a:prstGeom>
          <a:noFill/>
          <a:ln w="0">
            <a:noFill/>
          </a:ln>
        </p:spPr>
        <p:txBody>
          <a:bodyPr lIns="0" tIns="0" rIns="0" bIns="0"/>
          <a:lstStyle>
            <a:defPPr>
              <a:defRPr sz="3300" b="1">
                <a:solidFill>
                  <a:srgbClr val="101918"/>
                </a:solidFill>
                <a:latin typeface="Arial"/>
                <a:ea typeface="Arial"/>
                <a:cs typeface="Arial"/>
              </a:defRPr>
            </a:defPPr>
          </a:lstStyle>
          <a:p>
            <a:pPr>
              <a:defRPr sz="3300" b="1">
                <a:solidFill>
                  <a:srgbClr val="101918"/>
                </a:solidFill>
                <a:latin typeface="Arial"/>
                <a:ea typeface="Arial"/>
                <a:cs typeface="Arial"/>
              </a:defRPr>
            </a:pPr>
            <a:r>
              <a:t>How we build our capped ERC</a:t>
            </a:r>
          </a:p>
        </p:txBody>
      </p:sp>
      <p:sp>
        <p:nvSpPr>
          <p:cNvPr id="2" name="CHECKPOINT 1 / ALLOCATION STRATEGY, STRUCTURE AN">
            <a:extLst>
              <a:ext uri="{FF2B5EF4-FFF2-40B4-BE49-F238E27FC236}">
                <a16:creationId xmlns:a16="http://schemas.microsoft.com/office/drawing/2014/main" id="{40F0E8E4-C04C-4013-B9BC-A1F9DCC0F218}"/>
              </a:ext>
            </a:extLst>
          </p:cNvPr>
          <p:cNvSpPr>
            <a:spLocks noGrp="1"/>
          </p:cNvSpPr>
          <p:nvPr/>
        </p:nvSpPr>
        <p:spPr>
          <a:xfrm>
            <a:off x="609600" y="295275"/>
            <a:ext cx="9486900" cy="238125"/>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CHECKPOINT 1 / ALLOCATION STRATEGY, STRUCTURE AND CAPS</a:t>
            </a:r>
          </a:p>
        </p:txBody>
      </p:sp>
      <p:pic>
        <p:nvPicPr>
          <p:cNvPr id="3" name="Immagine 2">
            <a:extLst>
              <a:ext uri="{FF2B5EF4-FFF2-40B4-BE49-F238E27FC236}">
                <a16:creationId xmlns:a16="http://schemas.microsoft.com/office/drawing/2014/main" id="{B823886A-811D-491E-AEA7-F15F6251C513}"/>
              </a:ext>
            </a:extLst>
          </p:cNvPr>
          <p:cNvPicPr>
            <a:picLocks noChangeAspect="1"/>
          </p:cNvPicPr>
          <p:nvPr/>
        </p:nvPicPr>
        <p:blipFill>
          <a:blip r:embed="rId3"/>
          <a:stretch/>
        </p:blipFill>
        <p:spPr>
          <a:xfrm>
            <a:off x="10435460" y="190500"/>
            <a:ext cx="1055630" cy="695325"/>
          </a:xfrm>
          <a:prstGeom prst="rect">
            <a:avLst/>
          </a:prstGeom>
        </p:spPr>
      </p:pic>
      <p:sp>
        <p:nvSpPr>
          <p:cNvPr id="4" name="05">
            <a:extLst>
              <a:ext uri="{FF2B5EF4-FFF2-40B4-BE49-F238E27FC236}">
                <a16:creationId xmlns:a16="http://schemas.microsoft.com/office/drawing/2014/main" id="{49248059-57B2-4947-A808-D06E8E0650D9}"/>
              </a:ext>
            </a:extLst>
          </p:cNvPr>
          <p:cNvSpPr>
            <a:spLocks noGrp="1"/>
          </p:cNvSpPr>
          <p:nvPr/>
        </p:nvSpPr>
        <p:spPr>
          <a:xfrm>
            <a:off x="10287000" y="6496050"/>
            <a:ext cx="1295400" cy="209550"/>
          </a:xfrm>
          <a:prstGeom prst="rect">
            <a:avLst/>
          </a:prstGeom>
          <a:noFill/>
          <a:ln w="0">
            <a:noFill/>
          </a:ln>
        </p:spPr>
        <p:txBody>
          <a:bodyPr wrap="square" lIns="0" tIns="0" rIns="0" bIns="0">
            <a:noAutofit/>
          </a:bodyPr>
          <a:lstStyle>
            <a:defPPr algn="r">
              <a:defRPr sz="1050">
                <a:solidFill>
                  <a:srgbClr val="64716B"/>
                </a:solidFill>
                <a:latin typeface="Arial"/>
                <a:ea typeface="Arial"/>
                <a:cs typeface="Arial"/>
              </a:defRPr>
            </a:defPPr>
          </a:lstStyle>
          <a:p>
            <a:pPr algn="r">
              <a:defRPr sz="1050">
                <a:solidFill>
                  <a:srgbClr val="64716B"/>
                </a:solidFill>
                <a:latin typeface="Arial"/>
                <a:ea typeface="Arial"/>
                <a:cs typeface="Arial"/>
              </a:defRPr>
            </a:pPr>
            <a:r>
              <a:rPr sz="1050">
                <a:solidFill>
                  <a:srgbClr val="64716B"/>
                </a:solidFill>
                <a:latin typeface="Arial"/>
                <a:ea typeface="Arial"/>
                <a:cs typeface="Arial"/>
              </a:rPr>
              <a:t>05</a:t>
            </a:r>
          </a:p>
        </p:txBody>
      </p:sp>
      <p:sp>
        <p:nvSpPr>
          <p:cNvPr id="5" name="1">
            <a:extLst>
              <a:ext uri="{FF2B5EF4-FFF2-40B4-BE49-F238E27FC236}">
                <a16:creationId xmlns:a16="http://schemas.microsoft.com/office/drawing/2014/main" id="{CCBC3615-414C-41E7-8295-9450375FA344}"/>
              </a:ext>
            </a:extLst>
          </p:cNvPr>
          <p:cNvSpPr>
            <a:spLocks noGrp="1"/>
          </p:cNvSpPr>
          <p:nvPr/>
        </p:nvSpPr>
        <p:spPr>
          <a:xfrm>
            <a:off x="609600" y="1581150"/>
            <a:ext cx="438150" cy="419100"/>
          </a:xfrm>
          <a:prstGeom prst="rect">
            <a:avLst/>
          </a:prstGeom>
          <a:noFill/>
          <a:ln w="0">
            <a:noFill/>
          </a:ln>
        </p:spPr>
        <p:txBody>
          <a:bodyPr wrap="square" lIns="0" tIns="0" rIns="0" bIns="0">
            <a:noAutofit/>
          </a:bodyPr>
          <a:lstStyle>
            <a:defPPr>
              <a:defRPr sz="2550" b="1">
                <a:solidFill>
                  <a:srgbClr val="9B8052"/>
                </a:solidFill>
                <a:latin typeface="Arial"/>
                <a:ea typeface="Arial"/>
                <a:cs typeface="Arial"/>
              </a:defRPr>
            </a:defPPr>
          </a:lstStyle>
          <a:p>
            <a:pPr>
              <a:defRPr sz="2550" b="1">
                <a:solidFill>
                  <a:srgbClr val="9B8052"/>
                </a:solidFill>
                <a:latin typeface="Arial"/>
                <a:ea typeface="Arial"/>
                <a:cs typeface="Arial"/>
              </a:defRPr>
            </a:pPr>
            <a:r>
              <a:rPr sz="2550" b="1">
                <a:solidFill>
                  <a:srgbClr val="9B8052"/>
                </a:solidFill>
                <a:latin typeface="Arial"/>
                <a:ea typeface="Arial"/>
                <a:cs typeface="Arial"/>
              </a:rPr>
              <a:t>1</a:t>
            </a:r>
          </a:p>
        </p:txBody>
      </p:sp>
      <p:sp>
        <p:nvSpPr>
          <p:cNvPr id="6" name="Start from an equal risk budget">
            <a:extLst>
              <a:ext uri="{FF2B5EF4-FFF2-40B4-BE49-F238E27FC236}">
                <a16:creationId xmlns:a16="http://schemas.microsoft.com/office/drawing/2014/main" id="{9B9E63D0-EC03-40EE-8A79-5318D94ADFFF}"/>
              </a:ext>
            </a:extLst>
          </p:cNvPr>
          <p:cNvSpPr>
            <a:spLocks noGrp="1"/>
          </p:cNvSpPr>
          <p:nvPr/>
        </p:nvSpPr>
        <p:spPr>
          <a:xfrm>
            <a:off x="1143000" y="1600200"/>
            <a:ext cx="5181600" cy="304800"/>
          </a:xfrm>
          <a:prstGeom prst="rect">
            <a:avLst/>
          </a:prstGeom>
          <a:noFill/>
          <a:ln w="0">
            <a:noFill/>
          </a:ln>
        </p:spPr>
        <p:txBody>
          <a:bodyPr wrap="square" lIns="0" tIns="0" rIns="0" bIns="0">
            <a:noAutofit/>
          </a:bodyPr>
          <a:lstStyle>
            <a:defPPr>
              <a:defRPr sz="1875" b="1">
                <a:solidFill>
                  <a:srgbClr val="101918"/>
                </a:solidFill>
                <a:latin typeface="Arial"/>
                <a:ea typeface="Arial"/>
                <a:cs typeface="Arial"/>
              </a:defRPr>
            </a:defPPr>
          </a:lstStyle>
          <a:p>
            <a:pPr>
              <a:defRPr sz="1875" b="1">
                <a:solidFill>
                  <a:srgbClr val="101918"/>
                </a:solidFill>
                <a:latin typeface="Arial"/>
                <a:ea typeface="Arial"/>
                <a:cs typeface="Arial"/>
              </a:defRPr>
            </a:pPr>
            <a:r>
              <a:rPr sz="1875" b="1">
                <a:solidFill>
                  <a:srgbClr val="101918"/>
                </a:solidFill>
                <a:latin typeface="Arial"/>
                <a:ea typeface="Arial"/>
                <a:cs typeface="Arial"/>
              </a:rPr>
              <a:t>Start from an equal risk budget</a:t>
            </a:r>
          </a:p>
        </p:txBody>
      </p:sp>
      <p:sp>
        <p:nvSpPr>
          <p:cNvPr id="7" name="Each of the eight funds is given a target of 12.">
            <a:extLst>
              <a:ext uri="{FF2B5EF4-FFF2-40B4-BE49-F238E27FC236}">
                <a16:creationId xmlns:a16="http://schemas.microsoft.com/office/drawing/2014/main" id="{15D9E6F4-0EDD-4BE9-A265-07321BC68889}"/>
              </a:ext>
            </a:extLst>
          </p:cNvPr>
          <p:cNvSpPr>
            <a:spLocks noGrp="1"/>
          </p:cNvSpPr>
          <p:nvPr/>
        </p:nvSpPr>
        <p:spPr>
          <a:xfrm>
            <a:off x="1143000" y="1943100"/>
            <a:ext cx="5181600" cy="742950"/>
          </a:xfrm>
          <a:prstGeom prst="rect">
            <a:avLst/>
          </a:prstGeom>
          <a:noFill/>
          <a:ln w="0">
            <a:noFill/>
          </a:ln>
        </p:spPr>
        <p:txBody>
          <a:bodyPr wrap="square" lIns="0" tIns="0" rIns="0" bIns="0">
            <a:noAutofit/>
          </a:bodyPr>
          <a:lstStyle>
            <a:defPPr>
              <a:defRPr sz="1575">
                <a:solidFill>
                  <a:srgbClr val="64716B"/>
                </a:solidFill>
                <a:latin typeface="Arial"/>
                <a:ea typeface="Arial"/>
                <a:cs typeface="Arial"/>
              </a:defRPr>
            </a:defPPr>
          </a:lstStyle>
          <a:p>
            <a:pPr>
              <a:defRPr sz="1575">
                <a:solidFill>
                  <a:srgbClr val="64716B"/>
                </a:solidFill>
                <a:latin typeface="Arial"/>
                <a:ea typeface="Arial"/>
                <a:cs typeface="Arial"/>
              </a:defRPr>
            </a:pPr>
            <a:r>
              <a:rPr sz="1575">
                <a:solidFill>
                  <a:srgbClr val="64716B"/>
                </a:solidFill>
                <a:latin typeface="Arial"/>
                <a:ea typeface="Arial"/>
                <a:cs typeface="Arial"/>
              </a:rPr>
              <a:t>Each of the eight funds is given a target of 12.5% of total portfolio risk, not 12.5% of capital.</a:t>
            </a:r>
          </a:p>
        </p:txBody>
      </p:sp>
      <p:sp>
        <p:nvSpPr>
          <p:cNvPr id="8" name="2">
            <a:extLst>
              <a:ext uri="{FF2B5EF4-FFF2-40B4-BE49-F238E27FC236}">
                <a16:creationId xmlns:a16="http://schemas.microsoft.com/office/drawing/2014/main" id="{AC14B4CF-FF98-436B-8D6A-7730747AC3F0}"/>
              </a:ext>
            </a:extLst>
          </p:cNvPr>
          <p:cNvSpPr>
            <a:spLocks noGrp="1"/>
          </p:cNvSpPr>
          <p:nvPr/>
        </p:nvSpPr>
        <p:spPr>
          <a:xfrm>
            <a:off x="609600" y="2686050"/>
            <a:ext cx="438150" cy="419100"/>
          </a:xfrm>
          <a:prstGeom prst="rect">
            <a:avLst/>
          </a:prstGeom>
          <a:noFill/>
          <a:ln w="0">
            <a:noFill/>
          </a:ln>
        </p:spPr>
        <p:txBody>
          <a:bodyPr wrap="square" lIns="0" tIns="0" rIns="0" bIns="0">
            <a:noAutofit/>
          </a:bodyPr>
          <a:lstStyle>
            <a:defPPr>
              <a:defRPr sz="2550" b="1">
                <a:solidFill>
                  <a:srgbClr val="9B8052"/>
                </a:solidFill>
                <a:latin typeface="Arial"/>
                <a:ea typeface="Arial"/>
                <a:cs typeface="Arial"/>
              </a:defRPr>
            </a:defPPr>
          </a:lstStyle>
          <a:p>
            <a:pPr>
              <a:defRPr sz="2550" b="1">
                <a:solidFill>
                  <a:srgbClr val="9B8052"/>
                </a:solidFill>
                <a:latin typeface="Arial"/>
                <a:ea typeface="Arial"/>
                <a:cs typeface="Arial"/>
              </a:defRPr>
            </a:pPr>
            <a:r>
              <a:rPr sz="2550" b="1">
                <a:solidFill>
                  <a:srgbClr val="9B8052"/>
                </a:solidFill>
                <a:latin typeface="Arial"/>
                <a:ea typeface="Arial"/>
                <a:cs typeface="Arial"/>
              </a:rPr>
              <a:t>2</a:t>
            </a:r>
          </a:p>
        </p:txBody>
      </p:sp>
      <p:sp>
        <p:nvSpPr>
          <p:cNvPr id="9" name="Solve on the full covariance matrix">
            <a:extLst>
              <a:ext uri="{FF2B5EF4-FFF2-40B4-BE49-F238E27FC236}">
                <a16:creationId xmlns:a16="http://schemas.microsoft.com/office/drawing/2014/main" id="{968A8C50-0E69-474C-83FC-17D561FB0969}"/>
              </a:ext>
            </a:extLst>
          </p:cNvPr>
          <p:cNvSpPr>
            <a:spLocks noGrp="1"/>
          </p:cNvSpPr>
          <p:nvPr/>
        </p:nvSpPr>
        <p:spPr>
          <a:xfrm>
            <a:off x="1143000" y="2705100"/>
            <a:ext cx="5181600" cy="304800"/>
          </a:xfrm>
          <a:prstGeom prst="rect">
            <a:avLst/>
          </a:prstGeom>
          <a:noFill/>
          <a:ln w="0">
            <a:noFill/>
          </a:ln>
        </p:spPr>
        <p:txBody>
          <a:bodyPr wrap="square" lIns="0" tIns="0" rIns="0" bIns="0">
            <a:noAutofit/>
          </a:bodyPr>
          <a:lstStyle>
            <a:defPPr>
              <a:defRPr sz="1875" b="1">
                <a:solidFill>
                  <a:srgbClr val="101918"/>
                </a:solidFill>
                <a:latin typeface="Arial"/>
                <a:ea typeface="Arial"/>
                <a:cs typeface="Arial"/>
              </a:defRPr>
            </a:defPPr>
          </a:lstStyle>
          <a:p>
            <a:pPr>
              <a:defRPr sz="1875" b="1">
                <a:solidFill>
                  <a:srgbClr val="101918"/>
                </a:solidFill>
                <a:latin typeface="Arial"/>
                <a:ea typeface="Arial"/>
                <a:cs typeface="Arial"/>
              </a:defRPr>
            </a:pPr>
            <a:r>
              <a:rPr sz="1875" b="1">
                <a:solidFill>
                  <a:srgbClr val="101918"/>
                </a:solidFill>
                <a:latin typeface="Arial"/>
                <a:ea typeface="Arial"/>
                <a:cs typeface="Arial"/>
              </a:rPr>
              <a:t>Solve on the full covariance matrix</a:t>
            </a:r>
          </a:p>
        </p:txBody>
      </p:sp>
      <p:sp>
        <p:nvSpPr>
          <p:cNvPr id="10" name="Estimated on 60 complete monthly USD returns, Oc">
            <a:extLst>
              <a:ext uri="{FF2B5EF4-FFF2-40B4-BE49-F238E27FC236}">
                <a16:creationId xmlns:a16="http://schemas.microsoft.com/office/drawing/2014/main" id="{24BC5CFE-3C17-48AA-939E-DA5F2CC2DA7C}"/>
              </a:ext>
            </a:extLst>
          </p:cNvPr>
          <p:cNvSpPr>
            <a:spLocks noGrp="1"/>
          </p:cNvSpPr>
          <p:nvPr/>
        </p:nvSpPr>
        <p:spPr>
          <a:xfrm>
            <a:off x="1143000" y="3048000"/>
            <a:ext cx="5181600" cy="742950"/>
          </a:xfrm>
          <a:prstGeom prst="rect">
            <a:avLst/>
          </a:prstGeom>
          <a:noFill/>
          <a:ln w="0">
            <a:noFill/>
          </a:ln>
        </p:spPr>
        <p:txBody>
          <a:bodyPr wrap="square" lIns="0" tIns="0" rIns="0" bIns="0">
            <a:noAutofit/>
          </a:bodyPr>
          <a:lstStyle>
            <a:defPPr>
              <a:defRPr sz="1575">
                <a:solidFill>
                  <a:srgbClr val="64716B"/>
                </a:solidFill>
                <a:latin typeface="Arial"/>
                <a:ea typeface="Arial"/>
                <a:cs typeface="Arial"/>
              </a:defRPr>
            </a:defPPr>
          </a:lstStyle>
          <a:p>
            <a:pPr>
              <a:defRPr sz="1575">
                <a:solidFill>
                  <a:srgbClr val="64716B"/>
                </a:solidFill>
                <a:latin typeface="Arial"/>
                <a:ea typeface="Arial"/>
                <a:cs typeface="Arial"/>
              </a:defRPr>
            </a:pPr>
            <a:r>
              <a:rPr sz="1575">
                <a:solidFill>
                  <a:srgbClr val="64716B"/>
                </a:solidFill>
                <a:latin typeface="Arial"/>
                <a:ea typeface="Arial"/>
                <a:cs typeface="Arial"/>
              </a:rPr>
              <a:t>Estimated on 60 complete monthly USD returns, Oct 2021–Sep 2026, using every volatility and every pairwise correlation.</a:t>
            </a:r>
          </a:p>
        </p:txBody>
      </p:sp>
      <p:sp>
        <p:nvSpPr>
          <p:cNvPr id="11" name="3">
            <a:extLst>
              <a:ext uri="{FF2B5EF4-FFF2-40B4-BE49-F238E27FC236}">
                <a16:creationId xmlns:a16="http://schemas.microsoft.com/office/drawing/2014/main" id="{47E66BF3-0C50-414D-8764-9DB2F82713BF}"/>
              </a:ext>
            </a:extLst>
          </p:cNvPr>
          <p:cNvSpPr>
            <a:spLocks noGrp="1"/>
          </p:cNvSpPr>
          <p:nvPr/>
        </p:nvSpPr>
        <p:spPr>
          <a:xfrm>
            <a:off x="609600" y="3943350"/>
            <a:ext cx="438150" cy="419100"/>
          </a:xfrm>
          <a:prstGeom prst="rect">
            <a:avLst/>
          </a:prstGeom>
          <a:noFill/>
          <a:ln w="0">
            <a:noFill/>
          </a:ln>
        </p:spPr>
        <p:txBody>
          <a:bodyPr wrap="square" lIns="0" tIns="0" rIns="0" bIns="0">
            <a:noAutofit/>
          </a:bodyPr>
          <a:lstStyle>
            <a:defPPr>
              <a:defRPr sz="2550" b="1">
                <a:solidFill>
                  <a:srgbClr val="9B8052"/>
                </a:solidFill>
                <a:latin typeface="Arial"/>
                <a:ea typeface="Arial"/>
                <a:cs typeface="Arial"/>
              </a:defRPr>
            </a:defPPr>
          </a:lstStyle>
          <a:p>
            <a:pPr>
              <a:defRPr sz="2550" b="1">
                <a:solidFill>
                  <a:srgbClr val="9B8052"/>
                </a:solidFill>
                <a:latin typeface="Arial"/>
                <a:ea typeface="Arial"/>
                <a:cs typeface="Arial"/>
              </a:defRPr>
            </a:pPr>
            <a:r>
              <a:rPr sz="2550" b="1">
                <a:solidFill>
                  <a:srgbClr val="9B8052"/>
                </a:solidFill>
                <a:latin typeface="Arial"/>
                <a:ea typeface="Arial"/>
                <a:cs typeface="Arial"/>
              </a:rPr>
              <a:t>3</a:t>
            </a:r>
          </a:p>
        </p:txBody>
      </p:sp>
      <p:sp>
        <p:nvSpPr>
          <p:cNvPr id="12" name="Apply hard structural constraints">
            <a:extLst>
              <a:ext uri="{FF2B5EF4-FFF2-40B4-BE49-F238E27FC236}">
                <a16:creationId xmlns:a16="http://schemas.microsoft.com/office/drawing/2014/main" id="{5A2B4667-66D1-477A-AC6C-0294FBB2B8A3}"/>
              </a:ext>
            </a:extLst>
          </p:cNvPr>
          <p:cNvSpPr>
            <a:spLocks noGrp="1"/>
          </p:cNvSpPr>
          <p:nvPr/>
        </p:nvSpPr>
        <p:spPr>
          <a:xfrm>
            <a:off x="1143000" y="3962400"/>
            <a:ext cx="5181600" cy="304800"/>
          </a:xfrm>
          <a:prstGeom prst="rect">
            <a:avLst/>
          </a:prstGeom>
          <a:noFill/>
          <a:ln w="0">
            <a:noFill/>
          </a:ln>
        </p:spPr>
        <p:txBody>
          <a:bodyPr wrap="square" lIns="0" tIns="0" rIns="0" bIns="0">
            <a:noAutofit/>
          </a:bodyPr>
          <a:lstStyle>
            <a:defPPr>
              <a:defRPr sz="1875" b="1">
                <a:solidFill>
                  <a:srgbClr val="101918"/>
                </a:solidFill>
                <a:latin typeface="Arial"/>
                <a:ea typeface="Arial"/>
                <a:cs typeface="Arial"/>
              </a:defRPr>
            </a:defPPr>
          </a:lstStyle>
          <a:p>
            <a:pPr>
              <a:defRPr sz="1875" b="1">
                <a:solidFill>
                  <a:srgbClr val="101918"/>
                </a:solidFill>
                <a:latin typeface="Arial"/>
                <a:ea typeface="Arial"/>
                <a:cs typeface="Arial"/>
              </a:defRPr>
            </a:pPr>
            <a:r>
              <a:rPr sz="1875" b="1">
                <a:solidFill>
                  <a:srgbClr val="101918"/>
                </a:solidFill>
                <a:latin typeface="Arial"/>
                <a:ea typeface="Arial"/>
                <a:cs typeface="Arial"/>
              </a:rPr>
              <a:t>Apply hard structural constraints</a:t>
            </a:r>
          </a:p>
        </p:txBody>
      </p:sp>
      <p:sp>
        <p:nvSpPr>
          <p:cNvPr id="13" name="Long only, fully invested, no leverage, plus our">
            <a:extLst>
              <a:ext uri="{FF2B5EF4-FFF2-40B4-BE49-F238E27FC236}">
                <a16:creationId xmlns:a16="http://schemas.microsoft.com/office/drawing/2014/main" id="{30C5E643-7A8B-428B-9447-8514E3F3F530}"/>
              </a:ext>
            </a:extLst>
          </p:cNvPr>
          <p:cNvSpPr>
            <a:spLocks noGrp="1"/>
          </p:cNvSpPr>
          <p:nvPr/>
        </p:nvSpPr>
        <p:spPr>
          <a:xfrm>
            <a:off x="1143000" y="4305300"/>
            <a:ext cx="5181600" cy="742950"/>
          </a:xfrm>
          <a:prstGeom prst="rect">
            <a:avLst/>
          </a:prstGeom>
          <a:noFill/>
          <a:ln w="0">
            <a:noFill/>
          </a:ln>
        </p:spPr>
        <p:txBody>
          <a:bodyPr wrap="square" lIns="0" tIns="0" rIns="0" bIns="0">
            <a:noAutofit/>
          </a:bodyPr>
          <a:lstStyle>
            <a:defPPr>
              <a:defRPr sz="1575">
                <a:solidFill>
                  <a:srgbClr val="64716B"/>
                </a:solidFill>
                <a:latin typeface="Arial"/>
                <a:ea typeface="Arial"/>
                <a:cs typeface="Arial"/>
              </a:defRPr>
            </a:defPPr>
          </a:lstStyle>
          <a:p>
            <a:pPr>
              <a:defRPr sz="1575">
                <a:solidFill>
                  <a:srgbClr val="64716B"/>
                </a:solidFill>
                <a:latin typeface="Arial"/>
                <a:ea typeface="Arial"/>
                <a:cs typeface="Arial"/>
              </a:defRPr>
            </a:pPr>
            <a:r>
              <a:rPr sz="1575">
                <a:solidFill>
                  <a:srgbClr val="64716B"/>
                </a:solidFill>
                <a:latin typeface="Arial"/>
                <a:ea typeface="Arial"/>
                <a:cs typeface="Arial"/>
              </a:rPr>
              <a:t>Long only, fully invested, no leverage, plus our own instrument caps.</a:t>
            </a:r>
          </a:p>
        </p:txBody>
      </p:sp>
      <p:sp>
        <p:nvSpPr>
          <p:cNvPr id="14" name="4">
            <a:extLst>
              <a:ext uri="{FF2B5EF4-FFF2-40B4-BE49-F238E27FC236}">
                <a16:creationId xmlns:a16="http://schemas.microsoft.com/office/drawing/2014/main" id="{0FB4976B-4398-450B-A2F7-F00FBB621824}"/>
              </a:ext>
            </a:extLst>
          </p:cNvPr>
          <p:cNvSpPr>
            <a:spLocks noGrp="1"/>
          </p:cNvSpPr>
          <p:nvPr/>
        </p:nvSpPr>
        <p:spPr>
          <a:xfrm>
            <a:off x="609600" y="4933950"/>
            <a:ext cx="438150" cy="419100"/>
          </a:xfrm>
          <a:prstGeom prst="rect">
            <a:avLst/>
          </a:prstGeom>
          <a:noFill/>
          <a:ln w="0">
            <a:noFill/>
          </a:ln>
        </p:spPr>
        <p:txBody>
          <a:bodyPr wrap="square" lIns="0" tIns="0" rIns="0" bIns="0">
            <a:noAutofit/>
          </a:bodyPr>
          <a:lstStyle>
            <a:defPPr>
              <a:defRPr sz="2550" b="1">
                <a:solidFill>
                  <a:srgbClr val="9B8052"/>
                </a:solidFill>
                <a:latin typeface="Arial"/>
                <a:ea typeface="Arial"/>
                <a:cs typeface="Arial"/>
              </a:defRPr>
            </a:defPPr>
          </a:lstStyle>
          <a:p>
            <a:pPr>
              <a:defRPr sz="2550" b="1">
                <a:solidFill>
                  <a:srgbClr val="9B8052"/>
                </a:solidFill>
                <a:latin typeface="Arial"/>
                <a:ea typeface="Arial"/>
                <a:cs typeface="Arial"/>
              </a:defRPr>
            </a:pPr>
            <a:r>
              <a:rPr sz="2550" b="1">
                <a:solidFill>
                  <a:srgbClr val="9B8052"/>
                </a:solidFill>
                <a:latin typeface="Arial"/>
                <a:ea typeface="Arial"/>
                <a:cs typeface="Arial"/>
              </a:rPr>
              <a:t>4</a:t>
            </a:r>
          </a:p>
        </p:txBody>
      </p:sp>
      <p:sp>
        <p:nvSpPr>
          <p:cNvPr id="15" name="Verify before accepting the solution">
            <a:extLst>
              <a:ext uri="{FF2B5EF4-FFF2-40B4-BE49-F238E27FC236}">
                <a16:creationId xmlns:a16="http://schemas.microsoft.com/office/drawing/2014/main" id="{A343D41F-721A-4098-BED9-8776F7D834A0}"/>
              </a:ext>
            </a:extLst>
          </p:cNvPr>
          <p:cNvSpPr>
            <a:spLocks noGrp="1"/>
          </p:cNvSpPr>
          <p:nvPr/>
        </p:nvSpPr>
        <p:spPr>
          <a:xfrm>
            <a:off x="1143000" y="4953000"/>
            <a:ext cx="5181600" cy="304800"/>
          </a:xfrm>
          <a:prstGeom prst="rect">
            <a:avLst/>
          </a:prstGeom>
          <a:noFill/>
          <a:ln w="0">
            <a:noFill/>
          </a:ln>
        </p:spPr>
        <p:txBody>
          <a:bodyPr wrap="square" lIns="0" tIns="0" rIns="0" bIns="0">
            <a:noAutofit/>
          </a:bodyPr>
          <a:lstStyle>
            <a:defPPr>
              <a:defRPr sz="1875" b="1">
                <a:solidFill>
                  <a:srgbClr val="101918"/>
                </a:solidFill>
                <a:latin typeface="Arial"/>
                <a:ea typeface="Arial"/>
                <a:cs typeface="Arial"/>
              </a:defRPr>
            </a:defPPr>
          </a:lstStyle>
          <a:p>
            <a:pPr>
              <a:defRPr sz="1875" b="1">
                <a:solidFill>
                  <a:srgbClr val="101918"/>
                </a:solidFill>
                <a:latin typeface="Arial"/>
                <a:ea typeface="Arial"/>
                <a:cs typeface="Arial"/>
              </a:defRPr>
            </a:pPr>
            <a:r>
              <a:rPr sz="1875" b="1">
                <a:solidFill>
                  <a:srgbClr val="101918"/>
                </a:solidFill>
                <a:latin typeface="Arial"/>
                <a:ea typeface="Arial"/>
                <a:cs typeface="Arial"/>
              </a:rPr>
              <a:t>Verify before accepting the solution</a:t>
            </a:r>
          </a:p>
        </p:txBody>
      </p:sp>
      <p:sp>
        <p:nvSpPr>
          <p:cNvPr id="16" name="Check the 50% equity ceiling and the 7–9% ex ant">
            <a:extLst>
              <a:ext uri="{FF2B5EF4-FFF2-40B4-BE49-F238E27FC236}">
                <a16:creationId xmlns:a16="http://schemas.microsoft.com/office/drawing/2014/main" id="{BF80BC03-CC79-4026-A4E2-5A872D46E162}"/>
              </a:ext>
            </a:extLst>
          </p:cNvPr>
          <p:cNvSpPr>
            <a:spLocks noGrp="1"/>
          </p:cNvSpPr>
          <p:nvPr/>
        </p:nvSpPr>
        <p:spPr>
          <a:xfrm>
            <a:off x="1143000" y="5295900"/>
            <a:ext cx="5181600" cy="742950"/>
          </a:xfrm>
          <a:prstGeom prst="rect">
            <a:avLst/>
          </a:prstGeom>
          <a:noFill/>
          <a:ln w="0">
            <a:noFill/>
          </a:ln>
        </p:spPr>
        <p:txBody>
          <a:bodyPr wrap="square" lIns="0" tIns="0" rIns="0" bIns="0">
            <a:noAutofit/>
          </a:bodyPr>
          <a:lstStyle>
            <a:defPPr>
              <a:defRPr sz="1575">
                <a:solidFill>
                  <a:srgbClr val="64716B"/>
                </a:solidFill>
                <a:latin typeface="Arial"/>
                <a:ea typeface="Arial"/>
                <a:cs typeface="Arial"/>
              </a:defRPr>
            </a:defPPr>
          </a:lstStyle>
          <a:p>
            <a:pPr>
              <a:defRPr sz="1575">
                <a:solidFill>
                  <a:srgbClr val="64716B"/>
                </a:solidFill>
                <a:latin typeface="Arial"/>
                <a:ea typeface="Arial"/>
                <a:cs typeface="Arial"/>
              </a:defRPr>
            </a:pPr>
            <a:r>
              <a:rPr sz="1575">
                <a:solidFill>
                  <a:srgbClr val="64716B"/>
                </a:solidFill>
                <a:latin typeface="Arial"/>
                <a:ea typeface="Arial"/>
                <a:cs typeface="Arial"/>
              </a:rPr>
              <a:t>Check the 50% equity ceiling and the 7–9% ex ante band. Our solution lands at 8.58%.</a:t>
            </a:r>
          </a:p>
        </p:txBody>
      </p:sp>
      <p:sp>
        <p:nvSpPr>
          <p:cNvPr id="17" name="Caps we impose">
            <a:extLst>
              <a:ext uri="{FF2B5EF4-FFF2-40B4-BE49-F238E27FC236}">
                <a16:creationId xmlns:a16="http://schemas.microsoft.com/office/drawing/2014/main" id="{929DA8DF-24B9-4119-8EAC-D42AEAA7F143}"/>
              </a:ext>
            </a:extLst>
          </p:cNvPr>
          <p:cNvSpPr>
            <a:spLocks noGrp="1"/>
          </p:cNvSpPr>
          <p:nvPr/>
        </p:nvSpPr>
        <p:spPr>
          <a:xfrm>
            <a:off x="6819900" y="1581150"/>
            <a:ext cx="4762500" cy="304800"/>
          </a:xfrm>
          <a:prstGeom prst="rect">
            <a:avLst/>
          </a:prstGeom>
          <a:noFill/>
          <a:ln w="0">
            <a:noFill/>
          </a:ln>
        </p:spPr>
        <p:txBody>
          <a:bodyPr wrap="square" lIns="0" tIns="0" rIns="0" bIns="0">
            <a:noAutofit/>
          </a:bodyPr>
          <a:lstStyle>
            <a:defPPr>
              <a:defRPr sz="1875" b="1">
                <a:solidFill>
                  <a:srgbClr val="101918"/>
                </a:solidFill>
                <a:latin typeface="Arial"/>
                <a:ea typeface="Arial"/>
                <a:cs typeface="Arial"/>
              </a:defRPr>
            </a:defPPr>
          </a:lstStyle>
          <a:p>
            <a:pPr>
              <a:defRPr sz="1875" b="1">
                <a:solidFill>
                  <a:srgbClr val="101918"/>
                </a:solidFill>
                <a:latin typeface="Arial"/>
                <a:ea typeface="Arial"/>
                <a:cs typeface="Arial"/>
              </a:defRPr>
            </a:pPr>
            <a:r>
              <a:rPr sz="1875" b="1">
                <a:solidFill>
                  <a:srgbClr val="101918"/>
                </a:solidFill>
                <a:latin typeface="Arial"/>
                <a:ea typeface="Arial"/>
                <a:cs typeface="Arial"/>
              </a:rPr>
              <a:t>Caps we impose</a:t>
            </a:r>
          </a:p>
        </p:txBody>
      </p:sp>
      <p:graphicFrame>
        <p:nvGraphicFramePr>
          <p:cNvPr id="18" name="Tabella 17">
            <a:extLst>
              <a:ext uri="{FF2B5EF4-FFF2-40B4-BE49-F238E27FC236}">
                <a16:creationId xmlns:a16="http://schemas.microsoft.com/office/drawing/2014/main" id="{0334DADE-246E-4F58-8765-34CBCB633551}"/>
              </a:ext>
            </a:extLst>
          </p:cNvPr>
          <p:cNvGraphicFramePr/>
          <p:nvPr/>
        </p:nvGraphicFramePr>
        <p:xfrm>
          <a:off x="6819900" y="1962150"/>
          <a:ext cx="4762500" cy="2114550"/>
        </p:xfrm>
        <a:graphic>
          <a:graphicData uri="http://schemas.openxmlformats.org/drawingml/2006/table">
            <a:tbl>
              <a:tblPr/>
              <a:tblGrid>
                <a:gridCol w="1714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422910">
                <a:tc>
                  <a:txBody>
                    <a:bodyPr/>
                    <a:lstStyle/>
                    <a:p>
                      <a:pPr algn="l"/>
                      <a:r>
                        <a:rPr sz="1575" b="1">
                          <a:solidFill>
                            <a:srgbClr val="FFFFFF"/>
                          </a:solidFill>
                          <a:latin typeface="Arial"/>
                          <a:ea typeface="Arial"/>
                          <a:cs typeface="Arial"/>
                        </a:rPr>
                        <a:t>Cap</a:t>
                      </a:r>
                    </a:p>
                  </a:txBody>
                  <a:tcPr anchor="ctr">
                    <a:lnL w="5239">
                      <a:solidFill>
                        <a:srgbClr val="D6D9D3"/>
                      </a:solidFill>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575" b="1">
                          <a:solidFill>
                            <a:srgbClr val="FFFFFF"/>
                          </a:solidFill>
                          <a:latin typeface="Arial"/>
                          <a:ea typeface="Arial"/>
                          <a:cs typeface="Arial"/>
                        </a:rPr>
                        <a:t>Level</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575" b="1">
                          <a:solidFill>
                            <a:srgbClr val="FFFFFF"/>
                          </a:solidFill>
                          <a:latin typeface="Arial"/>
                          <a:ea typeface="Arial"/>
                          <a:cs typeface="Arial"/>
                        </a:rPr>
                        <a:t>Status</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extLst>
                  <a:ext uri="{0D108BD9-81ED-4DB2-BD59-A6C34878D82A}">
                    <a16:rowId xmlns:a16="http://schemas.microsoft.com/office/drawing/2014/main" val="10000"/>
                  </a:ext>
                </a:extLst>
              </a:tr>
              <a:tr h="422910">
                <a:tc>
                  <a:txBody>
                    <a:bodyPr/>
                    <a:lstStyle/>
                    <a:p>
                      <a:pPr algn="l"/>
                      <a:r>
                        <a:rPr sz="1575" b="1">
                          <a:solidFill>
                            <a:srgbClr val="101918"/>
                          </a:solidFill>
                          <a:latin typeface="Arial"/>
                          <a:ea typeface="Arial"/>
                          <a:cs typeface="Arial"/>
                        </a:rPr>
                        <a:t>Equities</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b="0">
                          <a:solidFill>
                            <a:srgbClr val="101918"/>
                          </a:solidFill>
                          <a:latin typeface="Arial"/>
                          <a:ea typeface="Arial"/>
                          <a:cs typeface="Arial"/>
                        </a:rPr>
                        <a:t>≤ 50%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b="0">
                          <a:solidFill>
                            <a:srgbClr val="101918"/>
                          </a:solidFill>
                          <a:latin typeface="Arial"/>
                          <a:ea typeface="Arial"/>
                          <a:cs typeface="Arial"/>
                        </a:rPr>
                        <a:t>37.2%, slack</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1"/>
                  </a:ext>
                </a:extLst>
              </a:tr>
              <a:tr h="422910">
                <a:tc>
                  <a:txBody>
                    <a:bodyPr/>
                    <a:lstStyle/>
                    <a:p>
                      <a:pPr algn="l"/>
                      <a:r>
                        <a:rPr sz="1575" b="1">
                          <a:solidFill>
                            <a:srgbClr val="101918"/>
                          </a:solidFill>
                          <a:latin typeface="Arial"/>
                          <a:ea typeface="Arial"/>
                          <a:cs typeface="Arial"/>
                        </a:rPr>
                        <a:t>IGSB</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575" b="1">
                          <a:solidFill>
                            <a:srgbClr val="101918"/>
                          </a:solidFill>
                          <a:latin typeface="Arial"/>
                          <a:ea typeface="Arial"/>
                          <a:cs typeface="Arial"/>
                        </a:rPr>
                        <a:t>≤ 12%</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575" b="1">
                          <a:solidFill>
                            <a:srgbClr val="101918"/>
                          </a:solidFill>
                          <a:latin typeface="Arial"/>
                          <a:ea typeface="Arial"/>
                          <a:cs typeface="Arial"/>
                        </a:rPr>
                        <a:t>12.0%, binding</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extLst>
                  <a:ext uri="{0D108BD9-81ED-4DB2-BD59-A6C34878D82A}">
                    <a16:rowId xmlns:a16="http://schemas.microsoft.com/office/drawing/2014/main" val="10002"/>
                  </a:ext>
                </a:extLst>
              </a:tr>
              <a:tr h="422910">
                <a:tc>
                  <a:txBody>
                    <a:bodyPr/>
                    <a:lstStyle/>
                    <a:p>
                      <a:pPr algn="l"/>
                      <a:r>
                        <a:rPr sz="1575" b="1">
                          <a:solidFill>
                            <a:srgbClr val="101918"/>
                          </a:solidFill>
                          <a:latin typeface="Arial"/>
                          <a:ea typeface="Arial"/>
                          <a:cs typeface="Arial"/>
                        </a:rPr>
                        <a:t>GLD</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b="0">
                          <a:solidFill>
                            <a:srgbClr val="101918"/>
                          </a:solidFill>
                          <a:latin typeface="Arial"/>
                          <a:ea typeface="Arial"/>
                          <a:cs typeface="Arial"/>
                        </a:rPr>
                        <a:t>≤ 15%</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75" b="0">
                          <a:solidFill>
                            <a:srgbClr val="101918"/>
                          </a:solidFill>
                          <a:latin typeface="Arial"/>
                          <a:ea typeface="Arial"/>
                          <a:cs typeface="Arial"/>
                        </a:rPr>
                        <a:t>11.7%, slack</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3"/>
                  </a:ext>
                </a:extLst>
              </a:tr>
              <a:tr h="422910">
                <a:tc>
                  <a:txBody>
                    <a:bodyPr/>
                    <a:lstStyle/>
                    <a:p>
                      <a:pPr algn="l"/>
                      <a:r>
                        <a:rPr sz="1575" b="1">
                          <a:solidFill>
                            <a:srgbClr val="101918"/>
                          </a:solidFill>
                          <a:latin typeface="Arial"/>
                          <a:ea typeface="Arial"/>
                          <a:cs typeface="Arial"/>
                        </a:rPr>
                        <a:t>DBC</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575" b="1">
                          <a:solidFill>
                            <a:srgbClr val="101918"/>
                          </a:solidFill>
                          <a:latin typeface="Arial"/>
                          <a:ea typeface="Arial"/>
                          <a:cs typeface="Arial"/>
                        </a:rPr>
                        <a:t>≤ 15%</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575" b="1">
                          <a:solidFill>
                            <a:srgbClr val="101918"/>
                          </a:solidFill>
                          <a:latin typeface="Arial"/>
                          <a:ea typeface="Arial"/>
                          <a:cs typeface="Arial"/>
                        </a:rPr>
                        <a:t>15.0%, binding</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extLst>
                  <a:ext uri="{0D108BD9-81ED-4DB2-BD59-A6C34878D82A}">
                    <a16:rowId xmlns:a16="http://schemas.microsoft.com/office/drawing/2014/main" val="10004"/>
                  </a:ext>
                </a:extLst>
              </a:tr>
            </a:tbl>
          </a:graphicData>
        </a:graphic>
      </p:graphicFrame>
      <p:sp>
        <p:nvSpPr>
          <p:cNvPr id="19" name="Why the caps change the answer">
            <a:extLst>
              <a:ext uri="{FF2B5EF4-FFF2-40B4-BE49-F238E27FC236}">
                <a16:creationId xmlns:a16="http://schemas.microsoft.com/office/drawing/2014/main" id="{9F1589B8-6D0A-44D8-9703-8F694AF62F58}"/>
              </a:ext>
            </a:extLst>
          </p:cNvPr>
          <p:cNvSpPr>
            <a:spLocks noGrp="1"/>
          </p:cNvSpPr>
          <p:nvPr/>
        </p:nvSpPr>
        <p:spPr>
          <a:xfrm>
            <a:off x="6819900" y="4305300"/>
            <a:ext cx="4762500" cy="304800"/>
          </a:xfrm>
          <a:prstGeom prst="rect">
            <a:avLst/>
          </a:prstGeom>
          <a:noFill/>
          <a:ln w="0">
            <a:noFill/>
          </a:ln>
        </p:spPr>
        <p:txBody>
          <a:bodyPr wrap="square" lIns="0" tIns="0" rIns="0" bIns="0">
            <a:noAutofit/>
          </a:bodyPr>
          <a:lstStyle>
            <a:defPPr>
              <a:defRPr sz="1875" b="1">
                <a:solidFill>
                  <a:srgbClr val="101918"/>
                </a:solidFill>
                <a:latin typeface="Arial"/>
                <a:ea typeface="Arial"/>
                <a:cs typeface="Arial"/>
              </a:defRPr>
            </a:defPPr>
          </a:lstStyle>
          <a:p>
            <a:pPr>
              <a:defRPr sz="1875" b="1">
                <a:solidFill>
                  <a:srgbClr val="101918"/>
                </a:solidFill>
                <a:latin typeface="Arial"/>
                <a:ea typeface="Arial"/>
                <a:cs typeface="Arial"/>
              </a:defRPr>
            </a:pPr>
            <a:r>
              <a:rPr sz="1875" b="1">
                <a:solidFill>
                  <a:srgbClr val="101918"/>
                </a:solidFill>
                <a:latin typeface="Arial"/>
                <a:ea typeface="Arial"/>
                <a:cs typeface="Arial"/>
              </a:rPr>
              <a:t>Why the caps change the answer</a:t>
            </a:r>
          </a:p>
        </p:txBody>
      </p:sp>
      <p:sp>
        <p:nvSpPr>
          <p:cNvPr id="20" name="Uncapped ERC would put 34.1% of the fund in IGSB">
            <a:extLst>
              <a:ext uri="{FF2B5EF4-FFF2-40B4-BE49-F238E27FC236}">
                <a16:creationId xmlns:a16="http://schemas.microsoft.com/office/drawing/2014/main" id="{63F35FBD-9272-47BB-97D8-BC70BC48A04F}"/>
              </a:ext>
            </a:extLst>
          </p:cNvPr>
          <p:cNvSpPr>
            <a:spLocks noGrp="1"/>
          </p:cNvSpPr>
          <p:nvPr/>
        </p:nvSpPr>
        <p:spPr>
          <a:xfrm>
            <a:off x="6819900" y="4686300"/>
            <a:ext cx="4762500" cy="1238250"/>
          </a:xfrm>
          <a:prstGeom prst="rect">
            <a:avLst/>
          </a:prstGeom>
          <a:noFill/>
          <a:ln w="0">
            <a:noFill/>
          </a:ln>
        </p:spPr>
        <p:txBody>
          <a:bodyPr wrap="square" lIns="0" tIns="0" rIns="0" bIns="0">
            <a:noAutofit/>
          </a:bodyPr>
          <a:lstStyle>
            <a:defPPr>
              <a:defRPr sz="1575">
                <a:solidFill>
                  <a:srgbClr val="64716B"/>
                </a:solidFill>
                <a:latin typeface="Arial"/>
                <a:ea typeface="Arial"/>
                <a:cs typeface="Arial"/>
              </a:defRPr>
            </a:defPPr>
          </a:lstStyle>
          <a:p>
            <a:pPr>
              <a:defRPr sz="1575">
                <a:solidFill>
                  <a:srgbClr val="64716B"/>
                </a:solidFill>
                <a:latin typeface="Arial"/>
                <a:ea typeface="Arial"/>
                <a:cs typeface="Arial"/>
              </a:defRPr>
            </a:pPr>
            <a:r>
              <a:rPr sz="1575">
                <a:solidFill>
                  <a:srgbClr val="64716B"/>
                </a:solidFill>
                <a:latin typeface="Arial"/>
                <a:ea typeface="Arial"/>
                <a:cs typeface="Arial"/>
              </a:rPr>
              <a:t>Uncapped ERC would put 34.1% of the fund in IGSB alone, because it is by far the least volatile holding. The caps are a concentration policy: they protect us against covariance estimates that turn out to be wrong, and they are the reason our final risk shares are not perfectly equal.</a:t>
            </a:r>
          </a:p>
        </p:txBody>
      </p:sp>
    </p:spTree>
    <p:extLst>
      <p:ext uri="{BB962C8B-B14F-4D97-AF65-F5344CB8AC3E}">
        <p14:creationId xmlns:p14="http://schemas.microsoft.com/office/powerpoint/2010/main" val="667244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1" name="placeholder_1">
            <a:extLst>
              <a:ext uri="{FF2B5EF4-FFF2-40B4-BE49-F238E27FC236}">
                <a16:creationId xmlns:a16="http://schemas.microsoft.com/office/drawing/2014/main" id="{7E8E1016-7FC4-48DC-A204-B787AA571369}"/>
              </a:ext>
            </a:extLst>
          </p:cNvPr>
          <p:cNvSpPr>
            <a:spLocks noGrp="1"/>
          </p:cNvSpPr>
          <p:nvPr>
            <p:ph type="title"/>
          </p:nvPr>
        </p:nvSpPr>
        <p:spPr>
          <a:prstGeom prst="rect">
            <a:avLst/>
          </a:prstGeom>
          <a:noFill/>
          <a:ln w="0">
            <a:noFill/>
          </a:ln>
        </p:spPr>
        <p:txBody>
          <a:bodyPr lIns="0" tIns="0" rIns="0" bIns="0"/>
          <a:lstStyle>
            <a:defPPr>
              <a:defRPr sz="3300" b="1">
                <a:solidFill>
                  <a:srgbClr val="101918"/>
                </a:solidFill>
                <a:latin typeface="Arial"/>
                <a:ea typeface="Arial"/>
                <a:cs typeface="Arial"/>
              </a:defRPr>
            </a:defPPr>
          </a:lstStyle>
          <a:p>
            <a:pPr>
              <a:defRPr sz="3300" b="1">
                <a:solidFill>
                  <a:srgbClr val="101918"/>
                </a:solidFill>
                <a:latin typeface="Arial"/>
                <a:ea typeface="Arial"/>
                <a:cs typeface="Arial"/>
              </a:defRPr>
            </a:pPr>
            <a:r>
              <a:t>Effective diversification of the portfolio</a:t>
            </a:r>
          </a:p>
        </p:txBody>
      </p:sp>
      <p:sp>
        <p:nvSpPr>
          <p:cNvPr id="2" name="PORTFOLIO CONSTRUCTION / CAPITAL WEIGHTS AND RIS">
            <a:extLst>
              <a:ext uri="{FF2B5EF4-FFF2-40B4-BE49-F238E27FC236}">
                <a16:creationId xmlns:a16="http://schemas.microsoft.com/office/drawing/2014/main" id="{476A74AE-1E6D-474B-B7F2-4682A86AC0A0}"/>
              </a:ext>
            </a:extLst>
          </p:cNvPr>
          <p:cNvSpPr>
            <a:spLocks noGrp="1"/>
          </p:cNvSpPr>
          <p:nvPr/>
        </p:nvSpPr>
        <p:spPr>
          <a:xfrm>
            <a:off x="609600" y="295275"/>
            <a:ext cx="9486900" cy="238125"/>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PORTFOLIO CONSTRUCTION / CAPITAL WEIGHTS AND RISK CONTRIBUTIONS BY ASSET CLASS</a:t>
            </a:r>
          </a:p>
        </p:txBody>
      </p:sp>
      <p:pic>
        <p:nvPicPr>
          <p:cNvPr id="3" name="Immagine 2">
            <a:extLst>
              <a:ext uri="{FF2B5EF4-FFF2-40B4-BE49-F238E27FC236}">
                <a16:creationId xmlns:a16="http://schemas.microsoft.com/office/drawing/2014/main" id="{D98B567D-3999-433B-A7A0-98A9F6ED3870}"/>
              </a:ext>
            </a:extLst>
          </p:cNvPr>
          <p:cNvPicPr>
            <a:picLocks noChangeAspect="1"/>
          </p:cNvPicPr>
          <p:nvPr/>
        </p:nvPicPr>
        <p:blipFill>
          <a:blip r:embed="rId3"/>
          <a:stretch/>
        </p:blipFill>
        <p:spPr>
          <a:xfrm>
            <a:off x="10435460" y="190500"/>
            <a:ext cx="1055630" cy="695325"/>
          </a:xfrm>
          <a:prstGeom prst="rect">
            <a:avLst/>
          </a:prstGeom>
        </p:spPr>
      </p:pic>
      <p:sp>
        <p:nvSpPr>
          <p:cNvPr id="4" name="06">
            <a:extLst>
              <a:ext uri="{FF2B5EF4-FFF2-40B4-BE49-F238E27FC236}">
                <a16:creationId xmlns:a16="http://schemas.microsoft.com/office/drawing/2014/main" id="{EB2D20A9-0B77-460A-A77D-E014A2837151}"/>
              </a:ext>
            </a:extLst>
          </p:cNvPr>
          <p:cNvSpPr>
            <a:spLocks noGrp="1"/>
          </p:cNvSpPr>
          <p:nvPr/>
        </p:nvSpPr>
        <p:spPr>
          <a:xfrm>
            <a:off x="10287000" y="6496050"/>
            <a:ext cx="1295400" cy="209550"/>
          </a:xfrm>
          <a:prstGeom prst="rect">
            <a:avLst/>
          </a:prstGeom>
          <a:noFill/>
          <a:ln w="0">
            <a:noFill/>
          </a:ln>
        </p:spPr>
        <p:txBody>
          <a:bodyPr wrap="square" lIns="0" tIns="0" rIns="0" bIns="0">
            <a:noAutofit/>
          </a:bodyPr>
          <a:lstStyle>
            <a:defPPr algn="r">
              <a:defRPr sz="1050">
                <a:solidFill>
                  <a:srgbClr val="64716B"/>
                </a:solidFill>
                <a:latin typeface="Arial"/>
                <a:ea typeface="Arial"/>
                <a:cs typeface="Arial"/>
              </a:defRPr>
            </a:defPPr>
          </a:lstStyle>
          <a:p>
            <a:pPr algn="r">
              <a:defRPr sz="1050">
                <a:solidFill>
                  <a:srgbClr val="64716B"/>
                </a:solidFill>
                <a:latin typeface="Arial"/>
                <a:ea typeface="Arial"/>
                <a:cs typeface="Arial"/>
              </a:defRPr>
            </a:pPr>
            <a:r>
              <a:rPr sz="1050">
                <a:solidFill>
                  <a:srgbClr val="64716B"/>
                </a:solidFill>
                <a:latin typeface="Arial"/>
                <a:ea typeface="Arial"/>
                <a:cs typeface="Arial"/>
              </a:rPr>
              <a:t>06</a:t>
            </a:r>
          </a:p>
        </p:txBody>
      </p:sp>
      <p:sp>
        <p:nvSpPr>
          <p:cNvPr id="5" name="Capital weight versus risk contribution">
            <a:extLst>
              <a:ext uri="{FF2B5EF4-FFF2-40B4-BE49-F238E27FC236}">
                <a16:creationId xmlns:a16="http://schemas.microsoft.com/office/drawing/2014/main" id="{7A7430CD-A973-480B-B266-0A99BE635B37}"/>
              </a:ext>
            </a:extLst>
          </p:cNvPr>
          <p:cNvSpPr>
            <a:spLocks noGrp="1"/>
          </p:cNvSpPr>
          <p:nvPr/>
        </p:nvSpPr>
        <p:spPr>
          <a:xfrm>
            <a:off x="533400" y="1524000"/>
            <a:ext cx="6057900" cy="285750"/>
          </a:xfrm>
          <a:prstGeom prst="rect">
            <a:avLst/>
          </a:prstGeom>
          <a:noFill/>
          <a:ln w="0">
            <a:noFill/>
          </a:ln>
        </p:spPr>
        <p:txBody>
          <a:bodyPr wrap="square" lIns="0" tIns="0" rIns="0" bIns="0">
            <a:noAutofit/>
          </a:bodyPr>
          <a:lstStyle>
            <a:defPPr>
              <a:defRPr sz="1725" b="1">
                <a:solidFill>
                  <a:srgbClr val="101918"/>
                </a:solidFill>
                <a:latin typeface="Arial"/>
                <a:ea typeface="Arial"/>
                <a:cs typeface="Arial"/>
              </a:defRPr>
            </a:defPPr>
          </a:lstStyle>
          <a:p>
            <a:pPr>
              <a:defRPr sz="1725" b="1">
                <a:solidFill>
                  <a:srgbClr val="101918"/>
                </a:solidFill>
                <a:latin typeface="Arial"/>
                <a:ea typeface="Arial"/>
                <a:cs typeface="Arial"/>
              </a:defRPr>
            </a:pPr>
            <a:r>
              <a:rPr sz="1725" b="1">
                <a:solidFill>
                  <a:srgbClr val="101918"/>
                </a:solidFill>
                <a:latin typeface="Arial"/>
                <a:ea typeface="Arial"/>
                <a:cs typeface="Arial"/>
              </a:rPr>
              <a:t>Capital weight versus risk contribution</a:t>
            </a:r>
          </a:p>
        </p:txBody>
      </p:sp>
      <p:graphicFrame>
        <p:nvGraphicFramePr>
          <p:cNvPr id="6" name="Chart">
            <a:extLst>
              <a:ext uri="{FF2B5EF4-FFF2-40B4-BE49-F238E27FC236}">
                <a16:creationId xmlns:a16="http://schemas.microsoft.com/office/drawing/2014/main" id="{E5B0944A-F86B-4D16-AC20-388D97D3CB34}"/>
              </a:ext>
            </a:extLst>
          </p:cNvPr>
          <p:cNvGraphicFramePr/>
          <p:nvPr/>
        </p:nvGraphicFramePr>
        <p:xfrm>
          <a:off x="438150" y="1866900"/>
          <a:ext cx="6210300"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7" name="Capital by geography (whole fund)">
            <a:extLst>
              <a:ext uri="{FF2B5EF4-FFF2-40B4-BE49-F238E27FC236}">
                <a16:creationId xmlns:a16="http://schemas.microsoft.com/office/drawing/2014/main" id="{692C17C4-05D6-445F-90C7-A3C844BF1656}"/>
              </a:ext>
            </a:extLst>
          </p:cNvPr>
          <p:cNvSpPr>
            <a:spLocks noGrp="1"/>
          </p:cNvSpPr>
          <p:nvPr/>
        </p:nvSpPr>
        <p:spPr>
          <a:xfrm>
            <a:off x="6896100" y="1524000"/>
            <a:ext cx="4686300" cy="285750"/>
          </a:xfrm>
          <a:prstGeom prst="rect">
            <a:avLst/>
          </a:prstGeom>
          <a:noFill/>
          <a:ln w="0">
            <a:noFill/>
          </a:ln>
        </p:spPr>
        <p:txBody>
          <a:bodyPr wrap="square" lIns="0" tIns="0" rIns="0" bIns="0">
            <a:noAutofit/>
          </a:bodyPr>
          <a:lstStyle>
            <a:defPPr>
              <a:defRPr sz="1725" b="1">
                <a:solidFill>
                  <a:srgbClr val="101918"/>
                </a:solidFill>
                <a:latin typeface="Arial"/>
                <a:ea typeface="Arial"/>
                <a:cs typeface="Arial"/>
              </a:defRPr>
            </a:defPPr>
          </a:lstStyle>
          <a:p>
            <a:pPr>
              <a:defRPr sz="1725" b="1">
                <a:solidFill>
                  <a:srgbClr val="101918"/>
                </a:solidFill>
                <a:latin typeface="Arial"/>
                <a:ea typeface="Arial"/>
                <a:cs typeface="Arial"/>
              </a:defRPr>
            </a:pPr>
            <a:r>
              <a:rPr sz="1725" b="1">
                <a:solidFill>
                  <a:srgbClr val="101918"/>
                </a:solidFill>
                <a:latin typeface="Arial"/>
                <a:ea typeface="Arial"/>
                <a:cs typeface="Arial"/>
              </a:rPr>
              <a:t>Capital by geography (whole fund)</a:t>
            </a:r>
          </a:p>
        </p:txBody>
      </p:sp>
      <p:graphicFrame>
        <p:nvGraphicFramePr>
          <p:cNvPr id="8" name="Chart">
            <a:extLst>
              <a:ext uri="{FF2B5EF4-FFF2-40B4-BE49-F238E27FC236}">
                <a16:creationId xmlns:a16="http://schemas.microsoft.com/office/drawing/2014/main" id="{87093BB4-08B3-4748-A7E5-6CD829D21B9C}"/>
              </a:ext>
            </a:extLst>
          </p:cNvPr>
          <p:cNvGraphicFramePr/>
          <p:nvPr/>
        </p:nvGraphicFramePr>
        <p:xfrm>
          <a:off x="6819900" y="1866900"/>
          <a:ext cx="4762500" cy="3333750"/>
        </p:xfrm>
        <a:graphic>
          <a:graphicData uri="http://schemas.openxmlformats.org/drawingml/2006/chart">
            <c:chart xmlns:c="http://schemas.openxmlformats.org/drawingml/2006/chart" xmlns:r="http://schemas.openxmlformats.org/officeDocument/2006/relationships" r:id="rId5"/>
          </a:graphicData>
        </a:graphic>
      </p:graphicFrame>
      <p:sp>
        <p:nvSpPr>
          <p:cNvPr id="9" name="rule">
            <a:extLst>
              <a:ext uri="{FF2B5EF4-FFF2-40B4-BE49-F238E27FC236}">
                <a16:creationId xmlns:a16="http://schemas.microsoft.com/office/drawing/2014/main" id="{B178C473-B18F-4854-AFE6-3CA5C05F504A}"/>
              </a:ext>
            </a:extLst>
          </p:cNvPr>
          <p:cNvSpPr>
            <a:spLocks noGrp="1"/>
          </p:cNvSpPr>
          <p:nvPr/>
        </p:nvSpPr>
        <p:spPr>
          <a:xfrm>
            <a:off x="609600" y="5410200"/>
            <a:ext cx="10972800" cy="9525"/>
          </a:xfrm>
          <a:prstGeom prst="rect">
            <a:avLst/>
          </a:prstGeom>
          <a:solidFill>
            <a:srgbClr val="D6D9D3"/>
          </a:solidFill>
          <a:ln w="0">
            <a:noFill/>
          </a:ln>
        </p:spPr>
        <p:txBody>
          <a:bodyPr/>
          <a:lstStyle/>
          <a:p>
            <a:endParaRPr lang="it-IT"/>
          </a:p>
        </p:txBody>
      </p:sp>
      <p:sp>
        <p:nvSpPr>
          <p:cNvPr id="10" name="Equities are 37.2% of capital but 56.1% of risk.">
            <a:extLst>
              <a:ext uri="{FF2B5EF4-FFF2-40B4-BE49-F238E27FC236}">
                <a16:creationId xmlns:a16="http://schemas.microsoft.com/office/drawing/2014/main" id="{19023C7C-ABD0-434A-ACC9-C38207F31CCE}"/>
              </a:ext>
            </a:extLst>
          </p:cNvPr>
          <p:cNvSpPr>
            <a:spLocks noGrp="1"/>
          </p:cNvSpPr>
          <p:nvPr/>
        </p:nvSpPr>
        <p:spPr>
          <a:xfrm>
            <a:off x="609600" y="5562600"/>
            <a:ext cx="10972800" cy="590550"/>
          </a:xfrm>
          <a:prstGeom prst="rect">
            <a:avLst/>
          </a:prstGeom>
          <a:noFill/>
          <a:ln w="0">
            <a:noFill/>
          </a:ln>
        </p:spPr>
        <p:txBody>
          <a:bodyPr wrap="square" lIns="0" tIns="0" rIns="0" bIns="0">
            <a:noAutofit/>
          </a:bodyPr>
          <a:lstStyle>
            <a:defPPr>
              <a:defRPr sz="1725" b="1">
                <a:solidFill>
                  <a:srgbClr val="3D6358"/>
                </a:solidFill>
                <a:latin typeface="Arial"/>
                <a:ea typeface="Arial"/>
                <a:cs typeface="Arial"/>
              </a:defRPr>
            </a:defPPr>
          </a:lstStyle>
          <a:p>
            <a:pPr>
              <a:defRPr sz="1725" b="1">
                <a:solidFill>
                  <a:srgbClr val="3D6358"/>
                </a:solidFill>
                <a:latin typeface="Arial"/>
                <a:ea typeface="Arial"/>
                <a:cs typeface="Arial"/>
              </a:defRPr>
            </a:pPr>
            <a:r>
              <a:rPr sz="1725" b="1">
                <a:solidFill>
                  <a:srgbClr val="3D6358"/>
                </a:solidFill>
                <a:latin typeface="Arial"/>
                <a:ea typeface="Arial"/>
                <a:cs typeface="Arial"/>
              </a:rPr>
              <a:t>Equities are 37.2% of capital but 56.1% of risk. The US figure includes the two US bond sleeves, so it overstates equity-market concentration on its own.</a:t>
            </a:r>
          </a:p>
        </p:txBody>
      </p:sp>
    </p:spTree>
    <p:extLst>
      <p:ext uri="{BB962C8B-B14F-4D97-AF65-F5344CB8AC3E}">
        <p14:creationId xmlns:p14="http://schemas.microsoft.com/office/powerpoint/2010/main" val="1642606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7" name="placeholder_1">
            <a:extLst>
              <a:ext uri="{FF2B5EF4-FFF2-40B4-BE49-F238E27FC236}">
                <a16:creationId xmlns:a16="http://schemas.microsoft.com/office/drawing/2014/main" id="{7E8E1016-7FC4-48DC-A204-B787AA571369}"/>
              </a:ext>
            </a:extLst>
          </p:cNvPr>
          <p:cNvSpPr>
            <a:spLocks noGrp="1"/>
          </p:cNvSpPr>
          <p:nvPr>
            <p:ph type="title"/>
          </p:nvPr>
        </p:nvSpPr>
        <p:spPr>
          <a:prstGeom prst="rect">
            <a:avLst/>
          </a:prstGeom>
          <a:noFill/>
          <a:ln w="0">
            <a:noFill/>
          </a:ln>
        </p:spPr>
        <p:txBody>
          <a:bodyPr lIns="0" tIns="0" rIns="0" bIns="0"/>
          <a:lstStyle>
            <a:defPPr>
              <a:defRPr sz="3300" b="1">
                <a:solidFill>
                  <a:srgbClr val="101918"/>
                </a:solidFill>
                <a:latin typeface="Arial"/>
                <a:ea typeface="Arial"/>
                <a:cs typeface="Arial"/>
              </a:defRPr>
            </a:defPPr>
          </a:lstStyle>
          <a:p>
            <a:pPr>
              <a:defRPr sz="3300" b="1">
                <a:solidFill>
                  <a:srgbClr val="101918"/>
                </a:solidFill>
                <a:latin typeface="Arial"/>
                <a:ea typeface="Arial"/>
                <a:cs typeface="Arial"/>
              </a:defRPr>
            </a:pPr>
            <a:r>
              <a:t>Comparison with every method we tested</a:t>
            </a:r>
          </a:p>
        </p:txBody>
      </p:sp>
      <p:sp>
        <p:nvSpPr>
          <p:cNvPr id="2" name="CHECKPOINT 2 / SIX ALLOCATION RULES, FORMATION R">
            <a:extLst>
              <a:ext uri="{FF2B5EF4-FFF2-40B4-BE49-F238E27FC236}">
                <a16:creationId xmlns:a16="http://schemas.microsoft.com/office/drawing/2014/main" id="{E509A6CB-8C7F-4356-AA14-E72762E578C7}"/>
              </a:ext>
            </a:extLst>
          </p:cNvPr>
          <p:cNvSpPr>
            <a:spLocks noGrp="1"/>
          </p:cNvSpPr>
          <p:nvPr/>
        </p:nvSpPr>
        <p:spPr>
          <a:xfrm>
            <a:off x="609600" y="295275"/>
            <a:ext cx="9486900" cy="238125"/>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CHECKPOINT 2 / SIX ALLOCATION RULES, FORMATION RISK AND SHARPE</a:t>
            </a:r>
          </a:p>
        </p:txBody>
      </p:sp>
      <p:pic>
        <p:nvPicPr>
          <p:cNvPr id="3" name="Immagine 2">
            <a:extLst>
              <a:ext uri="{FF2B5EF4-FFF2-40B4-BE49-F238E27FC236}">
                <a16:creationId xmlns:a16="http://schemas.microsoft.com/office/drawing/2014/main" id="{2327A6B3-606A-4339-B29B-A2DC5CD0599C}"/>
              </a:ext>
            </a:extLst>
          </p:cNvPr>
          <p:cNvPicPr>
            <a:picLocks noChangeAspect="1"/>
          </p:cNvPicPr>
          <p:nvPr/>
        </p:nvPicPr>
        <p:blipFill>
          <a:blip r:embed="rId3"/>
          <a:stretch/>
        </p:blipFill>
        <p:spPr>
          <a:xfrm>
            <a:off x="10435460" y="190500"/>
            <a:ext cx="1055630" cy="695325"/>
          </a:xfrm>
          <a:prstGeom prst="rect">
            <a:avLst/>
          </a:prstGeom>
        </p:spPr>
      </p:pic>
      <p:sp>
        <p:nvSpPr>
          <p:cNvPr id="4" name="07">
            <a:extLst>
              <a:ext uri="{FF2B5EF4-FFF2-40B4-BE49-F238E27FC236}">
                <a16:creationId xmlns:a16="http://schemas.microsoft.com/office/drawing/2014/main" id="{CDF68093-DDCE-448A-A690-5AF577AC1C89}"/>
              </a:ext>
            </a:extLst>
          </p:cNvPr>
          <p:cNvSpPr>
            <a:spLocks noGrp="1"/>
          </p:cNvSpPr>
          <p:nvPr/>
        </p:nvSpPr>
        <p:spPr>
          <a:xfrm>
            <a:off x="10287000" y="6496050"/>
            <a:ext cx="1295400" cy="209550"/>
          </a:xfrm>
          <a:prstGeom prst="rect">
            <a:avLst/>
          </a:prstGeom>
          <a:noFill/>
          <a:ln w="0">
            <a:noFill/>
          </a:ln>
        </p:spPr>
        <p:txBody>
          <a:bodyPr wrap="square" lIns="0" tIns="0" rIns="0" bIns="0">
            <a:noAutofit/>
          </a:bodyPr>
          <a:lstStyle>
            <a:defPPr algn="r">
              <a:defRPr sz="1050">
                <a:solidFill>
                  <a:srgbClr val="64716B"/>
                </a:solidFill>
                <a:latin typeface="Arial"/>
                <a:ea typeface="Arial"/>
                <a:cs typeface="Arial"/>
              </a:defRPr>
            </a:defPPr>
          </a:lstStyle>
          <a:p>
            <a:pPr algn="r">
              <a:defRPr sz="1050">
                <a:solidFill>
                  <a:srgbClr val="64716B"/>
                </a:solidFill>
                <a:latin typeface="Arial"/>
                <a:ea typeface="Arial"/>
                <a:cs typeface="Arial"/>
              </a:defRPr>
            </a:pPr>
            <a:r>
              <a:rPr sz="1050">
                <a:solidFill>
                  <a:srgbClr val="64716B"/>
                </a:solidFill>
                <a:latin typeface="Arial"/>
                <a:ea typeface="Arial"/>
                <a:cs typeface="Arial"/>
              </a:rPr>
              <a:t>07</a:t>
            </a:r>
          </a:p>
        </p:txBody>
      </p:sp>
      <p:graphicFrame>
        <p:nvGraphicFramePr>
          <p:cNvPr id="5" name="Chart">
            <a:extLst>
              <a:ext uri="{FF2B5EF4-FFF2-40B4-BE49-F238E27FC236}">
                <a16:creationId xmlns:a16="http://schemas.microsoft.com/office/drawing/2014/main" id="{241F000F-1D50-4F68-98A7-07F655C7AB20}"/>
              </a:ext>
            </a:extLst>
          </p:cNvPr>
          <p:cNvGraphicFramePr/>
          <p:nvPr>
            <p:extLst>
              <p:ext uri="{D42A27DB-BD31-4B8C-83A1-F6EECF244321}">
                <p14:modId xmlns:p14="http://schemas.microsoft.com/office/powerpoint/2010/main" val="2141707925"/>
              </p:ext>
            </p:extLst>
          </p:nvPr>
        </p:nvGraphicFramePr>
        <p:xfrm>
          <a:off x="438150" y="1466850"/>
          <a:ext cx="11220450" cy="23050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ella 5">
            <a:extLst>
              <a:ext uri="{FF2B5EF4-FFF2-40B4-BE49-F238E27FC236}">
                <a16:creationId xmlns:a16="http://schemas.microsoft.com/office/drawing/2014/main" id="{4B6621E0-CEE9-4F5C-B411-D4EC374FEC7E}"/>
              </a:ext>
            </a:extLst>
          </p:cNvPr>
          <p:cNvGraphicFramePr/>
          <p:nvPr/>
        </p:nvGraphicFramePr>
        <p:xfrm>
          <a:off x="533400" y="3981450"/>
          <a:ext cx="11125200" cy="2114553"/>
        </p:xfrm>
        <a:graphic>
          <a:graphicData uri="http://schemas.openxmlformats.org/drawingml/2006/table">
            <a:tbl>
              <a:tblPr/>
              <a:tblGrid>
                <a:gridCol w="22098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181100">
                  <a:extLst>
                    <a:ext uri="{9D8B030D-6E8A-4147-A177-3AD203B41FA5}">
                      <a16:colId xmlns:a16="http://schemas.microsoft.com/office/drawing/2014/main" val="20002"/>
                    </a:ext>
                  </a:extLst>
                </a:gridCol>
                <a:gridCol w="1390650">
                  <a:extLst>
                    <a:ext uri="{9D8B030D-6E8A-4147-A177-3AD203B41FA5}">
                      <a16:colId xmlns:a16="http://schemas.microsoft.com/office/drawing/2014/main" val="20003"/>
                    </a:ext>
                  </a:extLst>
                </a:gridCol>
                <a:gridCol w="4819650">
                  <a:extLst>
                    <a:ext uri="{9D8B030D-6E8A-4147-A177-3AD203B41FA5}">
                      <a16:colId xmlns:a16="http://schemas.microsoft.com/office/drawing/2014/main" val="20004"/>
                    </a:ext>
                  </a:extLst>
                </a:gridCol>
              </a:tblGrid>
              <a:tr h="302079">
                <a:tc>
                  <a:txBody>
                    <a:bodyPr/>
                    <a:lstStyle/>
                    <a:p>
                      <a:pPr algn="l"/>
                      <a:r>
                        <a:rPr sz="1275" b="1">
                          <a:solidFill>
                            <a:srgbClr val="FFFFFF"/>
                          </a:solidFill>
                          <a:latin typeface="Arial"/>
                          <a:ea typeface="Arial"/>
                          <a:cs typeface="Arial"/>
                        </a:rPr>
                        <a:t>Method</a:t>
                      </a:r>
                    </a:p>
                  </a:txBody>
                  <a:tcPr anchor="ctr">
                    <a:lnL w="5239">
                      <a:solidFill>
                        <a:srgbClr val="D6D9D3"/>
                      </a:solidFill>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275" b="1">
                          <a:solidFill>
                            <a:srgbClr val="FFFFFF"/>
                          </a:solidFill>
                          <a:latin typeface="Arial"/>
                          <a:ea typeface="Arial"/>
                          <a:cs typeface="Arial"/>
                        </a:rPr>
                        <a:t>Formation vol</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275" b="1">
                          <a:solidFill>
                            <a:srgbClr val="FFFFFF"/>
                          </a:solidFill>
                          <a:latin typeface="Arial"/>
                          <a:ea typeface="Arial"/>
                          <a:cs typeface="Arial"/>
                        </a:rPr>
                        <a:t>Fitted SR</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275" b="1">
                          <a:solidFill>
                            <a:srgbClr val="FFFFFF"/>
                          </a:solidFill>
                          <a:latin typeface="Arial"/>
                          <a:ea typeface="Arial"/>
                          <a:cs typeface="Arial"/>
                        </a:rPr>
                        <a:t>Walk-fwd SR</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275" b="1">
                          <a:solidFill>
                            <a:srgbClr val="FFFFFF"/>
                          </a:solidFill>
                          <a:latin typeface="Arial"/>
                          <a:ea typeface="Arial"/>
                          <a:cs typeface="Arial"/>
                        </a:rPr>
                        <a:t>Why we did not choose it</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extLst>
                  <a:ext uri="{0D108BD9-81ED-4DB2-BD59-A6C34878D82A}">
                    <a16:rowId xmlns:a16="http://schemas.microsoft.com/office/drawing/2014/main" val="10000"/>
                  </a:ext>
                </a:extLst>
              </a:tr>
              <a:tr h="302079">
                <a:tc>
                  <a:txBody>
                    <a:bodyPr/>
                    <a:lstStyle/>
                    <a:p>
                      <a:pPr algn="l"/>
                      <a:r>
                        <a:rPr sz="1275" b="1">
                          <a:solidFill>
                            <a:srgbClr val="101918"/>
                          </a:solidFill>
                          <a:latin typeface="Arial"/>
                          <a:ea typeface="Arial"/>
                          <a:cs typeface="Arial"/>
                        </a:rPr>
                        <a:t>Equal Weight</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9.66%</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0.625</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0.661</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9.66% exceeds the risk ceiling</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1"/>
                  </a:ext>
                </a:extLst>
              </a:tr>
              <a:tr h="302079">
                <a:tc>
                  <a:txBody>
                    <a:bodyPr/>
                    <a:lstStyle/>
                    <a:p>
                      <a:pPr algn="l"/>
                      <a:r>
                        <a:rPr sz="1275" b="1">
                          <a:solidFill>
                            <a:srgbClr val="101918"/>
                          </a:solidFill>
                          <a:latin typeface="Arial"/>
                          <a:ea typeface="Arial"/>
                          <a:cs typeface="Arial"/>
                        </a:rPr>
                        <a:t>Risk Parity (1/vol)</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7.26%</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0.383</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0.587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37.2% in IGSB exceeds our cap</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2"/>
                  </a:ext>
                </a:extLst>
              </a:tr>
              <a:tr h="302079">
                <a:tc>
                  <a:txBody>
                    <a:bodyPr/>
                    <a:lstStyle/>
                    <a:p>
                      <a:pPr algn="l"/>
                      <a:r>
                        <a:rPr sz="1275" b="1">
                          <a:solidFill>
                            <a:srgbClr val="101918"/>
                          </a:solidFill>
                          <a:latin typeface="Arial"/>
                          <a:ea typeface="Arial"/>
                          <a:cs typeface="Arial"/>
                        </a:rPr>
                        <a:t>ERC (uncapped)</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7.06%</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0.469</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0.718</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34.1% in IGSB exceeds our cap</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3"/>
                  </a:ext>
                </a:extLst>
              </a:tr>
              <a:tr h="302079">
                <a:tc>
                  <a:txBody>
                    <a:bodyPr/>
                    <a:lstStyle/>
                    <a:p>
                      <a:pPr algn="l"/>
                      <a:r>
                        <a:rPr sz="1275" b="1">
                          <a:solidFill>
                            <a:srgbClr val="101918"/>
                          </a:solidFill>
                          <a:latin typeface="Arial"/>
                          <a:ea typeface="Arial"/>
                          <a:cs typeface="Arial"/>
                        </a:rPr>
                        <a:t>Capped ERC (ours)</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275" b="1">
                          <a:solidFill>
                            <a:srgbClr val="101918"/>
                          </a:solidFill>
                          <a:latin typeface="Arial"/>
                          <a:ea typeface="Arial"/>
                          <a:cs typeface="Arial"/>
                        </a:rPr>
                        <a:t>8.58%</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275" b="1">
                          <a:solidFill>
                            <a:srgbClr val="101918"/>
                          </a:solidFill>
                          <a:latin typeface="Arial"/>
                          <a:ea typeface="Arial"/>
                          <a:cs typeface="Arial"/>
                        </a:rPr>
                        <a:t>0.537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275" b="1">
                          <a:solidFill>
                            <a:srgbClr val="101918"/>
                          </a:solidFill>
                          <a:latin typeface="Arial"/>
                          <a:ea typeface="Arial"/>
                          <a:cs typeface="Arial"/>
                        </a:rPr>
                        <a:t>0.583</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275" b="1">
                          <a:solidFill>
                            <a:srgbClr val="101918"/>
                          </a:solidFill>
                          <a:latin typeface="Arial"/>
                          <a:ea typeface="Arial"/>
                          <a:cs typeface="Arial"/>
                        </a:rPr>
                        <a:t>Selected: risk band and instrument caps</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extLst>
                  <a:ext uri="{0D108BD9-81ED-4DB2-BD59-A6C34878D82A}">
                    <a16:rowId xmlns:a16="http://schemas.microsoft.com/office/drawing/2014/main" val="10004"/>
                  </a:ext>
                </a:extLst>
              </a:tr>
              <a:tr h="302079">
                <a:tc>
                  <a:txBody>
                    <a:bodyPr/>
                    <a:lstStyle/>
                    <a:p>
                      <a:pPr algn="l"/>
                      <a:r>
                        <a:rPr sz="1275" b="1">
                          <a:solidFill>
                            <a:srgbClr val="101918"/>
                          </a:solidFill>
                          <a:latin typeface="Arial"/>
                          <a:ea typeface="Arial"/>
                          <a:cs typeface="Arial"/>
                        </a:rPr>
                        <a:t>Maximum Sharpe</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9.00%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0.987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0.691</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Uses fitted excess-return estimates</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5"/>
                  </a:ext>
                </a:extLst>
              </a:tr>
              <a:tr h="302079">
                <a:tc>
                  <a:txBody>
                    <a:bodyPr/>
                    <a:lstStyle/>
                    <a:p>
                      <a:pPr algn="l"/>
                      <a:r>
                        <a:rPr sz="1275" b="1">
                          <a:solidFill>
                            <a:srgbClr val="101918"/>
                          </a:solidFill>
                          <a:latin typeface="Arial"/>
                          <a:ea typeface="Arial"/>
                          <a:cs typeface="Arial"/>
                        </a:rPr>
                        <a:t>Minimum Variance</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6.02%</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-0.467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275" b="0">
                          <a:solidFill>
                            <a:srgbClr val="101918"/>
                          </a:solidFill>
                          <a:latin typeface="Arial"/>
                          <a:ea typeface="Arial"/>
                          <a:cs typeface="Arial"/>
                        </a:rPr>
                        <a:t>6.02% below the risk floor; not run out of sample</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01790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2" name="placeholder_1">
            <a:extLst>
              <a:ext uri="{FF2B5EF4-FFF2-40B4-BE49-F238E27FC236}">
                <a16:creationId xmlns:a16="http://schemas.microsoft.com/office/drawing/2014/main" id="{7E8E1016-7FC4-48DC-A204-B787AA571369}"/>
              </a:ext>
            </a:extLst>
          </p:cNvPr>
          <p:cNvSpPr>
            <a:spLocks noGrp="1"/>
          </p:cNvSpPr>
          <p:nvPr>
            <p:ph type="title"/>
          </p:nvPr>
        </p:nvSpPr>
        <p:spPr>
          <a:prstGeom prst="rect">
            <a:avLst/>
          </a:prstGeom>
          <a:noFill/>
          <a:ln w="0">
            <a:noFill/>
          </a:ln>
        </p:spPr>
        <p:txBody>
          <a:bodyPr lIns="0" tIns="0" rIns="0" bIns="0"/>
          <a:lstStyle>
            <a:defPPr>
              <a:defRPr sz="3300" b="1">
                <a:solidFill>
                  <a:srgbClr val="101918"/>
                </a:solidFill>
                <a:latin typeface="Arial"/>
                <a:ea typeface="Arial"/>
                <a:cs typeface="Arial"/>
              </a:defRPr>
            </a:defPPr>
          </a:lstStyle>
          <a:p>
            <a:pPr>
              <a:defRPr sz="3300" b="1">
                <a:solidFill>
                  <a:srgbClr val="101918"/>
                </a:solidFill>
                <a:latin typeface="Arial"/>
                <a:ea typeface="Arial"/>
                <a:cs typeface="Arial"/>
              </a:defRPr>
            </a:pPr>
            <a:r>
              <a:t>In-sample backtest</a:t>
            </a:r>
          </a:p>
        </p:txBody>
      </p:sp>
      <p:sp>
        <p:nvSpPr>
          <p:cNvPr id="2" name="CHECKPOINT 3 / FIXED SAA WEIGHTS, MONTHLY REBALA">
            <a:extLst>
              <a:ext uri="{FF2B5EF4-FFF2-40B4-BE49-F238E27FC236}">
                <a16:creationId xmlns:a16="http://schemas.microsoft.com/office/drawing/2014/main" id="{CCE67B68-BEC4-447C-9677-84CED186C0D4}"/>
              </a:ext>
            </a:extLst>
          </p:cNvPr>
          <p:cNvSpPr>
            <a:spLocks noGrp="1"/>
          </p:cNvSpPr>
          <p:nvPr/>
        </p:nvSpPr>
        <p:spPr>
          <a:xfrm>
            <a:off x="609600" y="295275"/>
            <a:ext cx="9486900" cy="238125"/>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CHECKPOINT 3 / FIXED SAA WEIGHTS, MONTHLY REBALANCING, NOV 2012–SEP 2026</a:t>
            </a:r>
          </a:p>
        </p:txBody>
      </p:sp>
      <p:pic>
        <p:nvPicPr>
          <p:cNvPr id="3" name="Immagine 2">
            <a:extLst>
              <a:ext uri="{FF2B5EF4-FFF2-40B4-BE49-F238E27FC236}">
                <a16:creationId xmlns:a16="http://schemas.microsoft.com/office/drawing/2014/main" id="{1E79B26A-1B36-41DE-99D1-7C28E854070C}"/>
              </a:ext>
            </a:extLst>
          </p:cNvPr>
          <p:cNvPicPr>
            <a:picLocks noChangeAspect="1"/>
          </p:cNvPicPr>
          <p:nvPr/>
        </p:nvPicPr>
        <p:blipFill>
          <a:blip r:embed="rId3"/>
          <a:stretch/>
        </p:blipFill>
        <p:spPr>
          <a:xfrm>
            <a:off x="10435460" y="190500"/>
            <a:ext cx="1055630" cy="695325"/>
          </a:xfrm>
          <a:prstGeom prst="rect">
            <a:avLst/>
          </a:prstGeom>
        </p:spPr>
      </p:pic>
      <p:sp>
        <p:nvSpPr>
          <p:cNvPr id="4" name="08">
            <a:extLst>
              <a:ext uri="{FF2B5EF4-FFF2-40B4-BE49-F238E27FC236}">
                <a16:creationId xmlns:a16="http://schemas.microsoft.com/office/drawing/2014/main" id="{FA8540F0-D7F4-42F3-ABCA-CDEABB0A8AE0}"/>
              </a:ext>
            </a:extLst>
          </p:cNvPr>
          <p:cNvSpPr>
            <a:spLocks noGrp="1"/>
          </p:cNvSpPr>
          <p:nvPr/>
        </p:nvSpPr>
        <p:spPr>
          <a:xfrm>
            <a:off x="10287000" y="6496050"/>
            <a:ext cx="1295400" cy="209550"/>
          </a:xfrm>
          <a:prstGeom prst="rect">
            <a:avLst/>
          </a:prstGeom>
          <a:noFill/>
          <a:ln w="0">
            <a:noFill/>
          </a:ln>
        </p:spPr>
        <p:txBody>
          <a:bodyPr wrap="square" lIns="0" tIns="0" rIns="0" bIns="0">
            <a:noAutofit/>
          </a:bodyPr>
          <a:lstStyle>
            <a:defPPr algn="r">
              <a:defRPr sz="1050">
                <a:solidFill>
                  <a:srgbClr val="64716B"/>
                </a:solidFill>
                <a:latin typeface="Arial"/>
                <a:ea typeface="Arial"/>
                <a:cs typeface="Arial"/>
              </a:defRPr>
            </a:defPPr>
          </a:lstStyle>
          <a:p>
            <a:pPr algn="r">
              <a:defRPr sz="1050">
                <a:solidFill>
                  <a:srgbClr val="64716B"/>
                </a:solidFill>
                <a:latin typeface="Arial"/>
                <a:ea typeface="Arial"/>
                <a:cs typeface="Arial"/>
              </a:defRPr>
            </a:pPr>
            <a:r>
              <a:rPr sz="1050">
                <a:solidFill>
                  <a:srgbClr val="64716B"/>
                </a:solidFill>
                <a:latin typeface="Arial"/>
                <a:ea typeface="Arial"/>
                <a:cs typeface="Arial"/>
              </a:rPr>
              <a:t>08</a:t>
            </a:r>
          </a:p>
        </p:txBody>
      </p:sp>
      <p:sp>
        <p:nvSpPr>
          <p:cNvPr id="5" name="Growth of USD 1, today’s weights across the whol">
            <a:extLst>
              <a:ext uri="{FF2B5EF4-FFF2-40B4-BE49-F238E27FC236}">
                <a16:creationId xmlns:a16="http://schemas.microsoft.com/office/drawing/2014/main" id="{A3BB4B64-3363-456A-866B-B1D79C3F0985}"/>
              </a:ext>
            </a:extLst>
          </p:cNvPr>
          <p:cNvSpPr>
            <a:spLocks noGrp="1"/>
          </p:cNvSpPr>
          <p:nvPr/>
        </p:nvSpPr>
        <p:spPr>
          <a:xfrm>
            <a:off x="533400" y="1485900"/>
            <a:ext cx="6210300" cy="266700"/>
          </a:xfrm>
          <a:prstGeom prst="rect">
            <a:avLst/>
          </a:prstGeom>
          <a:noFill/>
          <a:ln w="0">
            <a:noFill/>
          </a:ln>
        </p:spPr>
        <p:txBody>
          <a:bodyPr wrap="square" lIns="0" tIns="0" rIns="0" bIns="0">
            <a:noAutofit/>
          </a:bodyPr>
          <a:lstStyle>
            <a:defPPr>
              <a:defRPr sz="1650" b="1">
                <a:solidFill>
                  <a:srgbClr val="101918"/>
                </a:solidFill>
                <a:latin typeface="Arial"/>
                <a:ea typeface="Arial"/>
                <a:cs typeface="Arial"/>
              </a:defRPr>
            </a:defPPr>
          </a:lstStyle>
          <a:p>
            <a:pPr>
              <a:defRPr sz="1650" b="1">
                <a:solidFill>
                  <a:srgbClr val="101918"/>
                </a:solidFill>
                <a:latin typeface="Arial"/>
                <a:ea typeface="Arial"/>
                <a:cs typeface="Arial"/>
              </a:defRPr>
            </a:pPr>
            <a:r>
              <a:rPr sz="1650" b="1">
                <a:solidFill>
                  <a:srgbClr val="101918"/>
                </a:solidFill>
                <a:latin typeface="Arial"/>
                <a:ea typeface="Arial"/>
                <a:cs typeface="Arial"/>
              </a:rPr>
              <a:t>Growth of USD 1, today’s weights across the whole sample</a:t>
            </a:r>
          </a:p>
        </p:txBody>
      </p:sp>
      <p:sp>
        <p:nvSpPr>
          <p:cNvPr id="6" name="rule">
            <a:extLst>
              <a:ext uri="{FF2B5EF4-FFF2-40B4-BE49-F238E27FC236}">
                <a16:creationId xmlns:a16="http://schemas.microsoft.com/office/drawing/2014/main" id="{E9857BF8-085E-4357-8EE7-5BE4E8F30B6B}"/>
              </a:ext>
            </a:extLst>
          </p:cNvPr>
          <p:cNvSpPr>
            <a:spLocks noGrp="1"/>
          </p:cNvSpPr>
          <p:nvPr/>
        </p:nvSpPr>
        <p:spPr>
          <a:xfrm>
            <a:off x="533400" y="1857375"/>
            <a:ext cx="123825" cy="123825"/>
          </a:xfrm>
          <a:prstGeom prst="rect">
            <a:avLst/>
          </a:prstGeom>
          <a:solidFill>
            <a:srgbClr val="3D6358"/>
          </a:solidFill>
          <a:ln w="0">
            <a:noFill/>
          </a:ln>
        </p:spPr>
        <p:txBody>
          <a:bodyPr/>
          <a:lstStyle/>
          <a:p>
            <a:endParaRPr lang="it-IT"/>
          </a:p>
        </p:txBody>
      </p:sp>
      <p:sp>
        <p:nvSpPr>
          <p:cNvPr id="7" name="Our SAA (capped ERC)">
            <a:extLst>
              <a:ext uri="{FF2B5EF4-FFF2-40B4-BE49-F238E27FC236}">
                <a16:creationId xmlns:a16="http://schemas.microsoft.com/office/drawing/2014/main" id="{B2A6CB6D-32A9-4D12-B17C-794552279D5F}"/>
              </a:ext>
            </a:extLst>
          </p:cNvPr>
          <p:cNvSpPr>
            <a:spLocks noGrp="1"/>
          </p:cNvSpPr>
          <p:nvPr/>
        </p:nvSpPr>
        <p:spPr>
          <a:xfrm>
            <a:off x="723900" y="1809750"/>
            <a:ext cx="2476500" cy="209550"/>
          </a:xfrm>
          <a:prstGeom prst="rect">
            <a:avLst/>
          </a:prstGeom>
          <a:noFill/>
          <a:ln w="0">
            <a:noFill/>
          </a:ln>
        </p:spPr>
        <p:txBody>
          <a:bodyPr wrap="square" lIns="0" tIns="0" rIns="0" bIns="0">
            <a:noAutofit/>
          </a:bodyPr>
          <a:lstStyle>
            <a:defPPr>
              <a:defRPr sz="1275">
                <a:solidFill>
                  <a:srgbClr val="101918"/>
                </a:solidFill>
                <a:latin typeface="Arial"/>
                <a:ea typeface="Arial"/>
                <a:cs typeface="Arial"/>
              </a:defRPr>
            </a:defPPr>
          </a:lstStyle>
          <a:p>
            <a:pPr>
              <a:defRPr sz="1275">
                <a:solidFill>
                  <a:srgbClr val="101918"/>
                </a:solidFill>
                <a:latin typeface="Arial"/>
                <a:ea typeface="Arial"/>
                <a:cs typeface="Arial"/>
              </a:defRPr>
            </a:pPr>
            <a:r>
              <a:rPr sz="1275">
                <a:solidFill>
                  <a:srgbClr val="101918"/>
                </a:solidFill>
                <a:latin typeface="Arial"/>
                <a:ea typeface="Arial"/>
                <a:cs typeface="Arial"/>
              </a:rPr>
              <a:t>Our SAA (capped ERC)</a:t>
            </a:r>
          </a:p>
        </p:txBody>
      </p:sp>
      <p:sp>
        <p:nvSpPr>
          <p:cNvPr id="8" name="rule">
            <a:extLst>
              <a:ext uri="{FF2B5EF4-FFF2-40B4-BE49-F238E27FC236}">
                <a16:creationId xmlns:a16="http://schemas.microsoft.com/office/drawing/2014/main" id="{AB5F8217-41F9-4EF4-82D2-561B0B3B3498}"/>
              </a:ext>
            </a:extLst>
          </p:cNvPr>
          <p:cNvSpPr>
            <a:spLocks noGrp="1"/>
          </p:cNvSpPr>
          <p:nvPr/>
        </p:nvSpPr>
        <p:spPr>
          <a:xfrm>
            <a:off x="2647950" y="1857375"/>
            <a:ext cx="123825" cy="123825"/>
          </a:xfrm>
          <a:prstGeom prst="rect">
            <a:avLst/>
          </a:prstGeom>
          <a:solidFill>
            <a:srgbClr val="9B8052"/>
          </a:solidFill>
          <a:ln w="0">
            <a:noFill/>
          </a:ln>
        </p:spPr>
        <p:txBody>
          <a:bodyPr/>
          <a:lstStyle/>
          <a:p>
            <a:endParaRPr lang="it-IT"/>
          </a:p>
        </p:txBody>
      </p:sp>
      <p:sp>
        <p:nvSpPr>
          <p:cNvPr id="9" name="Equal Weight">
            <a:extLst>
              <a:ext uri="{FF2B5EF4-FFF2-40B4-BE49-F238E27FC236}">
                <a16:creationId xmlns:a16="http://schemas.microsoft.com/office/drawing/2014/main" id="{218D295F-7EE1-43FE-90AD-C8FB92A650FC}"/>
              </a:ext>
            </a:extLst>
          </p:cNvPr>
          <p:cNvSpPr>
            <a:spLocks noGrp="1"/>
          </p:cNvSpPr>
          <p:nvPr/>
        </p:nvSpPr>
        <p:spPr>
          <a:xfrm>
            <a:off x="2838450" y="1809750"/>
            <a:ext cx="2476500" cy="209550"/>
          </a:xfrm>
          <a:prstGeom prst="rect">
            <a:avLst/>
          </a:prstGeom>
          <a:noFill/>
          <a:ln w="0">
            <a:noFill/>
          </a:ln>
        </p:spPr>
        <p:txBody>
          <a:bodyPr wrap="square" lIns="0" tIns="0" rIns="0" bIns="0">
            <a:noAutofit/>
          </a:bodyPr>
          <a:lstStyle>
            <a:defPPr>
              <a:defRPr sz="1275">
                <a:solidFill>
                  <a:srgbClr val="101918"/>
                </a:solidFill>
                <a:latin typeface="Arial"/>
                <a:ea typeface="Arial"/>
                <a:cs typeface="Arial"/>
              </a:defRPr>
            </a:defPPr>
          </a:lstStyle>
          <a:p>
            <a:pPr>
              <a:defRPr sz="1275">
                <a:solidFill>
                  <a:srgbClr val="101918"/>
                </a:solidFill>
                <a:latin typeface="Arial"/>
                <a:ea typeface="Arial"/>
                <a:cs typeface="Arial"/>
              </a:defRPr>
            </a:pPr>
            <a:r>
              <a:rPr sz="1275">
                <a:solidFill>
                  <a:srgbClr val="101918"/>
                </a:solidFill>
                <a:latin typeface="Arial"/>
                <a:ea typeface="Arial"/>
                <a:cs typeface="Arial"/>
              </a:rPr>
              <a:t>Equal Weight</a:t>
            </a:r>
          </a:p>
        </p:txBody>
      </p:sp>
      <p:sp>
        <p:nvSpPr>
          <p:cNvPr id="10" name="rule">
            <a:extLst>
              <a:ext uri="{FF2B5EF4-FFF2-40B4-BE49-F238E27FC236}">
                <a16:creationId xmlns:a16="http://schemas.microsoft.com/office/drawing/2014/main" id="{A9F42106-D934-415C-84D1-835921F6E280}"/>
              </a:ext>
            </a:extLst>
          </p:cNvPr>
          <p:cNvSpPr>
            <a:spLocks noGrp="1"/>
          </p:cNvSpPr>
          <p:nvPr/>
        </p:nvSpPr>
        <p:spPr>
          <a:xfrm>
            <a:off x="4061460" y="1857375"/>
            <a:ext cx="123825" cy="123825"/>
          </a:xfrm>
          <a:prstGeom prst="rect">
            <a:avLst/>
          </a:prstGeom>
          <a:solidFill>
            <a:srgbClr val="9BABA3"/>
          </a:solidFill>
          <a:ln w="0">
            <a:noFill/>
          </a:ln>
        </p:spPr>
        <p:txBody>
          <a:bodyPr/>
          <a:lstStyle/>
          <a:p>
            <a:endParaRPr lang="it-IT"/>
          </a:p>
        </p:txBody>
      </p:sp>
      <p:sp>
        <p:nvSpPr>
          <p:cNvPr id="11" name="Risk Parity (1/vol)">
            <a:extLst>
              <a:ext uri="{FF2B5EF4-FFF2-40B4-BE49-F238E27FC236}">
                <a16:creationId xmlns:a16="http://schemas.microsoft.com/office/drawing/2014/main" id="{9A3D0AE4-D618-47D6-84C2-0F82A245C2A1}"/>
              </a:ext>
            </a:extLst>
          </p:cNvPr>
          <p:cNvSpPr>
            <a:spLocks noGrp="1"/>
          </p:cNvSpPr>
          <p:nvPr/>
        </p:nvSpPr>
        <p:spPr>
          <a:xfrm>
            <a:off x="4251960" y="1809750"/>
            <a:ext cx="2476500" cy="209550"/>
          </a:xfrm>
          <a:prstGeom prst="rect">
            <a:avLst/>
          </a:prstGeom>
          <a:noFill/>
          <a:ln w="0">
            <a:noFill/>
          </a:ln>
        </p:spPr>
        <p:txBody>
          <a:bodyPr wrap="square" lIns="0" tIns="0" rIns="0" bIns="0">
            <a:noAutofit/>
          </a:bodyPr>
          <a:lstStyle>
            <a:defPPr>
              <a:defRPr sz="1275">
                <a:solidFill>
                  <a:srgbClr val="101918"/>
                </a:solidFill>
                <a:latin typeface="Arial"/>
                <a:ea typeface="Arial"/>
                <a:cs typeface="Arial"/>
              </a:defRPr>
            </a:defPPr>
          </a:lstStyle>
          <a:p>
            <a:pPr>
              <a:defRPr sz="1275">
                <a:solidFill>
                  <a:srgbClr val="101918"/>
                </a:solidFill>
                <a:latin typeface="Arial"/>
                <a:ea typeface="Arial"/>
                <a:cs typeface="Arial"/>
              </a:defRPr>
            </a:pPr>
            <a:r>
              <a:rPr sz="1275">
                <a:solidFill>
                  <a:srgbClr val="101918"/>
                </a:solidFill>
                <a:latin typeface="Arial"/>
                <a:ea typeface="Arial"/>
                <a:cs typeface="Arial"/>
              </a:rPr>
              <a:t>Risk Parity (1/vol)</a:t>
            </a:r>
          </a:p>
        </p:txBody>
      </p:sp>
      <p:graphicFrame>
        <p:nvGraphicFramePr>
          <p:cNvPr id="12" name="Chart">
            <a:extLst>
              <a:ext uri="{FF2B5EF4-FFF2-40B4-BE49-F238E27FC236}">
                <a16:creationId xmlns:a16="http://schemas.microsoft.com/office/drawing/2014/main" id="{B8E3B6AE-F104-4C95-A7F4-144E520D89D2}"/>
              </a:ext>
            </a:extLst>
          </p:cNvPr>
          <p:cNvGraphicFramePr/>
          <p:nvPr/>
        </p:nvGraphicFramePr>
        <p:xfrm>
          <a:off x="438150" y="2076450"/>
          <a:ext cx="6324600" cy="3048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2012">
            <a:extLst>
              <a:ext uri="{FF2B5EF4-FFF2-40B4-BE49-F238E27FC236}">
                <a16:creationId xmlns:a16="http://schemas.microsoft.com/office/drawing/2014/main" id="{0FBA093C-57C8-4EF4-A404-5A4DBFA18942}"/>
              </a:ext>
            </a:extLst>
          </p:cNvPr>
          <p:cNvSpPr>
            <a:spLocks noGrp="1"/>
          </p:cNvSpPr>
          <p:nvPr/>
        </p:nvSpPr>
        <p:spPr>
          <a:xfrm>
            <a:off x="876300" y="5181600"/>
            <a:ext cx="523875" cy="209550"/>
          </a:xfrm>
          <a:prstGeom prst="rect">
            <a:avLst/>
          </a:prstGeom>
          <a:noFill/>
          <a:ln w="0">
            <a:noFill/>
          </a:ln>
        </p:spPr>
        <p:txBody>
          <a:bodyPr wrap="square" lIns="0" tIns="0" rIns="0" bIns="0">
            <a:noAutofit/>
          </a:bodyPr>
          <a:lstStyle>
            <a:defPPr algn="ctr">
              <a:defRPr sz="1125">
                <a:solidFill>
                  <a:srgbClr val="64716B"/>
                </a:solidFill>
                <a:latin typeface="Arial"/>
                <a:ea typeface="Arial"/>
                <a:cs typeface="Arial"/>
              </a:defRPr>
            </a:defPPr>
          </a:lstStyle>
          <a:p>
            <a:pPr algn="ctr">
              <a:defRPr sz="1125">
                <a:solidFill>
                  <a:srgbClr val="64716B"/>
                </a:solidFill>
                <a:latin typeface="Arial"/>
                <a:ea typeface="Arial"/>
                <a:cs typeface="Arial"/>
              </a:defRPr>
            </a:pPr>
            <a:r>
              <a:rPr sz="1125">
                <a:solidFill>
                  <a:srgbClr val="64716B"/>
                </a:solidFill>
                <a:latin typeface="Arial"/>
                <a:ea typeface="Arial"/>
                <a:cs typeface="Arial"/>
              </a:rPr>
              <a:t>2012</a:t>
            </a:r>
          </a:p>
        </p:txBody>
      </p:sp>
      <p:sp>
        <p:nvSpPr>
          <p:cNvPr id="14" name="2016">
            <a:extLst>
              <a:ext uri="{FF2B5EF4-FFF2-40B4-BE49-F238E27FC236}">
                <a16:creationId xmlns:a16="http://schemas.microsoft.com/office/drawing/2014/main" id="{1D34D799-F20E-42A6-B2AD-BDC80CE8CE09}"/>
              </a:ext>
            </a:extLst>
          </p:cNvPr>
          <p:cNvSpPr>
            <a:spLocks noGrp="1"/>
          </p:cNvSpPr>
          <p:nvPr/>
        </p:nvSpPr>
        <p:spPr>
          <a:xfrm>
            <a:off x="2413153" y="5181600"/>
            <a:ext cx="523875" cy="209550"/>
          </a:xfrm>
          <a:prstGeom prst="rect">
            <a:avLst/>
          </a:prstGeom>
          <a:noFill/>
          <a:ln w="0">
            <a:noFill/>
          </a:ln>
        </p:spPr>
        <p:txBody>
          <a:bodyPr wrap="square" lIns="0" tIns="0" rIns="0" bIns="0">
            <a:noAutofit/>
          </a:bodyPr>
          <a:lstStyle>
            <a:defPPr algn="ctr">
              <a:defRPr sz="1125">
                <a:solidFill>
                  <a:srgbClr val="64716B"/>
                </a:solidFill>
                <a:latin typeface="Arial"/>
                <a:ea typeface="Arial"/>
                <a:cs typeface="Arial"/>
              </a:defRPr>
            </a:defPPr>
          </a:lstStyle>
          <a:p>
            <a:pPr algn="ctr">
              <a:defRPr sz="1125">
                <a:solidFill>
                  <a:srgbClr val="64716B"/>
                </a:solidFill>
                <a:latin typeface="Arial"/>
                <a:ea typeface="Arial"/>
                <a:cs typeface="Arial"/>
              </a:defRPr>
            </a:pPr>
            <a:r>
              <a:rPr sz="1125">
                <a:solidFill>
                  <a:srgbClr val="64716B"/>
                </a:solidFill>
                <a:latin typeface="Arial"/>
                <a:ea typeface="Arial"/>
                <a:cs typeface="Arial"/>
              </a:rPr>
              <a:t>2016</a:t>
            </a:r>
          </a:p>
        </p:txBody>
      </p:sp>
      <p:sp>
        <p:nvSpPr>
          <p:cNvPr id="15" name="2020">
            <a:extLst>
              <a:ext uri="{FF2B5EF4-FFF2-40B4-BE49-F238E27FC236}">
                <a16:creationId xmlns:a16="http://schemas.microsoft.com/office/drawing/2014/main" id="{6B0A786F-50AF-4FFF-87EB-F02FCD7CB0A0}"/>
              </a:ext>
            </a:extLst>
          </p:cNvPr>
          <p:cNvSpPr>
            <a:spLocks noGrp="1"/>
          </p:cNvSpPr>
          <p:nvPr/>
        </p:nvSpPr>
        <p:spPr>
          <a:xfrm>
            <a:off x="3950006" y="5181600"/>
            <a:ext cx="523875" cy="209550"/>
          </a:xfrm>
          <a:prstGeom prst="rect">
            <a:avLst/>
          </a:prstGeom>
          <a:noFill/>
          <a:ln w="0">
            <a:noFill/>
          </a:ln>
        </p:spPr>
        <p:txBody>
          <a:bodyPr wrap="square" lIns="0" tIns="0" rIns="0" bIns="0">
            <a:noAutofit/>
          </a:bodyPr>
          <a:lstStyle>
            <a:defPPr algn="ctr">
              <a:defRPr sz="1125">
                <a:solidFill>
                  <a:srgbClr val="64716B"/>
                </a:solidFill>
                <a:latin typeface="Arial"/>
                <a:ea typeface="Arial"/>
                <a:cs typeface="Arial"/>
              </a:defRPr>
            </a:defPPr>
          </a:lstStyle>
          <a:p>
            <a:pPr algn="ctr">
              <a:defRPr sz="1125">
                <a:solidFill>
                  <a:srgbClr val="64716B"/>
                </a:solidFill>
                <a:latin typeface="Arial"/>
                <a:ea typeface="Arial"/>
                <a:cs typeface="Arial"/>
              </a:defRPr>
            </a:pPr>
            <a:r>
              <a:rPr sz="1125">
                <a:solidFill>
                  <a:srgbClr val="64716B"/>
                </a:solidFill>
                <a:latin typeface="Arial"/>
                <a:ea typeface="Arial"/>
                <a:cs typeface="Arial"/>
              </a:rPr>
              <a:t>2020</a:t>
            </a:r>
          </a:p>
        </p:txBody>
      </p:sp>
      <p:sp>
        <p:nvSpPr>
          <p:cNvPr id="16" name="2024">
            <a:extLst>
              <a:ext uri="{FF2B5EF4-FFF2-40B4-BE49-F238E27FC236}">
                <a16:creationId xmlns:a16="http://schemas.microsoft.com/office/drawing/2014/main" id="{943B5A52-87C0-4021-9DB9-0B0374FC72C1}"/>
              </a:ext>
            </a:extLst>
          </p:cNvPr>
          <p:cNvSpPr>
            <a:spLocks noGrp="1"/>
          </p:cNvSpPr>
          <p:nvPr/>
        </p:nvSpPr>
        <p:spPr>
          <a:xfrm>
            <a:off x="5486859" y="5181600"/>
            <a:ext cx="523875" cy="209550"/>
          </a:xfrm>
          <a:prstGeom prst="rect">
            <a:avLst/>
          </a:prstGeom>
          <a:noFill/>
          <a:ln w="0">
            <a:noFill/>
          </a:ln>
        </p:spPr>
        <p:txBody>
          <a:bodyPr wrap="square" lIns="0" tIns="0" rIns="0" bIns="0">
            <a:noAutofit/>
          </a:bodyPr>
          <a:lstStyle>
            <a:defPPr algn="ctr">
              <a:defRPr sz="1125">
                <a:solidFill>
                  <a:srgbClr val="64716B"/>
                </a:solidFill>
                <a:latin typeface="Arial"/>
                <a:ea typeface="Arial"/>
                <a:cs typeface="Arial"/>
              </a:defRPr>
            </a:defPPr>
          </a:lstStyle>
          <a:p>
            <a:pPr algn="ctr">
              <a:defRPr sz="1125">
                <a:solidFill>
                  <a:srgbClr val="64716B"/>
                </a:solidFill>
                <a:latin typeface="Arial"/>
                <a:ea typeface="Arial"/>
                <a:cs typeface="Arial"/>
              </a:defRPr>
            </a:pPr>
            <a:r>
              <a:rPr sz="1125">
                <a:solidFill>
                  <a:srgbClr val="64716B"/>
                </a:solidFill>
                <a:latin typeface="Arial"/>
                <a:ea typeface="Arial"/>
                <a:cs typeface="Arial"/>
              </a:rPr>
              <a:t>2024</a:t>
            </a:r>
          </a:p>
        </p:txBody>
      </p:sp>
      <p:sp>
        <p:nvSpPr>
          <p:cNvPr id="17" name="2026">
            <a:extLst>
              <a:ext uri="{FF2B5EF4-FFF2-40B4-BE49-F238E27FC236}">
                <a16:creationId xmlns:a16="http://schemas.microsoft.com/office/drawing/2014/main" id="{3A601675-2D01-4767-A2DB-54F64CD631DA}"/>
              </a:ext>
            </a:extLst>
          </p:cNvPr>
          <p:cNvSpPr>
            <a:spLocks noGrp="1"/>
          </p:cNvSpPr>
          <p:nvPr/>
        </p:nvSpPr>
        <p:spPr>
          <a:xfrm>
            <a:off x="6191250" y="5181600"/>
            <a:ext cx="523875" cy="209550"/>
          </a:xfrm>
          <a:prstGeom prst="rect">
            <a:avLst/>
          </a:prstGeom>
          <a:noFill/>
          <a:ln w="0">
            <a:noFill/>
          </a:ln>
        </p:spPr>
        <p:txBody>
          <a:bodyPr wrap="square" lIns="0" tIns="0" rIns="0" bIns="0">
            <a:noAutofit/>
          </a:bodyPr>
          <a:lstStyle>
            <a:defPPr algn="ctr">
              <a:defRPr sz="1125">
                <a:solidFill>
                  <a:srgbClr val="64716B"/>
                </a:solidFill>
                <a:latin typeface="Arial"/>
                <a:ea typeface="Arial"/>
                <a:cs typeface="Arial"/>
              </a:defRPr>
            </a:defPPr>
          </a:lstStyle>
          <a:p>
            <a:pPr algn="ctr">
              <a:defRPr sz="1125">
                <a:solidFill>
                  <a:srgbClr val="64716B"/>
                </a:solidFill>
                <a:latin typeface="Arial"/>
                <a:ea typeface="Arial"/>
                <a:cs typeface="Arial"/>
              </a:defRPr>
            </a:pPr>
            <a:r>
              <a:rPr sz="1125">
                <a:solidFill>
                  <a:srgbClr val="64716B"/>
                </a:solidFill>
                <a:latin typeface="Arial"/>
                <a:ea typeface="Arial"/>
                <a:cs typeface="Arial"/>
              </a:rPr>
              <a:t>2026</a:t>
            </a:r>
          </a:p>
        </p:txBody>
      </p:sp>
      <p:sp>
        <p:nvSpPr>
          <p:cNvPr id="18" name="Our SAA over the full sample">
            <a:extLst>
              <a:ext uri="{FF2B5EF4-FFF2-40B4-BE49-F238E27FC236}">
                <a16:creationId xmlns:a16="http://schemas.microsoft.com/office/drawing/2014/main" id="{0B54843E-BEF2-4B4A-95AB-C98B36181DC2}"/>
              </a:ext>
            </a:extLst>
          </p:cNvPr>
          <p:cNvSpPr>
            <a:spLocks noGrp="1"/>
          </p:cNvSpPr>
          <p:nvPr/>
        </p:nvSpPr>
        <p:spPr>
          <a:xfrm>
            <a:off x="7048500" y="1485900"/>
            <a:ext cx="4533900" cy="266700"/>
          </a:xfrm>
          <a:prstGeom prst="rect">
            <a:avLst/>
          </a:prstGeom>
          <a:noFill/>
          <a:ln w="0">
            <a:noFill/>
          </a:ln>
        </p:spPr>
        <p:txBody>
          <a:bodyPr wrap="square" lIns="0" tIns="0" rIns="0" bIns="0">
            <a:noAutofit/>
          </a:bodyPr>
          <a:lstStyle>
            <a:defPPr>
              <a:defRPr sz="1650" b="1">
                <a:solidFill>
                  <a:srgbClr val="101918"/>
                </a:solidFill>
                <a:latin typeface="Arial"/>
                <a:ea typeface="Arial"/>
                <a:cs typeface="Arial"/>
              </a:defRPr>
            </a:defPPr>
          </a:lstStyle>
          <a:p>
            <a:pPr>
              <a:defRPr sz="1650" b="1">
                <a:solidFill>
                  <a:srgbClr val="101918"/>
                </a:solidFill>
                <a:latin typeface="Arial"/>
                <a:ea typeface="Arial"/>
                <a:cs typeface="Arial"/>
              </a:defRPr>
            </a:pPr>
            <a:r>
              <a:rPr sz="1650" b="1">
                <a:solidFill>
                  <a:srgbClr val="101918"/>
                </a:solidFill>
                <a:latin typeface="Arial"/>
                <a:ea typeface="Arial"/>
                <a:cs typeface="Arial"/>
              </a:rPr>
              <a:t>Our SAA over the full sample</a:t>
            </a:r>
          </a:p>
        </p:txBody>
      </p:sp>
      <p:graphicFrame>
        <p:nvGraphicFramePr>
          <p:cNvPr id="19" name="Tabella 18">
            <a:extLst>
              <a:ext uri="{FF2B5EF4-FFF2-40B4-BE49-F238E27FC236}">
                <a16:creationId xmlns:a16="http://schemas.microsoft.com/office/drawing/2014/main" id="{33A27907-9551-4CAA-B2D0-2DCFFD44C488}"/>
              </a:ext>
            </a:extLst>
          </p:cNvPr>
          <p:cNvGraphicFramePr/>
          <p:nvPr/>
        </p:nvGraphicFramePr>
        <p:xfrm>
          <a:off x="7048500" y="1847850"/>
          <a:ext cx="4533900" cy="3143248"/>
        </p:xfrm>
        <a:graphic>
          <a:graphicData uri="http://schemas.openxmlformats.org/drawingml/2006/table">
            <a:tbl>
              <a:tblPr/>
              <a:tblGrid>
                <a:gridCol w="27241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392906">
                <a:tc>
                  <a:txBody>
                    <a:bodyPr/>
                    <a:lstStyle/>
                    <a:p>
                      <a:pPr algn="l"/>
                      <a:r>
                        <a:rPr sz="1500" b="1">
                          <a:solidFill>
                            <a:srgbClr val="FFFFFF"/>
                          </a:solidFill>
                          <a:latin typeface="Arial"/>
                          <a:ea typeface="Arial"/>
                          <a:cs typeface="Arial"/>
                        </a:rPr>
                        <a:t>Measure</a:t>
                      </a:r>
                    </a:p>
                  </a:txBody>
                  <a:tcPr anchor="ctr">
                    <a:lnL w="5239">
                      <a:solidFill>
                        <a:srgbClr val="D6D9D3"/>
                      </a:solidFill>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500" b="1">
                          <a:solidFill>
                            <a:srgbClr val="FFFFFF"/>
                          </a:solidFill>
                          <a:latin typeface="Arial"/>
                          <a:ea typeface="Arial"/>
                          <a:cs typeface="Arial"/>
                        </a:rPr>
                        <a:t>Our SAA</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extLst>
                  <a:ext uri="{0D108BD9-81ED-4DB2-BD59-A6C34878D82A}">
                    <a16:rowId xmlns:a16="http://schemas.microsoft.com/office/drawing/2014/main" val="10000"/>
                  </a:ext>
                </a:extLst>
              </a:tr>
              <a:tr h="392906">
                <a:tc>
                  <a:txBody>
                    <a:bodyPr/>
                    <a:lstStyle/>
                    <a:p>
                      <a:pPr algn="l"/>
                      <a:r>
                        <a:rPr sz="1500" b="1">
                          <a:solidFill>
                            <a:srgbClr val="101918"/>
                          </a:solidFill>
                          <a:latin typeface="Arial"/>
                          <a:ea typeface="Arial"/>
                          <a:cs typeface="Arial"/>
                        </a:rPr>
                        <a:t>Ann. return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6.12%</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1"/>
                  </a:ext>
                </a:extLst>
              </a:tr>
              <a:tr h="392906">
                <a:tc>
                  <a:txBody>
                    <a:bodyPr/>
                    <a:lstStyle/>
                    <a:p>
                      <a:pPr algn="l"/>
                      <a:r>
                        <a:rPr sz="1500" b="1">
                          <a:solidFill>
                            <a:srgbClr val="101918"/>
                          </a:solidFill>
                          <a:latin typeface="Arial"/>
                          <a:ea typeface="Arial"/>
                          <a:cs typeface="Arial"/>
                        </a:rPr>
                        <a:t>Ann. excess return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4.34%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2"/>
                  </a:ext>
                </a:extLst>
              </a:tr>
              <a:tr h="392906">
                <a:tc>
                  <a:txBody>
                    <a:bodyPr/>
                    <a:lstStyle/>
                    <a:p>
                      <a:pPr algn="l"/>
                      <a:r>
                        <a:rPr sz="1500" b="1">
                          <a:solidFill>
                            <a:srgbClr val="101918"/>
                          </a:solidFill>
                          <a:latin typeface="Arial"/>
                          <a:ea typeface="Arial"/>
                          <a:cs typeface="Arial"/>
                        </a:rPr>
                        <a:t>Ann. volatility</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7.54%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3"/>
                  </a:ext>
                </a:extLst>
              </a:tr>
              <a:tr h="392906">
                <a:tc>
                  <a:txBody>
                    <a:bodyPr/>
                    <a:lstStyle/>
                    <a:p>
                      <a:pPr algn="l"/>
                      <a:r>
                        <a:rPr sz="1500" b="1">
                          <a:solidFill>
                            <a:srgbClr val="101918"/>
                          </a:solidFill>
                          <a:latin typeface="Arial"/>
                          <a:ea typeface="Arial"/>
                          <a:cs typeface="Arial"/>
                        </a:rPr>
                        <a:t>Sharpe</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500" b="1">
                          <a:solidFill>
                            <a:srgbClr val="101918"/>
                          </a:solidFill>
                          <a:latin typeface="Arial"/>
                          <a:ea typeface="Arial"/>
                          <a:cs typeface="Arial"/>
                        </a:rPr>
                        <a:t>0.576</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extLst>
                  <a:ext uri="{0D108BD9-81ED-4DB2-BD59-A6C34878D82A}">
                    <a16:rowId xmlns:a16="http://schemas.microsoft.com/office/drawing/2014/main" val="10004"/>
                  </a:ext>
                </a:extLst>
              </a:tr>
              <a:tr h="392906">
                <a:tc>
                  <a:txBody>
                    <a:bodyPr/>
                    <a:lstStyle/>
                    <a:p>
                      <a:pPr algn="l"/>
                      <a:r>
                        <a:rPr sz="1500" b="1">
                          <a:solidFill>
                            <a:srgbClr val="101918"/>
                          </a:solidFill>
                          <a:latin typeface="Arial"/>
                          <a:ea typeface="Arial"/>
                          <a:cs typeface="Arial"/>
                        </a:rPr>
                        <a:t>t-stat (excess)</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2.16</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5"/>
                  </a:ext>
                </a:extLst>
              </a:tr>
              <a:tr h="392906">
                <a:tc>
                  <a:txBody>
                    <a:bodyPr/>
                    <a:lstStyle/>
                    <a:p>
                      <a:pPr algn="l"/>
                      <a:r>
                        <a:rPr sz="1500" b="1">
                          <a:solidFill>
                            <a:srgbClr val="101918"/>
                          </a:solidFill>
                          <a:latin typeface="Arial"/>
                          <a:ea typeface="Arial"/>
                          <a:cs typeface="Arial"/>
                        </a:rPr>
                        <a:t>Max drawdown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-13.10%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6"/>
                  </a:ext>
                </a:extLst>
              </a:tr>
              <a:tr h="392906">
                <a:tc>
                  <a:txBody>
                    <a:bodyPr/>
                    <a:lstStyle/>
                    <a:p>
                      <a:pPr algn="l"/>
                      <a:r>
                        <a:rPr sz="1500" b="1">
                          <a:solidFill>
                            <a:srgbClr val="101918"/>
                          </a:solidFill>
                          <a:latin typeface="Arial"/>
                          <a:ea typeface="Arial"/>
                          <a:cs typeface="Arial"/>
                        </a:rPr>
                        <a:t>VaR 5% 1m</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3.58%</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7"/>
                  </a:ext>
                </a:extLst>
              </a:tr>
            </a:tbl>
          </a:graphicData>
        </a:graphic>
      </p:graphicFrame>
      <p:sp>
        <p:nvSpPr>
          <p:cNvPr id="20" name="rule">
            <a:extLst>
              <a:ext uri="{FF2B5EF4-FFF2-40B4-BE49-F238E27FC236}">
                <a16:creationId xmlns:a16="http://schemas.microsoft.com/office/drawing/2014/main" id="{C1F833B1-7251-4D78-952A-4A894CA30BAE}"/>
              </a:ext>
            </a:extLst>
          </p:cNvPr>
          <p:cNvSpPr>
            <a:spLocks noGrp="1"/>
          </p:cNvSpPr>
          <p:nvPr/>
        </p:nvSpPr>
        <p:spPr>
          <a:xfrm>
            <a:off x="609600" y="5486400"/>
            <a:ext cx="10972800" cy="9525"/>
          </a:xfrm>
          <a:prstGeom prst="rect">
            <a:avLst/>
          </a:prstGeom>
          <a:solidFill>
            <a:srgbClr val="D6D9D3"/>
          </a:solidFill>
          <a:ln w="0">
            <a:noFill/>
          </a:ln>
        </p:spPr>
        <p:txBody>
          <a:bodyPr/>
          <a:lstStyle/>
          <a:p>
            <a:endParaRPr lang="it-IT"/>
          </a:p>
        </p:txBody>
      </p:sp>
      <p:sp>
        <p:nvSpPr>
          <p:cNvPr id="21" name="This is a description, not a forecast: the weigh">
            <a:extLst>
              <a:ext uri="{FF2B5EF4-FFF2-40B4-BE49-F238E27FC236}">
                <a16:creationId xmlns:a16="http://schemas.microsoft.com/office/drawing/2014/main" id="{1B15688C-4F11-4E3C-8586-751639F50573}"/>
              </a:ext>
            </a:extLst>
          </p:cNvPr>
          <p:cNvSpPr>
            <a:spLocks noGrp="1"/>
          </p:cNvSpPr>
          <p:nvPr/>
        </p:nvSpPr>
        <p:spPr>
          <a:xfrm>
            <a:off x="609600" y="5638800"/>
            <a:ext cx="10972800" cy="571500"/>
          </a:xfrm>
          <a:prstGeom prst="rect">
            <a:avLst/>
          </a:prstGeom>
          <a:noFill/>
          <a:ln w="0">
            <a:noFill/>
          </a:ln>
        </p:spPr>
        <p:txBody>
          <a:bodyPr wrap="square" lIns="0" tIns="0" rIns="0" bIns="0">
            <a:noAutofit/>
          </a:bodyPr>
          <a:lstStyle>
            <a:defPPr>
              <a:defRPr sz="1725" b="1">
                <a:solidFill>
                  <a:srgbClr val="3D6358"/>
                </a:solidFill>
                <a:latin typeface="Arial"/>
                <a:ea typeface="Arial"/>
                <a:cs typeface="Arial"/>
              </a:defRPr>
            </a:defPPr>
          </a:lstStyle>
          <a:p>
            <a:pPr>
              <a:defRPr sz="1725" b="1">
                <a:solidFill>
                  <a:srgbClr val="3D6358"/>
                </a:solidFill>
                <a:latin typeface="Arial"/>
                <a:ea typeface="Arial"/>
                <a:cs typeface="Arial"/>
              </a:defRPr>
            </a:pPr>
            <a:r>
              <a:rPr sz="1725" b="1">
                <a:solidFill>
                  <a:srgbClr val="3D6358"/>
                </a:solidFill>
                <a:latin typeface="Arial"/>
                <a:ea typeface="Arial"/>
                <a:cs typeface="Arial"/>
              </a:rPr>
              <a:t>This is a description, not a forecast: the weights were estimated at the end of this same history, so the test is in sample by construction.</a:t>
            </a:r>
          </a:p>
        </p:txBody>
      </p:sp>
    </p:spTree>
    <p:extLst>
      <p:ext uri="{BB962C8B-B14F-4D97-AF65-F5344CB8AC3E}">
        <p14:creationId xmlns:p14="http://schemas.microsoft.com/office/powerpoint/2010/main" val="324721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1" name="placeholder_1">
            <a:extLst>
              <a:ext uri="{FF2B5EF4-FFF2-40B4-BE49-F238E27FC236}">
                <a16:creationId xmlns:a16="http://schemas.microsoft.com/office/drawing/2014/main" id="{7E8E1016-7FC4-48DC-A204-B787AA571369}"/>
              </a:ext>
            </a:extLst>
          </p:cNvPr>
          <p:cNvSpPr>
            <a:spLocks noGrp="1"/>
          </p:cNvSpPr>
          <p:nvPr>
            <p:ph type="title"/>
          </p:nvPr>
        </p:nvSpPr>
        <p:spPr>
          <a:prstGeom prst="rect">
            <a:avLst/>
          </a:prstGeom>
          <a:noFill/>
          <a:ln w="0">
            <a:noFill/>
          </a:ln>
        </p:spPr>
        <p:txBody>
          <a:bodyPr lIns="0" tIns="0" rIns="0" bIns="0"/>
          <a:lstStyle>
            <a:defPPr>
              <a:defRPr sz="3300" b="1">
                <a:solidFill>
                  <a:srgbClr val="101918"/>
                </a:solidFill>
                <a:latin typeface="Arial"/>
                <a:ea typeface="Arial"/>
                <a:cs typeface="Arial"/>
              </a:defRPr>
            </a:defPPr>
          </a:lstStyle>
          <a:p>
            <a:pPr>
              <a:defRPr sz="3300" b="1">
                <a:solidFill>
                  <a:srgbClr val="101918"/>
                </a:solidFill>
                <a:latin typeface="Arial"/>
                <a:ea typeface="Arial"/>
                <a:cs typeface="Arial"/>
              </a:defRPr>
            </a:pPr>
            <a:r>
              <a:t>Out-of-sample backtest</a:t>
            </a:r>
          </a:p>
        </p:txBody>
      </p:sp>
      <p:sp>
        <p:nvSpPr>
          <p:cNvPr id="2" name="CHECKPOINT 3 / WALK-FORWARD, MONTHLY RE-ESTIMATI">
            <a:extLst>
              <a:ext uri="{FF2B5EF4-FFF2-40B4-BE49-F238E27FC236}">
                <a16:creationId xmlns:a16="http://schemas.microsoft.com/office/drawing/2014/main" id="{84D32B12-439A-4115-80BF-38E46AAB6A30}"/>
              </a:ext>
            </a:extLst>
          </p:cNvPr>
          <p:cNvSpPr>
            <a:spLocks noGrp="1"/>
          </p:cNvSpPr>
          <p:nvPr/>
        </p:nvSpPr>
        <p:spPr>
          <a:xfrm>
            <a:off x="609600" y="295275"/>
            <a:ext cx="9486900" cy="238125"/>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CHECKPOINT 3 / WALK-FORWARD, MONTHLY RE-ESTIMATION, NOV 2017–SEP 2026</a:t>
            </a:r>
          </a:p>
        </p:txBody>
      </p:sp>
      <p:pic>
        <p:nvPicPr>
          <p:cNvPr id="3" name="Immagine 2">
            <a:extLst>
              <a:ext uri="{FF2B5EF4-FFF2-40B4-BE49-F238E27FC236}">
                <a16:creationId xmlns:a16="http://schemas.microsoft.com/office/drawing/2014/main" id="{F311D643-8B80-4EDF-A554-7249E6F1E79B}"/>
              </a:ext>
            </a:extLst>
          </p:cNvPr>
          <p:cNvPicPr>
            <a:picLocks noChangeAspect="1"/>
          </p:cNvPicPr>
          <p:nvPr/>
        </p:nvPicPr>
        <p:blipFill>
          <a:blip r:embed="rId3"/>
          <a:stretch/>
        </p:blipFill>
        <p:spPr>
          <a:xfrm>
            <a:off x="10435460" y="190500"/>
            <a:ext cx="1055630" cy="695325"/>
          </a:xfrm>
          <a:prstGeom prst="rect">
            <a:avLst/>
          </a:prstGeom>
        </p:spPr>
      </p:pic>
      <p:sp>
        <p:nvSpPr>
          <p:cNvPr id="4" name="09">
            <a:extLst>
              <a:ext uri="{FF2B5EF4-FFF2-40B4-BE49-F238E27FC236}">
                <a16:creationId xmlns:a16="http://schemas.microsoft.com/office/drawing/2014/main" id="{8A6C76D8-B25A-405C-9941-6FFC476084B8}"/>
              </a:ext>
            </a:extLst>
          </p:cNvPr>
          <p:cNvSpPr>
            <a:spLocks noGrp="1"/>
          </p:cNvSpPr>
          <p:nvPr/>
        </p:nvSpPr>
        <p:spPr>
          <a:xfrm>
            <a:off x="10287000" y="6496050"/>
            <a:ext cx="1295400" cy="209550"/>
          </a:xfrm>
          <a:prstGeom prst="rect">
            <a:avLst/>
          </a:prstGeom>
          <a:noFill/>
          <a:ln w="0">
            <a:noFill/>
          </a:ln>
        </p:spPr>
        <p:txBody>
          <a:bodyPr wrap="square" lIns="0" tIns="0" rIns="0" bIns="0">
            <a:noAutofit/>
          </a:bodyPr>
          <a:lstStyle>
            <a:defPPr algn="r">
              <a:defRPr sz="1050">
                <a:solidFill>
                  <a:srgbClr val="64716B"/>
                </a:solidFill>
                <a:latin typeface="Arial"/>
                <a:ea typeface="Arial"/>
                <a:cs typeface="Arial"/>
              </a:defRPr>
            </a:defPPr>
          </a:lstStyle>
          <a:p>
            <a:pPr algn="r">
              <a:defRPr sz="1050">
                <a:solidFill>
                  <a:srgbClr val="64716B"/>
                </a:solidFill>
                <a:latin typeface="Arial"/>
                <a:ea typeface="Arial"/>
                <a:cs typeface="Arial"/>
              </a:defRPr>
            </a:pPr>
            <a:r>
              <a:rPr sz="1050">
                <a:solidFill>
                  <a:srgbClr val="64716B"/>
                </a:solidFill>
                <a:latin typeface="Arial"/>
                <a:ea typeface="Arial"/>
                <a:cs typeface="Arial"/>
              </a:rPr>
              <a:t>09</a:t>
            </a:r>
          </a:p>
        </p:txBody>
      </p:sp>
      <p:sp>
        <p:nvSpPr>
          <p:cNvPr id="5" name="Growth of USD 1, weights re-estimated monthly">
            <a:extLst>
              <a:ext uri="{FF2B5EF4-FFF2-40B4-BE49-F238E27FC236}">
                <a16:creationId xmlns:a16="http://schemas.microsoft.com/office/drawing/2014/main" id="{E0FD7791-8A41-453E-A95C-82E0F114D098}"/>
              </a:ext>
            </a:extLst>
          </p:cNvPr>
          <p:cNvSpPr>
            <a:spLocks noGrp="1"/>
          </p:cNvSpPr>
          <p:nvPr/>
        </p:nvSpPr>
        <p:spPr>
          <a:xfrm>
            <a:off x="533400" y="1485900"/>
            <a:ext cx="6210300" cy="266700"/>
          </a:xfrm>
          <a:prstGeom prst="rect">
            <a:avLst/>
          </a:prstGeom>
          <a:noFill/>
          <a:ln w="0">
            <a:noFill/>
          </a:ln>
        </p:spPr>
        <p:txBody>
          <a:bodyPr wrap="square" lIns="0" tIns="0" rIns="0" bIns="0">
            <a:noAutofit/>
          </a:bodyPr>
          <a:lstStyle>
            <a:defPPr>
              <a:defRPr sz="1650" b="1">
                <a:solidFill>
                  <a:srgbClr val="101918"/>
                </a:solidFill>
                <a:latin typeface="Arial"/>
                <a:ea typeface="Arial"/>
                <a:cs typeface="Arial"/>
              </a:defRPr>
            </a:defPPr>
          </a:lstStyle>
          <a:p>
            <a:pPr>
              <a:defRPr sz="1650" b="1">
                <a:solidFill>
                  <a:srgbClr val="101918"/>
                </a:solidFill>
                <a:latin typeface="Arial"/>
                <a:ea typeface="Arial"/>
                <a:cs typeface="Arial"/>
              </a:defRPr>
            </a:pPr>
            <a:r>
              <a:rPr sz="1650" b="1">
                <a:solidFill>
                  <a:srgbClr val="101918"/>
                </a:solidFill>
                <a:latin typeface="Arial"/>
                <a:ea typeface="Arial"/>
                <a:cs typeface="Arial"/>
              </a:rPr>
              <a:t>Growth of USD 1, weights re-estimated monthly</a:t>
            </a:r>
          </a:p>
        </p:txBody>
      </p:sp>
      <p:sp>
        <p:nvSpPr>
          <p:cNvPr id="6" name="rule">
            <a:extLst>
              <a:ext uri="{FF2B5EF4-FFF2-40B4-BE49-F238E27FC236}">
                <a16:creationId xmlns:a16="http://schemas.microsoft.com/office/drawing/2014/main" id="{8ED35E3D-CF98-4402-A715-CFFED2D9B01C}"/>
              </a:ext>
            </a:extLst>
          </p:cNvPr>
          <p:cNvSpPr>
            <a:spLocks noGrp="1"/>
          </p:cNvSpPr>
          <p:nvPr/>
        </p:nvSpPr>
        <p:spPr>
          <a:xfrm>
            <a:off x="533400" y="1857375"/>
            <a:ext cx="123825" cy="123825"/>
          </a:xfrm>
          <a:prstGeom prst="rect">
            <a:avLst/>
          </a:prstGeom>
          <a:solidFill>
            <a:srgbClr val="3D6358"/>
          </a:solidFill>
          <a:ln w="0">
            <a:noFill/>
          </a:ln>
        </p:spPr>
        <p:txBody>
          <a:bodyPr/>
          <a:lstStyle/>
          <a:p>
            <a:endParaRPr lang="it-IT"/>
          </a:p>
        </p:txBody>
      </p:sp>
      <p:sp>
        <p:nvSpPr>
          <p:cNvPr id="7" name="Our SAA (capped ERC)">
            <a:extLst>
              <a:ext uri="{FF2B5EF4-FFF2-40B4-BE49-F238E27FC236}">
                <a16:creationId xmlns:a16="http://schemas.microsoft.com/office/drawing/2014/main" id="{A09EEDDF-666A-4529-B523-319C86DA2FE9}"/>
              </a:ext>
            </a:extLst>
          </p:cNvPr>
          <p:cNvSpPr>
            <a:spLocks noGrp="1"/>
          </p:cNvSpPr>
          <p:nvPr/>
        </p:nvSpPr>
        <p:spPr>
          <a:xfrm>
            <a:off x="723900" y="1809750"/>
            <a:ext cx="2476500" cy="209550"/>
          </a:xfrm>
          <a:prstGeom prst="rect">
            <a:avLst/>
          </a:prstGeom>
          <a:noFill/>
          <a:ln w="0">
            <a:noFill/>
          </a:ln>
        </p:spPr>
        <p:txBody>
          <a:bodyPr wrap="square" lIns="0" tIns="0" rIns="0" bIns="0">
            <a:noAutofit/>
          </a:bodyPr>
          <a:lstStyle>
            <a:defPPr>
              <a:defRPr sz="1275">
                <a:solidFill>
                  <a:srgbClr val="101918"/>
                </a:solidFill>
                <a:latin typeface="Arial"/>
                <a:ea typeface="Arial"/>
                <a:cs typeface="Arial"/>
              </a:defRPr>
            </a:defPPr>
          </a:lstStyle>
          <a:p>
            <a:pPr>
              <a:defRPr sz="1275">
                <a:solidFill>
                  <a:srgbClr val="101918"/>
                </a:solidFill>
                <a:latin typeface="Arial"/>
                <a:ea typeface="Arial"/>
                <a:cs typeface="Arial"/>
              </a:defRPr>
            </a:pPr>
            <a:r>
              <a:rPr sz="1275">
                <a:solidFill>
                  <a:srgbClr val="101918"/>
                </a:solidFill>
                <a:latin typeface="Arial"/>
                <a:ea typeface="Arial"/>
                <a:cs typeface="Arial"/>
              </a:rPr>
              <a:t>Our SAA (capped ERC)</a:t>
            </a:r>
          </a:p>
        </p:txBody>
      </p:sp>
      <p:sp>
        <p:nvSpPr>
          <p:cNvPr id="8" name="rule">
            <a:extLst>
              <a:ext uri="{FF2B5EF4-FFF2-40B4-BE49-F238E27FC236}">
                <a16:creationId xmlns:a16="http://schemas.microsoft.com/office/drawing/2014/main" id="{53689BAF-2EC7-489D-BC70-B4BA690CF638}"/>
              </a:ext>
            </a:extLst>
          </p:cNvPr>
          <p:cNvSpPr>
            <a:spLocks noGrp="1"/>
          </p:cNvSpPr>
          <p:nvPr/>
        </p:nvSpPr>
        <p:spPr>
          <a:xfrm>
            <a:off x="2647950" y="1857375"/>
            <a:ext cx="123825" cy="123825"/>
          </a:xfrm>
          <a:prstGeom prst="rect">
            <a:avLst/>
          </a:prstGeom>
          <a:solidFill>
            <a:srgbClr val="9B8052"/>
          </a:solidFill>
          <a:ln w="0">
            <a:noFill/>
          </a:ln>
        </p:spPr>
        <p:txBody>
          <a:bodyPr/>
          <a:lstStyle/>
          <a:p>
            <a:endParaRPr lang="it-IT"/>
          </a:p>
        </p:txBody>
      </p:sp>
      <p:sp>
        <p:nvSpPr>
          <p:cNvPr id="9" name="Equal Weight">
            <a:extLst>
              <a:ext uri="{FF2B5EF4-FFF2-40B4-BE49-F238E27FC236}">
                <a16:creationId xmlns:a16="http://schemas.microsoft.com/office/drawing/2014/main" id="{4FF40DA4-7DD0-4B01-A393-8B5A1D6692A3}"/>
              </a:ext>
            </a:extLst>
          </p:cNvPr>
          <p:cNvSpPr>
            <a:spLocks noGrp="1"/>
          </p:cNvSpPr>
          <p:nvPr/>
        </p:nvSpPr>
        <p:spPr>
          <a:xfrm>
            <a:off x="2838450" y="1809750"/>
            <a:ext cx="2476500" cy="209550"/>
          </a:xfrm>
          <a:prstGeom prst="rect">
            <a:avLst/>
          </a:prstGeom>
          <a:noFill/>
          <a:ln w="0">
            <a:noFill/>
          </a:ln>
        </p:spPr>
        <p:txBody>
          <a:bodyPr wrap="square" lIns="0" tIns="0" rIns="0" bIns="0">
            <a:noAutofit/>
          </a:bodyPr>
          <a:lstStyle>
            <a:defPPr>
              <a:defRPr sz="1275">
                <a:solidFill>
                  <a:srgbClr val="101918"/>
                </a:solidFill>
                <a:latin typeface="Arial"/>
                <a:ea typeface="Arial"/>
                <a:cs typeface="Arial"/>
              </a:defRPr>
            </a:defPPr>
          </a:lstStyle>
          <a:p>
            <a:pPr>
              <a:defRPr sz="1275">
                <a:solidFill>
                  <a:srgbClr val="101918"/>
                </a:solidFill>
                <a:latin typeface="Arial"/>
                <a:ea typeface="Arial"/>
                <a:cs typeface="Arial"/>
              </a:defRPr>
            </a:pPr>
            <a:r>
              <a:rPr sz="1275">
                <a:solidFill>
                  <a:srgbClr val="101918"/>
                </a:solidFill>
                <a:latin typeface="Arial"/>
                <a:ea typeface="Arial"/>
                <a:cs typeface="Arial"/>
              </a:rPr>
              <a:t>Equal Weight</a:t>
            </a:r>
          </a:p>
        </p:txBody>
      </p:sp>
      <p:sp>
        <p:nvSpPr>
          <p:cNvPr id="10" name="rule">
            <a:extLst>
              <a:ext uri="{FF2B5EF4-FFF2-40B4-BE49-F238E27FC236}">
                <a16:creationId xmlns:a16="http://schemas.microsoft.com/office/drawing/2014/main" id="{B3A78655-4DBA-49D9-A97E-AE57C342C9F1}"/>
              </a:ext>
            </a:extLst>
          </p:cNvPr>
          <p:cNvSpPr>
            <a:spLocks noGrp="1"/>
          </p:cNvSpPr>
          <p:nvPr/>
        </p:nvSpPr>
        <p:spPr>
          <a:xfrm>
            <a:off x="4061460" y="1857375"/>
            <a:ext cx="123825" cy="123825"/>
          </a:xfrm>
          <a:prstGeom prst="rect">
            <a:avLst/>
          </a:prstGeom>
          <a:solidFill>
            <a:srgbClr val="9BABA3"/>
          </a:solidFill>
          <a:ln w="0">
            <a:noFill/>
          </a:ln>
        </p:spPr>
        <p:txBody>
          <a:bodyPr/>
          <a:lstStyle/>
          <a:p>
            <a:endParaRPr lang="it-IT"/>
          </a:p>
        </p:txBody>
      </p:sp>
      <p:sp>
        <p:nvSpPr>
          <p:cNvPr id="11" name="Risk Parity (1/vol)">
            <a:extLst>
              <a:ext uri="{FF2B5EF4-FFF2-40B4-BE49-F238E27FC236}">
                <a16:creationId xmlns:a16="http://schemas.microsoft.com/office/drawing/2014/main" id="{DF5448D3-D356-4AED-9705-C62692082663}"/>
              </a:ext>
            </a:extLst>
          </p:cNvPr>
          <p:cNvSpPr>
            <a:spLocks noGrp="1"/>
          </p:cNvSpPr>
          <p:nvPr/>
        </p:nvSpPr>
        <p:spPr>
          <a:xfrm>
            <a:off x="4251960" y="1809750"/>
            <a:ext cx="2476500" cy="209550"/>
          </a:xfrm>
          <a:prstGeom prst="rect">
            <a:avLst/>
          </a:prstGeom>
          <a:noFill/>
          <a:ln w="0">
            <a:noFill/>
          </a:ln>
        </p:spPr>
        <p:txBody>
          <a:bodyPr wrap="square" lIns="0" tIns="0" rIns="0" bIns="0">
            <a:noAutofit/>
          </a:bodyPr>
          <a:lstStyle>
            <a:defPPr>
              <a:defRPr sz="1275">
                <a:solidFill>
                  <a:srgbClr val="101918"/>
                </a:solidFill>
                <a:latin typeface="Arial"/>
                <a:ea typeface="Arial"/>
                <a:cs typeface="Arial"/>
              </a:defRPr>
            </a:defPPr>
          </a:lstStyle>
          <a:p>
            <a:pPr>
              <a:defRPr sz="1275">
                <a:solidFill>
                  <a:srgbClr val="101918"/>
                </a:solidFill>
                <a:latin typeface="Arial"/>
                <a:ea typeface="Arial"/>
                <a:cs typeface="Arial"/>
              </a:defRPr>
            </a:pPr>
            <a:r>
              <a:rPr sz="1275">
                <a:solidFill>
                  <a:srgbClr val="101918"/>
                </a:solidFill>
                <a:latin typeface="Arial"/>
                <a:ea typeface="Arial"/>
                <a:cs typeface="Arial"/>
              </a:rPr>
              <a:t>Risk Parity (1/vol)</a:t>
            </a:r>
          </a:p>
        </p:txBody>
      </p:sp>
      <p:graphicFrame>
        <p:nvGraphicFramePr>
          <p:cNvPr id="12" name="Chart">
            <a:extLst>
              <a:ext uri="{FF2B5EF4-FFF2-40B4-BE49-F238E27FC236}">
                <a16:creationId xmlns:a16="http://schemas.microsoft.com/office/drawing/2014/main" id="{FDAFFAEC-2239-4602-B728-ADBAFFC3D734}"/>
              </a:ext>
            </a:extLst>
          </p:cNvPr>
          <p:cNvGraphicFramePr/>
          <p:nvPr/>
        </p:nvGraphicFramePr>
        <p:xfrm>
          <a:off x="438150" y="2076450"/>
          <a:ext cx="6324600" cy="3048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2017">
            <a:extLst>
              <a:ext uri="{FF2B5EF4-FFF2-40B4-BE49-F238E27FC236}">
                <a16:creationId xmlns:a16="http://schemas.microsoft.com/office/drawing/2014/main" id="{ADB197F5-0ADE-4E40-8B3C-4BE50FB87C99}"/>
              </a:ext>
            </a:extLst>
          </p:cNvPr>
          <p:cNvSpPr>
            <a:spLocks noGrp="1"/>
          </p:cNvSpPr>
          <p:nvPr/>
        </p:nvSpPr>
        <p:spPr>
          <a:xfrm>
            <a:off x="876300" y="5181600"/>
            <a:ext cx="523875" cy="209550"/>
          </a:xfrm>
          <a:prstGeom prst="rect">
            <a:avLst/>
          </a:prstGeom>
          <a:noFill/>
          <a:ln w="0">
            <a:noFill/>
          </a:ln>
        </p:spPr>
        <p:txBody>
          <a:bodyPr wrap="square" lIns="0" tIns="0" rIns="0" bIns="0">
            <a:noAutofit/>
          </a:bodyPr>
          <a:lstStyle>
            <a:defPPr algn="ctr">
              <a:defRPr sz="1125">
                <a:solidFill>
                  <a:srgbClr val="64716B"/>
                </a:solidFill>
                <a:latin typeface="Arial"/>
                <a:ea typeface="Arial"/>
                <a:cs typeface="Arial"/>
              </a:defRPr>
            </a:defPPr>
          </a:lstStyle>
          <a:p>
            <a:pPr algn="ctr">
              <a:defRPr sz="1125">
                <a:solidFill>
                  <a:srgbClr val="64716B"/>
                </a:solidFill>
                <a:latin typeface="Arial"/>
                <a:ea typeface="Arial"/>
                <a:cs typeface="Arial"/>
              </a:defRPr>
            </a:pPr>
            <a:r>
              <a:rPr sz="1125">
                <a:solidFill>
                  <a:srgbClr val="64716B"/>
                </a:solidFill>
                <a:latin typeface="Arial"/>
                <a:ea typeface="Arial"/>
                <a:cs typeface="Arial"/>
              </a:rPr>
              <a:t>2017</a:t>
            </a:r>
          </a:p>
        </p:txBody>
      </p:sp>
      <p:sp>
        <p:nvSpPr>
          <p:cNvPr id="14" name="2020">
            <a:extLst>
              <a:ext uri="{FF2B5EF4-FFF2-40B4-BE49-F238E27FC236}">
                <a16:creationId xmlns:a16="http://schemas.microsoft.com/office/drawing/2014/main" id="{70A8EED2-0AF8-4CB1-9AF1-2BCDADA2497A}"/>
              </a:ext>
            </a:extLst>
          </p:cNvPr>
          <p:cNvSpPr>
            <a:spLocks noGrp="1"/>
          </p:cNvSpPr>
          <p:nvPr/>
        </p:nvSpPr>
        <p:spPr>
          <a:xfrm>
            <a:off x="2681377" y="5181600"/>
            <a:ext cx="523875" cy="209550"/>
          </a:xfrm>
          <a:prstGeom prst="rect">
            <a:avLst/>
          </a:prstGeom>
          <a:noFill/>
          <a:ln w="0">
            <a:noFill/>
          </a:ln>
        </p:spPr>
        <p:txBody>
          <a:bodyPr wrap="square" lIns="0" tIns="0" rIns="0" bIns="0">
            <a:noAutofit/>
          </a:bodyPr>
          <a:lstStyle>
            <a:defPPr algn="ctr">
              <a:defRPr sz="1125">
                <a:solidFill>
                  <a:srgbClr val="64716B"/>
                </a:solidFill>
                <a:latin typeface="Arial"/>
                <a:ea typeface="Arial"/>
                <a:cs typeface="Arial"/>
              </a:defRPr>
            </a:defPPr>
          </a:lstStyle>
          <a:p>
            <a:pPr algn="ctr">
              <a:defRPr sz="1125">
                <a:solidFill>
                  <a:srgbClr val="64716B"/>
                </a:solidFill>
                <a:latin typeface="Arial"/>
                <a:ea typeface="Arial"/>
                <a:cs typeface="Arial"/>
              </a:defRPr>
            </a:pPr>
            <a:r>
              <a:rPr sz="1125">
                <a:solidFill>
                  <a:srgbClr val="64716B"/>
                </a:solidFill>
                <a:latin typeface="Arial"/>
                <a:ea typeface="Arial"/>
                <a:cs typeface="Arial"/>
              </a:rPr>
              <a:t>2020</a:t>
            </a:r>
          </a:p>
        </p:txBody>
      </p:sp>
      <p:sp>
        <p:nvSpPr>
          <p:cNvPr id="15" name="2023">
            <a:extLst>
              <a:ext uri="{FF2B5EF4-FFF2-40B4-BE49-F238E27FC236}">
                <a16:creationId xmlns:a16="http://schemas.microsoft.com/office/drawing/2014/main" id="{292E1E9A-FA57-40DC-92D3-4FBA8B63A84D}"/>
              </a:ext>
            </a:extLst>
          </p:cNvPr>
          <p:cNvSpPr>
            <a:spLocks noGrp="1"/>
          </p:cNvSpPr>
          <p:nvPr/>
        </p:nvSpPr>
        <p:spPr>
          <a:xfrm>
            <a:off x="4486455" y="5181600"/>
            <a:ext cx="523875" cy="209550"/>
          </a:xfrm>
          <a:prstGeom prst="rect">
            <a:avLst/>
          </a:prstGeom>
          <a:noFill/>
          <a:ln w="0">
            <a:noFill/>
          </a:ln>
        </p:spPr>
        <p:txBody>
          <a:bodyPr wrap="square" lIns="0" tIns="0" rIns="0" bIns="0">
            <a:noAutofit/>
          </a:bodyPr>
          <a:lstStyle>
            <a:defPPr algn="ctr">
              <a:defRPr sz="1125">
                <a:solidFill>
                  <a:srgbClr val="64716B"/>
                </a:solidFill>
                <a:latin typeface="Arial"/>
                <a:ea typeface="Arial"/>
                <a:cs typeface="Arial"/>
              </a:defRPr>
            </a:defPPr>
          </a:lstStyle>
          <a:p>
            <a:pPr algn="ctr">
              <a:defRPr sz="1125">
                <a:solidFill>
                  <a:srgbClr val="64716B"/>
                </a:solidFill>
                <a:latin typeface="Arial"/>
                <a:ea typeface="Arial"/>
                <a:cs typeface="Arial"/>
              </a:defRPr>
            </a:pPr>
            <a:r>
              <a:rPr sz="1125">
                <a:solidFill>
                  <a:srgbClr val="64716B"/>
                </a:solidFill>
                <a:latin typeface="Arial"/>
                <a:ea typeface="Arial"/>
                <a:cs typeface="Arial"/>
              </a:rPr>
              <a:t>2023</a:t>
            </a:r>
          </a:p>
        </p:txBody>
      </p:sp>
      <p:sp>
        <p:nvSpPr>
          <p:cNvPr id="16" name="2026">
            <a:extLst>
              <a:ext uri="{FF2B5EF4-FFF2-40B4-BE49-F238E27FC236}">
                <a16:creationId xmlns:a16="http://schemas.microsoft.com/office/drawing/2014/main" id="{81839EE6-6F17-4103-A674-1886D74793B8}"/>
              </a:ext>
            </a:extLst>
          </p:cNvPr>
          <p:cNvSpPr>
            <a:spLocks noGrp="1"/>
          </p:cNvSpPr>
          <p:nvPr/>
        </p:nvSpPr>
        <p:spPr>
          <a:xfrm>
            <a:off x="6191250" y="5181600"/>
            <a:ext cx="523875" cy="209550"/>
          </a:xfrm>
          <a:prstGeom prst="rect">
            <a:avLst/>
          </a:prstGeom>
          <a:noFill/>
          <a:ln w="0">
            <a:noFill/>
          </a:ln>
        </p:spPr>
        <p:txBody>
          <a:bodyPr wrap="square" lIns="0" tIns="0" rIns="0" bIns="0">
            <a:noAutofit/>
          </a:bodyPr>
          <a:lstStyle>
            <a:defPPr algn="ctr">
              <a:defRPr sz="1125">
                <a:solidFill>
                  <a:srgbClr val="64716B"/>
                </a:solidFill>
                <a:latin typeface="Arial"/>
                <a:ea typeface="Arial"/>
                <a:cs typeface="Arial"/>
              </a:defRPr>
            </a:defPPr>
          </a:lstStyle>
          <a:p>
            <a:pPr algn="ctr">
              <a:defRPr sz="1125">
                <a:solidFill>
                  <a:srgbClr val="64716B"/>
                </a:solidFill>
                <a:latin typeface="Arial"/>
                <a:ea typeface="Arial"/>
                <a:cs typeface="Arial"/>
              </a:defRPr>
            </a:pPr>
            <a:r>
              <a:rPr sz="1125">
                <a:solidFill>
                  <a:srgbClr val="64716B"/>
                </a:solidFill>
                <a:latin typeface="Arial"/>
                <a:ea typeface="Arial"/>
                <a:cs typeface="Arial"/>
              </a:rPr>
              <a:t>2026</a:t>
            </a:r>
          </a:p>
        </p:txBody>
      </p:sp>
      <p:sp>
        <p:nvSpPr>
          <p:cNvPr id="17" name="Our SAA, walk-forward">
            <a:extLst>
              <a:ext uri="{FF2B5EF4-FFF2-40B4-BE49-F238E27FC236}">
                <a16:creationId xmlns:a16="http://schemas.microsoft.com/office/drawing/2014/main" id="{CBE29DC8-DB9F-4F09-9B37-3D7899212B80}"/>
              </a:ext>
            </a:extLst>
          </p:cNvPr>
          <p:cNvSpPr>
            <a:spLocks noGrp="1"/>
          </p:cNvSpPr>
          <p:nvPr/>
        </p:nvSpPr>
        <p:spPr>
          <a:xfrm>
            <a:off x="7048500" y="1485900"/>
            <a:ext cx="4533900" cy="266700"/>
          </a:xfrm>
          <a:prstGeom prst="rect">
            <a:avLst/>
          </a:prstGeom>
          <a:noFill/>
          <a:ln w="0">
            <a:noFill/>
          </a:ln>
        </p:spPr>
        <p:txBody>
          <a:bodyPr wrap="square" lIns="0" tIns="0" rIns="0" bIns="0">
            <a:noAutofit/>
          </a:bodyPr>
          <a:lstStyle>
            <a:defPPr>
              <a:defRPr sz="1650" b="1">
                <a:solidFill>
                  <a:srgbClr val="101918"/>
                </a:solidFill>
                <a:latin typeface="Arial"/>
                <a:ea typeface="Arial"/>
                <a:cs typeface="Arial"/>
              </a:defRPr>
            </a:defPPr>
          </a:lstStyle>
          <a:p>
            <a:pPr>
              <a:defRPr sz="1650" b="1">
                <a:solidFill>
                  <a:srgbClr val="101918"/>
                </a:solidFill>
                <a:latin typeface="Arial"/>
                <a:ea typeface="Arial"/>
                <a:cs typeface="Arial"/>
              </a:defRPr>
            </a:pPr>
            <a:r>
              <a:rPr sz="1650" b="1">
                <a:solidFill>
                  <a:srgbClr val="101918"/>
                </a:solidFill>
                <a:latin typeface="Arial"/>
                <a:ea typeface="Arial"/>
                <a:cs typeface="Arial"/>
              </a:rPr>
              <a:t>Our SAA, walk-forward</a:t>
            </a:r>
          </a:p>
        </p:txBody>
      </p:sp>
      <p:graphicFrame>
        <p:nvGraphicFramePr>
          <p:cNvPr id="18" name="Tabella 17">
            <a:extLst>
              <a:ext uri="{FF2B5EF4-FFF2-40B4-BE49-F238E27FC236}">
                <a16:creationId xmlns:a16="http://schemas.microsoft.com/office/drawing/2014/main" id="{DF856D87-8C79-4556-89D7-53AF12FC575B}"/>
              </a:ext>
            </a:extLst>
          </p:cNvPr>
          <p:cNvGraphicFramePr/>
          <p:nvPr/>
        </p:nvGraphicFramePr>
        <p:xfrm>
          <a:off x="7048500" y="1847850"/>
          <a:ext cx="4533900" cy="3143248"/>
        </p:xfrm>
        <a:graphic>
          <a:graphicData uri="http://schemas.openxmlformats.org/drawingml/2006/table">
            <a:tbl>
              <a:tblPr/>
              <a:tblGrid>
                <a:gridCol w="27241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392906">
                <a:tc>
                  <a:txBody>
                    <a:bodyPr/>
                    <a:lstStyle/>
                    <a:p>
                      <a:pPr algn="l"/>
                      <a:r>
                        <a:rPr sz="1500" b="1">
                          <a:solidFill>
                            <a:srgbClr val="FFFFFF"/>
                          </a:solidFill>
                          <a:latin typeface="Arial"/>
                          <a:ea typeface="Arial"/>
                          <a:cs typeface="Arial"/>
                        </a:rPr>
                        <a:t>Measure</a:t>
                      </a:r>
                    </a:p>
                  </a:txBody>
                  <a:tcPr anchor="ctr">
                    <a:lnL w="5239">
                      <a:solidFill>
                        <a:srgbClr val="D6D9D3"/>
                      </a:solidFill>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500" b="1">
                          <a:solidFill>
                            <a:srgbClr val="FFFFFF"/>
                          </a:solidFill>
                          <a:latin typeface="Arial"/>
                          <a:ea typeface="Arial"/>
                          <a:cs typeface="Arial"/>
                        </a:rPr>
                        <a:t>Our SAA</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extLst>
                  <a:ext uri="{0D108BD9-81ED-4DB2-BD59-A6C34878D82A}">
                    <a16:rowId xmlns:a16="http://schemas.microsoft.com/office/drawing/2014/main" val="10000"/>
                  </a:ext>
                </a:extLst>
              </a:tr>
              <a:tr h="392906">
                <a:tc>
                  <a:txBody>
                    <a:bodyPr/>
                    <a:lstStyle/>
                    <a:p>
                      <a:pPr algn="l"/>
                      <a:r>
                        <a:rPr sz="1500" b="1">
                          <a:solidFill>
                            <a:srgbClr val="101918"/>
                          </a:solidFill>
                          <a:latin typeface="Arial"/>
                          <a:ea typeface="Arial"/>
                          <a:cs typeface="Arial"/>
                        </a:rPr>
                        <a:t>Ann. return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6.81%</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1"/>
                  </a:ext>
                </a:extLst>
              </a:tr>
              <a:tr h="392906">
                <a:tc>
                  <a:txBody>
                    <a:bodyPr/>
                    <a:lstStyle/>
                    <a:p>
                      <a:pPr algn="l"/>
                      <a:r>
                        <a:rPr sz="1500" b="1">
                          <a:solidFill>
                            <a:srgbClr val="101918"/>
                          </a:solidFill>
                          <a:latin typeface="Arial"/>
                          <a:ea typeface="Arial"/>
                          <a:cs typeface="Arial"/>
                        </a:rPr>
                        <a:t>Ann. excess return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4.15%</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2"/>
                  </a:ext>
                </a:extLst>
              </a:tr>
              <a:tr h="392906">
                <a:tc>
                  <a:txBody>
                    <a:bodyPr/>
                    <a:lstStyle/>
                    <a:p>
                      <a:pPr algn="l"/>
                      <a:r>
                        <a:rPr sz="1500" b="1">
                          <a:solidFill>
                            <a:srgbClr val="101918"/>
                          </a:solidFill>
                          <a:latin typeface="Arial"/>
                          <a:ea typeface="Arial"/>
                          <a:cs typeface="Arial"/>
                        </a:rPr>
                        <a:t>Ann. volatility</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7.17%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3"/>
                  </a:ext>
                </a:extLst>
              </a:tr>
              <a:tr h="392906">
                <a:tc>
                  <a:txBody>
                    <a:bodyPr/>
                    <a:lstStyle/>
                    <a:p>
                      <a:pPr algn="l"/>
                      <a:r>
                        <a:rPr sz="1500" b="1">
                          <a:solidFill>
                            <a:srgbClr val="101918"/>
                          </a:solidFill>
                          <a:latin typeface="Arial"/>
                          <a:ea typeface="Arial"/>
                          <a:cs typeface="Arial"/>
                        </a:rPr>
                        <a:t>Sharpe</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500" b="1">
                          <a:solidFill>
                            <a:srgbClr val="101918"/>
                          </a:solidFill>
                          <a:latin typeface="Arial"/>
                          <a:ea typeface="Arial"/>
                          <a:cs typeface="Arial"/>
                        </a:rPr>
                        <a:t>0.579</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extLst>
                  <a:ext uri="{0D108BD9-81ED-4DB2-BD59-A6C34878D82A}">
                    <a16:rowId xmlns:a16="http://schemas.microsoft.com/office/drawing/2014/main" val="10004"/>
                  </a:ext>
                </a:extLst>
              </a:tr>
              <a:tr h="392906">
                <a:tc>
                  <a:txBody>
                    <a:bodyPr/>
                    <a:lstStyle/>
                    <a:p>
                      <a:pPr algn="l"/>
                      <a:r>
                        <a:rPr sz="1500" b="1">
                          <a:solidFill>
                            <a:srgbClr val="101918"/>
                          </a:solidFill>
                          <a:latin typeface="Arial"/>
                          <a:ea typeface="Arial"/>
                          <a:cs typeface="Arial"/>
                        </a:rPr>
                        <a:t>t-stat (excess)</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1.74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5"/>
                  </a:ext>
                </a:extLst>
              </a:tr>
              <a:tr h="392906">
                <a:tc>
                  <a:txBody>
                    <a:bodyPr/>
                    <a:lstStyle/>
                    <a:p>
                      <a:pPr algn="l"/>
                      <a:r>
                        <a:rPr sz="1500" b="1">
                          <a:solidFill>
                            <a:srgbClr val="101918"/>
                          </a:solidFill>
                          <a:latin typeface="Arial"/>
                          <a:ea typeface="Arial"/>
                          <a:cs typeface="Arial"/>
                        </a:rPr>
                        <a:t>Max drawdown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-14.19%</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6"/>
                  </a:ext>
                </a:extLst>
              </a:tr>
              <a:tr h="392906">
                <a:tc>
                  <a:txBody>
                    <a:bodyPr/>
                    <a:lstStyle/>
                    <a:p>
                      <a:pPr algn="l"/>
                      <a:r>
                        <a:rPr sz="1500" b="1">
                          <a:solidFill>
                            <a:srgbClr val="101918"/>
                          </a:solidFill>
                          <a:latin typeface="Arial"/>
                          <a:ea typeface="Arial"/>
                          <a:cs typeface="Arial"/>
                        </a:rPr>
                        <a:t>VaR 5% 1m</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500" b="0">
                          <a:solidFill>
                            <a:srgbClr val="101918"/>
                          </a:solidFill>
                          <a:latin typeface="Arial"/>
                          <a:ea typeface="Arial"/>
                          <a:cs typeface="Arial"/>
                        </a:rPr>
                        <a:t>3.40%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7"/>
                  </a:ext>
                </a:extLst>
              </a:tr>
            </a:tbl>
          </a:graphicData>
        </a:graphic>
      </p:graphicFrame>
      <p:sp>
        <p:nvSpPr>
          <p:cNvPr id="19" name="rule">
            <a:extLst>
              <a:ext uri="{FF2B5EF4-FFF2-40B4-BE49-F238E27FC236}">
                <a16:creationId xmlns:a16="http://schemas.microsoft.com/office/drawing/2014/main" id="{B6931C6C-9090-4561-BFC2-CEFE9862EAEF}"/>
              </a:ext>
            </a:extLst>
          </p:cNvPr>
          <p:cNvSpPr>
            <a:spLocks noGrp="1"/>
          </p:cNvSpPr>
          <p:nvPr/>
        </p:nvSpPr>
        <p:spPr>
          <a:xfrm>
            <a:off x="609600" y="5486400"/>
            <a:ext cx="10972800" cy="9525"/>
          </a:xfrm>
          <a:prstGeom prst="rect">
            <a:avLst/>
          </a:prstGeom>
          <a:solidFill>
            <a:srgbClr val="D6D9D3"/>
          </a:solidFill>
          <a:ln w="0">
            <a:noFill/>
          </a:ln>
        </p:spPr>
        <p:txBody>
          <a:bodyPr/>
          <a:lstStyle/>
          <a:p>
            <a:endParaRPr lang="it-IT"/>
          </a:p>
        </p:txBody>
      </p:sp>
      <p:sp>
        <p:nvSpPr>
          <p:cNvPr id="20" name="Each month uses only information available at th">
            <a:extLst>
              <a:ext uri="{FF2B5EF4-FFF2-40B4-BE49-F238E27FC236}">
                <a16:creationId xmlns:a16="http://schemas.microsoft.com/office/drawing/2014/main" id="{EB7D7009-8799-44F0-B47E-9841108413AF}"/>
              </a:ext>
            </a:extLst>
          </p:cNvPr>
          <p:cNvSpPr>
            <a:spLocks noGrp="1"/>
          </p:cNvSpPr>
          <p:nvPr/>
        </p:nvSpPr>
        <p:spPr>
          <a:xfrm>
            <a:off x="609600" y="5638800"/>
            <a:ext cx="10972800" cy="571500"/>
          </a:xfrm>
          <a:prstGeom prst="rect">
            <a:avLst/>
          </a:prstGeom>
          <a:noFill/>
          <a:ln w="0">
            <a:noFill/>
          </a:ln>
        </p:spPr>
        <p:txBody>
          <a:bodyPr wrap="square" lIns="0" tIns="0" rIns="0" bIns="0">
            <a:noAutofit/>
          </a:bodyPr>
          <a:lstStyle>
            <a:defPPr>
              <a:defRPr sz="1725" b="1">
                <a:solidFill>
                  <a:srgbClr val="3D6358"/>
                </a:solidFill>
                <a:latin typeface="Arial"/>
                <a:ea typeface="Arial"/>
                <a:cs typeface="Arial"/>
              </a:defRPr>
            </a:defPPr>
          </a:lstStyle>
          <a:p>
            <a:pPr>
              <a:defRPr sz="1725" b="1">
                <a:solidFill>
                  <a:srgbClr val="3D6358"/>
                </a:solidFill>
                <a:latin typeface="Arial"/>
                <a:ea typeface="Arial"/>
                <a:cs typeface="Arial"/>
              </a:defRPr>
            </a:pPr>
            <a:r>
              <a:rPr sz="1725" b="1">
                <a:solidFill>
                  <a:srgbClr val="3D6358"/>
                </a:solidFill>
                <a:latin typeface="Arial"/>
                <a:ea typeface="Arial"/>
                <a:cs typeface="Arial"/>
              </a:rPr>
              <a:t>Each month uses only information available at the time. Figures are net of 10 bps per dollar traded: costs take the Sharpe from 0.583 gross to 0.579 net.</a:t>
            </a:r>
          </a:p>
        </p:txBody>
      </p:sp>
    </p:spTree>
    <p:extLst>
      <p:ext uri="{BB962C8B-B14F-4D97-AF65-F5344CB8AC3E}">
        <p14:creationId xmlns:p14="http://schemas.microsoft.com/office/powerpoint/2010/main" val="1605619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6" name="placeholder_1">
            <a:extLst>
              <a:ext uri="{FF2B5EF4-FFF2-40B4-BE49-F238E27FC236}">
                <a16:creationId xmlns:a16="http://schemas.microsoft.com/office/drawing/2014/main" id="{7E8E1016-7FC4-48DC-A204-B787AA571369}"/>
              </a:ext>
            </a:extLst>
          </p:cNvPr>
          <p:cNvSpPr>
            <a:spLocks noGrp="1"/>
          </p:cNvSpPr>
          <p:nvPr>
            <p:ph type="title"/>
          </p:nvPr>
        </p:nvSpPr>
        <p:spPr>
          <a:prstGeom prst="rect">
            <a:avLst/>
          </a:prstGeom>
          <a:noFill/>
          <a:ln w="0">
            <a:noFill/>
          </a:ln>
        </p:spPr>
        <p:txBody>
          <a:bodyPr lIns="0" tIns="0" rIns="0" bIns="0"/>
          <a:lstStyle>
            <a:defPPr>
              <a:defRPr sz="3300" b="1">
                <a:solidFill>
                  <a:srgbClr val="101918"/>
                </a:solidFill>
                <a:latin typeface="Arial"/>
                <a:ea typeface="Arial"/>
                <a:cs typeface="Arial"/>
              </a:defRPr>
            </a:defPPr>
          </a:lstStyle>
          <a:p>
            <a:pPr>
              <a:defRPr sz="3300" b="1">
                <a:solidFill>
                  <a:srgbClr val="101918"/>
                </a:solidFill>
                <a:latin typeface="Arial"/>
                <a:ea typeface="Arial"/>
                <a:cs typeface="Arial"/>
              </a:defRPr>
            </a:pPr>
            <a:r>
              <a:rPr lang="it-IT" dirty="0"/>
              <a:t>R</a:t>
            </a:r>
            <a:r>
              <a:rPr dirty="0" err="1"/>
              <a:t>esults</a:t>
            </a:r>
            <a:r>
              <a:rPr dirty="0"/>
              <a:t> and stress tests</a:t>
            </a:r>
          </a:p>
        </p:txBody>
      </p:sp>
      <p:sp>
        <p:nvSpPr>
          <p:cNvPr id="2" name="CHECKPOINT 3 / COMPLETE METRICS AND BEHAVIOUR IN">
            <a:extLst>
              <a:ext uri="{FF2B5EF4-FFF2-40B4-BE49-F238E27FC236}">
                <a16:creationId xmlns:a16="http://schemas.microsoft.com/office/drawing/2014/main" id="{4ECDCA4D-C9C2-4A75-B69E-9B6B61C3E31D}"/>
              </a:ext>
            </a:extLst>
          </p:cNvPr>
          <p:cNvSpPr>
            <a:spLocks noGrp="1"/>
          </p:cNvSpPr>
          <p:nvPr/>
        </p:nvSpPr>
        <p:spPr>
          <a:xfrm>
            <a:off x="609600" y="295275"/>
            <a:ext cx="9486900" cy="238125"/>
          </a:xfrm>
          <a:prstGeom prst="rect">
            <a:avLst/>
          </a:prstGeom>
          <a:noFill/>
          <a:ln w="0">
            <a:noFill/>
          </a:ln>
        </p:spPr>
        <p:txBody>
          <a:bodyPr wrap="square" lIns="0" tIns="0" rIns="0" bIns="0">
            <a:noAutofit/>
          </a:bodyPr>
          <a:lstStyle>
            <a:defPPr>
              <a:defRPr sz="1050" b="1">
                <a:solidFill>
                  <a:srgbClr val="9B8052"/>
                </a:solidFill>
                <a:latin typeface="Arial"/>
                <a:ea typeface="Arial"/>
                <a:cs typeface="Arial"/>
              </a:defRPr>
            </a:defPPr>
          </a:lstStyle>
          <a:p>
            <a:pPr>
              <a:defRPr sz="1050" b="1">
                <a:solidFill>
                  <a:srgbClr val="9B8052"/>
                </a:solidFill>
                <a:latin typeface="Arial"/>
                <a:ea typeface="Arial"/>
                <a:cs typeface="Arial"/>
              </a:defRPr>
            </a:pPr>
            <a:r>
              <a:rPr sz="1050" b="1">
                <a:solidFill>
                  <a:srgbClr val="9B8052"/>
                </a:solidFill>
                <a:latin typeface="Arial"/>
                <a:ea typeface="Arial"/>
                <a:cs typeface="Arial"/>
              </a:rPr>
              <a:t>CHECKPOINT 3 / COMPLETE METRICS AND BEHAVIOUR IN HISTORICAL CRISES</a:t>
            </a:r>
          </a:p>
        </p:txBody>
      </p:sp>
      <p:pic>
        <p:nvPicPr>
          <p:cNvPr id="3" name="Immagine 2">
            <a:extLst>
              <a:ext uri="{FF2B5EF4-FFF2-40B4-BE49-F238E27FC236}">
                <a16:creationId xmlns:a16="http://schemas.microsoft.com/office/drawing/2014/main" id="{DF592514-054D-4166-804E-A7605BE49090}"/>
              </a:ext>
            </a:extLst>
          </p:cNvPr>
          <p:cNvPicPr>
            <a:picLocks noChangeAspect="1"/>
          </p:cNvPicPr>
          <p:nvPr/>
        </p:nvPicPr>
        <p:blipFill>
          <a:blip r:embed="rId3"/>
          <a:stretch/>
        </p:blipFill>
        <p:spPr>
          <a:xfrm>
            <a:off x="10435460" y="190500"/>
            <a:ext cx="1055630" cy="695325"/>
          </a:xfrm>
          <a:prstGeom prst="rect">
            <a:avLst/>
          </a:prstGeom>
        </p:spPr>
      </p:pic>
      <p:sp>
        <p:nvSpPr>
          <p:cNvPr id="4" name="10">
            <a:extLst>
              <a:ext uri="{FF2B5EF4-FFF2-40B4-BE49-F238E27FC236}">
                <a16:creationId xmlns:a16="http://schemas.microsoft.com/office/drawing/2014/main" id="{EDED67DE-1358-48F4-AC97-4EC5ED3A7324}"/>
              </a:ext>
            </a:extLst>
          </p:cNvPr>
          <p:cNvSpPr>
            <a:spLocks noGrp="1"/>
          </p:cNvSpPr>
          <p:nvPr/>
        </p:nvSpPr>
        <p:spPr>
          <a:xfrm>
            <a:off x="10287000" y="6496050"/>
            <a:ext cx="1295400" cy="209550"/>
          </a:xfrm>
          <a:prstGeom prst="rect">
            <a:avLst/>
          </a:prstGeom>
          <a:noFill/>
          <a:ln w="0">
            <a:noFill/>
          </a:ln>
        </p:spPr>
        <p:txBody>
          <a:bodyPr wrap="square" lIns="0" tIns="0" rIns="0" bIns="0">
            <a:noAutofit/>
          </a:bodyPr>
          <a:lstStyle>
            <a:defPPr algn="r">
              <a:defRPr sz="1050">
                <a:solidFill>
                  <a:srgbClr val="64716B"/>
                </a:solidFill>
                <a:latin typeface="Arial"/>
                <a:ea typeface="Arial"/>
                <a:cs typeface="Arial"/>
              </a:defRPr>
            </a:defPPr>
          </a:lstStyle>
          <a:p>
            <a:pPr algn="r">
              <a:defRPr sz="1050">
                <a:solidFill>
                  <a:srgbClr val="64716B"/>
                </a:solidFill>
                <a:latin typeface="Arial"/>
                <a:ea typeface="Arial"/>
                <a:cs typeface="Arial"/>
              </a:defRPr>
            </a:pPr>
            <a:r>
              <a:rPr sz="1050">
                <a:solidFill>
                  <a:srgbClr val="64716B"/>
                </a:solidFill>
                <a:latin typeface="Arial"/>
                <a:ea typeface="Arial"/>
                <a:cs typeface="Arial"/>
              </a:rPr>
              <a:t>10</a:t>
            </a:r>
          </a:p>
        </p:txBody>
      </p:sp>
      <p:graphicFrame>
        <p:nvGraphicFramePr>
          <p:cNvPr id="5" name="Tabella 4">
            <a:extLst>
              <a:ext uri="{FF2B5EF4-FFF2-40B4-BE49-F238E27FC236}">
                <a16:creationId xmlns:a16="http://schemas.microsoft.com/office/drawing/2014/main" id="{2F3C7F12-3CE8-422D-9BDC-00922B7AD601}"/>
              </a:ext>
            </a:extLst>
          </p:cNvPr>
          <p:cNvGraphicFramePr/>
          <p:nvPr/>
        </p:nvGraphicFramePr>
        <p:xfrm>
          <a:off x="533400" y="1562100"/>
          <a:ext cx="5753100" cy="3467104"/>
        </p:xfrm>
        <a:graphic>
          <a:graphicData uri="http://schemas.openxmlformats.org/drawingml/2006/table">
            <a:tbl>
              <a:tblPr/>
              <a:tblGrid>
                <a:gridCol w="20764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433388">
                <a:tc>
                  <a:txBody>
                    <a:bodyPr/>
                    <a:lstStyle/>
                    <a:p>
                      <a:pPr algn="l"/>
                      <a:r>
                        <a:rPr sz="1350" b="1">
                          <a:solidFill>
                            <a:srgbClr val="FFFFFF"/>
                          </a:solidFill>
                          <a:latin typeface="Arial"/>
                          <a:ea typeface="Arial"/>
                          <a:cs typeface="Arial"/>
                        </a:rPr>
                        <a:t>Measure</a:t>
                      </a:r>
                    </a:p>
                  </a:txBody>
                  <a:tcPr anchor="ctr">
                    <a:lnL w="5239">
                      <a:solidFill>
                        <a:srgbClr val="D6D9D3"/>
                      </a:solidFill>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350" b="1">
                          <a:solidFill>
                            <a:srgbClr val="FFFFFF"/>
                          </a:solidFill>
                          <a:latin typeface="Arial"/>
                          <a:ea typeface="Arial"/>
                          <a:cs typeface="Arial"/>
                        </a:rPr>
                        <a:t>Fixed SAA</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350" b="1">
                          <a:solidFill>
                            <a:srgbClr val="FFFFFF"/>
                          </a:solidFill>
                          <a:latin typeface="Arial"/>
                          <a:ea typeface="Arial"/>
                          <a:cs typeface="Arial"/>
                        </a:rPr>
                        <a:t>WF gross</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tc>
                  <a:txBody>
                    <a:bodyPr/>
                    <a:lstStyle/>
                    <a:p>
                      <a:pPr algn="ctr"/>
                      <a:r>
                        <a:rPr sz="1350" b="1">
                          <a:solidFill>
                            <a:srgbClr val="FFFFFF"/>
                          </a:solidFill>
                          <a:latin typeface="Arial"/>
                          <a:ea typeface="Arial"/>
                          <a:cs typeface="Arial"/>
                        </a:rPr>
                        <a:t>WF net</a:t>
                      </a:r>
                    </a:p>
                  </a:txBody>
                  <a:tcPr anchor="ctr">
                    <a:lnL w="5239" cap="flat" cmpd="sng" algn="ctr">
                      <a:solidFill>
                        <a:srgbClr val="D6D9D3"/>
                      </a:solidFill>
                      <a:prstDash val="solid"/>
                      <a:round/>
                      <a:headEnd type="none" w="med" len="med"/>
                      <a:tailEnd type="none" w="med" len="med"/>
                    </a:lnL>
                    <a:lnR w="5239">
                      <a:solidFill>
                        <a:srgbClr val="D6D9D3"/>
                      </a:solidFill>
                    </a:lnR>
                    <a:lnT w="5239">
                      <a:solidFill>
                        <a:srgbClr val="D6D9D3"/>
                      </a:solidFill>
                    </a:lnT>
                    <a:lnB w="5239">
                      <a:solidFill>
                        <a:srgbClr val="D6D9D3"/>
                      </a:solidFill>
                    </a:lnB>
                    <a:solidFill>
                      <a:srgbClr val="101918"/>
                    </a:solidFill>
                  </a:tcPr>
                </a:tc>
                <a:extLst>
                  <a:ext uri="{0D108BD9-81ED-4DB2-BD59-A6C34878D82A}">
                    <a16:rowId xmlns:a16="http://schemas.microsoft.com/office/drawing/2014/main" val="10000"/>
                  </a:ext>
                </a:extLst>
              </a:tr>
              <a:tr h="433388">
                <a:tc>
                  <a:txBody>
                    <a:bodyPr/>
                    <a:lstStyle/>
                    <a:p>
                      <a:pPr algn="l"/>
                      <a:r>
                        <a:rPr sz="1425" b="1">
                          <a:solidFill>
                            <a:srgbClr val="101918"/>
                          </a:solidFill>
                          <a:latin typeface="Arial"/>
                          <a:ea typeface="Arial"/>
                          <a:cs typeface="Arial"/>
                        </a:rPr>
                        <a:t>Ann. return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6.12%</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6.84%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6.81%</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1"/>
                  </a:ext>
                </a:extLst>
              </a:tr>
              <a:tr h="433388">
                <a:tc>
                  <a:txBody>
                    <a:bodyPr/>
                    <a:lstStyle/>
                    <a:p>
                      <a:pPr algn="l"/>
                      <a:r>
                        <a:rPr sz="1425" b="1">
                          <a:solidFill>
                            <a:srgbClr val="101918"/>
                          </a:solidFill>
                          <a:latin typeface="Arial"/>
                          <a:ea typeface="Arial"/>
                          <a:cs typeface="Arial"/>
                        </a:rPr>
                        <a:t>Ann. excess return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4.34%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4.18%</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4.15%</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2"/>
                  </a:ext>
                </a:extLst>
              </a:tr>
              <a:tr h="433388">
                <a:tc>
                  <a:txBody>
                    <a:bodyPr/>
                    <a:lstStyle/>
                    <a:p>
                      <a:pPr algn="l"/>
                      <a:r>
                        <a:rPr sz="1425" b="1">
                          <a:solidFill>
                            <a:srgbClr val="101918"/>
                          </a:solidFill>
                          <a:latin typeface="Arial"/>
                          <a:ea typeface="Arial"/>
                          <a:cs typeface="Arial"/>
                        </a:rPr>
                        <a:t>Ann. vol</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7.54%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7.17%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7.17%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3"/>
                  </a:ext>
                </a:extLst>
              </a:tr>
              <a:tr h="433388">
                <a:tc>
                  <a:txBody>
                    <a:bodyPr/>
                    <a:lstStyle/>
                    <a:p>
                      <a:pPr algn="l"/>
                      <a:r>
                        <a:rPr sz="1425" b="1">
                          <a:solidFill>
                            <a:srgbClr val="101918"/>
                          </a:solidFill>
                          <a:latin typeface="Arial"/>
                          <a:ea typeface="Arial"/>
                          <a:cs typeface="Arial"/>
                        </a:rPr>
                        <a:t>Sharpe</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425" b="1">
                          <a:solidFill>
                            <a:srgbClr val="101918"/>
                          </a:solidFill>
                          <a:latin typeface="Arial"/>
                          <a:ea typeface="Arial"/>
                          <a:cs typeface="Arial"/>
                        </a:rPr>
                        <a:t>0.576</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425" b="1">
                          <a:solidFill>
                            <a:srgbClr val="101918"/>
                          </a:solidFill>
                          <a:latin typeface="Arial"/>
                          <a:ea typeface="Arial"/>
                          <a:cs typeface="Arial"/>
                        </a:rPr>
                        <a:t>0.583</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425" b="1">
                          <a:solidFill>
                            <a:srgbClr val="101918"/>
                          </a:solidFill>
                          <a:latin typeface="Arial"/>
                          <a:ea typeface="Arial"/>
                          <a:cs typeface="Arial"/>
                        </a:rPr>
                        <a:t>0.579</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extLst>
                  <a:ext uri="{0D108BD9-81ED-4DB2-BD59-A6C34878D82A}">
                    <a16:rowId xmlns:a16="http://schemas.microsoft.com/office/drawing/2014/main" val="10004"/>
                  </a:ext>
                </a:extLst>
              </a:tr>
              <a:tr h="433388">
                <a:tc>
                  <a:txBody>
                    <a:bodyPr/>
                    <a:lstStyle/>
                    <a:p>
                      <a:pPr algn="l"/>
                      <a:r>
                        <a:rPr sz="1425" b="1">
                          <a:solidFill>
                            <a:srgbClr val="101918"/>
                          </a:solidFill>
                          <a:latin typeface="Arial"/>
                          <a:ea typeface="Arial"/>
                          <a:cs typeface="Arial"/>
                        </a:rPr>
                        <a:t>t-stat (excess)</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2.16</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1.76</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1.74</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5"/>
                  </a:ext>
                </a:extLst>
              </a:tr>
              <a:tr h="433388">
                <a:tc>
                  <a:txBody>
                    <a:bodyPr/>
                    <a:lstStyle/>
                    <a:p>
                      <a:pPr algn="l"/>
                      <a:r>
                        <a:rPr sz="1425" b="1">
                          <a:solidFill>
                            <a:srgbClr val="101918"/>
                          </a:solidFill>
                          <a:latin typeface="Arial"/>
                          <a:ea typeface="Arial"/>
                          <a:cs typeface="Arial"/>
                        </a:rPr>
                        <a:t>Max drawdown</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425" b="1">
                          <a:solidFill>
                            <a:srgbClr val="101918"/>
                          </a:solidFill>
                          <a:latin typeface="Arial"/>
                          <a:ea typeface="Arial"/>
                          <a:cs typeface="Arial"/>
                        </a:rPr>
                        <a:t>-13.10%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425" b="1">
                          <a:solidFill>
                            <a:srgbClr val="101918"/>
                          </a:solidFill>
                          <a:latin typeface="Arial"/>
                          <a:ea typeface="Arial"/>
                          <a:cs typeface="Arial"/>
                        </a:rPr>
                        <a:t>-14.17%</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tc>
                  <a:txBody>
                    <a:bodyPr/>
                    <a:lstStyle/>
                    <a:p>
                      <a:pPr algn="ctr"/>
                      <a:r>
                        <a:rPr sz="1425" b="1">
                          <a:solidFill>
                            <a:srgbClr val="101918"/>
                          </a:solidFill>
                          <a:latin typeface="Arial"/>
                          <a:ea typeface="Arial"/>
                          <a:cs typeface="Arial"/>
                        </a:rPr>
                        <a:t>-14.19%</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E9EDE7"/>
                    </a:solidFill>
                  </a:tcPr>
                </a:tc>
                <a:extLst>
                  <a:ext uri="{0D108BD9-81ED-4DB2-BD59-A6C34878D82A}">
                    <a16:rowId xmlns:a16="http://schemas.microsoft.com/office/drawing/2014/main" val="10006"/>
                  </a:ext>
                </a:extLst>
              </a:tr>
              <a:tr h="433388">
                <a:tc>
                  <a:txBody>
                    <a:bodyPr/>
                    <a:lstStyle/>
                    <a:p>
                      <a:pPr algn="l"/>
                      <a:r>
                        <a:rPr sz="1425" b="1">
                          <a:solidFill>
                            <a:srgbClr val="101918"/>
                          </a:solidFill>
                          <a:latin typeface="Arial"/>
                          <a:ea typeface="Arial"/>
                          <a:cs typeface="Arial"/>
                        </a:rPr>
                        <a:t>VaR 5% 1m</a:t>
                      </a:r>
                    </a:p>
                  </a:txBody>
                  <a:tcPr anchor="ctr">
                    <a:lnL w="5239">
                      <a:solidFill>
                        <a:srgbClr val="D6D9D3"/>
                      </a:solidFill>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3.58%</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3.40%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tc>
                  <a:txBody>
                    <a:bodyPr/>
                    <a:lstStyle/>
                    <a:p>
                      <a:pPr algn="ctr"/>
                      <a:r>
                        <a:rPr sz="1425" b="0">
                          <a:solidFill>
                            <a:srgbClr val="101918"/>
                          </a:solidFill>
                          <a:latin typeface="Arial"/>
                          <a:ea typeface="Arial"/>
                          <a:cs typeface="Arial"/>
                        </a:rPr>
                        <a:t>3.40%</a:t>
                      </a:r>
                    </a:p>
                  </a:txBody>
                  <a:tcPr anchor="ctr">
                    <a:lnL w="5239" cap="flat" cmpd="sng" algn="ctr">
                      <a:solidFill>
                        <a:srgbClr val="D6D9D3"/>
                      </a:solidFill>
                      <a:prstDash val="solid"/>
                      <a:round/>
                      <a:headEnd type="none" w="med" len="med"/>
                      <a:tailEnd type="none" w="med" len="med"/>
                    </a:lnL>
                    <a:lnR w="5239">
                      <a:solidFill>
                        <a:srgbClr val="D6D9D3"/>
                      </a:solidFill>
                    </a:lnR>
                    <a:lnT w="5239" cap="flat" cmpd="sng" algn="ctr">
                      <a:solidFill>
                        <a:srgbClr val="D6D9D3"/>
                      </a:solidFill>
                      <a:prstDash val="solid"/>
                      <a:round/>
                      <a:headEnd type="none" w="med" len="med"/>
                      <a:tailEnd type="none" w="med" len="med"/>
                    </a:lnT>
                    <a:lnB w="5239">
                      <a:solidFill>
                        <a:srgbClr val="D6D9D3"/>
                      </a:solidFill>
                    </a:lnB>
                    <a:solidFill>
                      <a:srgbClr val="F7F6F2"/>
                    </a:solidFill>
                  </a:tcPr>
                </a:tc>
                <a:extLst>
                  <a:ext uri="{0D108BD9-81ED-4DB2-BD59-A6C34878D82A}">
                    <a16:rowId xmlns:a16="http://schemas.microsoft.com/office/drawing/2014/main" val="10007"/>
                  </a:ext>
                </a:extLst>
              </a:tr>
            </a:tbl>
          </a:graphicData>
        </a:graphic>
      </p:graphicFrame>
      <p:sp>
        <p:nvSpPr>
          <p:cNvPr id="6" name="Returns during historical stress windows">
            <a:extLst>
              <a:ext uri="{FF2B5EF4-FFF2-40B4-BE49-F238E27FC236}">
                <a16:creationId xmlns:a16="http://schemas.microsoft.com/office/drawing/2014/main" id="{2B60DDB8-407A-4C1D-A433-1004439A756A}"/>
              </a:ext>
            </a:extLst>
          </p:cNvPr>
          <p:cNvSpPr>
            <a:spLocks noGrp="1"/>
          </p:cNvSpPr>
          <p:nvPr/>
        </p:nvSpPr>
        <p:spPr>
          <a:xfrm>
            <a:off x="7030562" y="1685925"/>
            <a:ext cx="4991100" cy="266700"/>
          </a:xfrm>
          <a:prstGeom prst="rect">
            <a:avLst/>
          </a:prstGeom>
          <a:noFill/>
          <a:ln w="0">
            <a:noFill/>
          </a:ln>
        </p:spPr>
        <p:txBody>
          <a:bodyPr wrap="square" lIns="0" tIns="0" rIns="0" bIns="0">
            <a:noAutofit/>
          </a:bodyPr>
          <a:lstStyle>
            <a:defPPr>
              <a:defRPr sz="1650" b="1">
                <a:solidFill>
                  <a:srgbClr val="101918"/>
                </a:solidFill>
                <a:latin typeface="Arial"/>
                <a:ea typeface="Arial"/>
                <a:cs typeface="Arial"/>
              </a:defRPr>
            </a:defPPr>
          </a:lstStyle>
          <a:p>
            <a:pPr>
              <a:defRPr sz="1650" b="1">
                <a:solidFill>
                  <a:srgbClr val="101918"/>
                </a:solidFill>
                <a:latin typeface="Arial"/>
                <a:ea typeface="Arial"/>
                <a:cs typeface="Arial"/>
              </a:defRPr>
            </a:pPr>
            <a:r>
              <a:rPr sz="1650" b="1" dirty="0">
                <a:solidFill>
                  <a:srgbClr val="101918"/>
                </a:solidFill>
                <a:latin typeface="Arial"/>
                <a:ea typeface="Arial"/>
                <a:cs typeface="Arial"/>
              </a:rPr>
              <a:t>Returns during historical stress windows</a:t>
            </a:r>
          </a:p>
        </p:txBody>
      </p:sp>
      <p:sp>
        <p:nvSpPr>
          <p:cNvPr id="7" name="2015–16&#10;commodities">
            <a:extLst>
              <a:ext uri="{FF2B5EF4-FFF2-40B4-BE49-F238E27FC236}">
                <a16:creationId xmlns:a16="http://schemas.microsoft.com/office/drawing/2014/main" id="{0430A387-059A-4D51-A901-99F6E293FA87}"/>
              </a:ext>
            </a:extLst>
          </p:cNvPr>
          <p:cNvSpPr>
            <a:spLocks noGrp="1"/>
          </p:cNvSpPr>
          <p:nvPr/>
        </p:nvSpPr>
        <p:spPr>
          <a:xfrm>
            <a:off x="7048500" y="2152650"/>
            <a:ext cx="1123950" cy="419100"/>
          </a:xfrm>
          <a:prstGeom prst="rect">
            <a:avLst/>
          </a:prstGeom>
          <a:noFill/>
          <a:ln w="0">
            <a:noFill/>
          </a:ln>
        </p:spPr>
        <p:txBody>
          <a:bodyPr wrap="square" lIns="0" tIns="0" rIns="0" bIns="0">
            <a:noAutofit/>
          </a:bodyPr>
          <a:lstStyle>
            <a:defPPr algn="ctr">
              <a:defRPr sz="1050" b="1">
                <a:solidFill>
                  <a:srgbClr val="101918"/>
                </a:solidFill>
                <a:latin typeface="Arial"/>
                <a:ea typeface="Arial"/>
                <a:cs typeface="Arial"/>
              </a:defRPr>
            </a:defPPr>
          </a:lstStyle>
          <a:p>
            <a:pPr algn="ctr">
              <a:defRPr sz="1050" b="1">
                <a:solidFill>
                  <a:srgbClr val="101918"/>
                </a:solidFill>
                <a:latin typeface="Arial"/>
                <a:ea typeface="Arial"/>
                <a:cs typeface="Arial"/>
              </a:defRPr>
            </a:pPr>
            <a:r>
              <a:rPr sz="1050" b="1" dirty="0">
                <a:solidFill>
                  <a:srgbClr val="101918"/>
                </a:solidFill>
                <a:latin typeface="Arial"/>
                <a:ea typeface="Arial"/>
                <a:cs typeface="Arial"/>
              </a:rPr>
              <a:t>2015–16</a:t>
            </a:r>
          </a:p>
          <a:p>
            <a:pPr algn="ctr">
              <a:defRPr sz="1050" b="1">
                <a:solidFill>
                  <a:srgbClr val="101918"/>
                </a:solidFill>
                <a:latin typeface="Arial"/>
                <a:ea typeface="Arial"/>
                <a:cs typeface="Arial"/>
              </a:defRPr>
            </a:pPr>
            <a:r>
              <a:rPr sz="1050" b="1" dirty="0">
                <a:solidFill>
                  <a:srgbClr val="101918"/>
                </a:solidFill>
                <a:latin typeface="Arial"/>
                <a:ea typeface="Arial"/>
                <a:cs typeface="Arial"/>
              </a:rPr>
              <a:t>commodities</a:t>
            </a:r>
          </a:p>
        </p:txBody>
      </p:sp>
      <p:sp>
        <p:nvSpPr>
          <p:cNvPr id="8" name="Q4 2018&#10;tightening">
            <a:extLst>
              <a:ext uri="{FF2B5EF4-FFF2-40B4-BE49-F238E27FC236}">
                <a16:creationId xmlns:a16="http://schemas.microsoft.com/office/drawing/2014/main" id="{1CE0DEAA-2CF5-4E6A-8FD8-4D96B362835E}"/>
              </a:ext>
            </a:extLst>
          </p:cNvPr>
          <p:cNvSpPr>
            <a:spLocks noGrp="1"/>
          </p:cNvSpPr>
          <p:nvPr/>
        </p:nvSpPr>
        <p:spPr>
          <a:xfrm>
            <a:off x="8201025" y="2143125"/>
            <a:ext cx="1123950" cy="419100"/>
          </a:xfrm>
          <a:prstGeom prst="rect">
            <a:avLst/>
          </a:prstGeom>
          <a:noFill/>
          <a:ln w="0">
            <a:noFill/>
          </a:ln>
        </p:spPr>
        <p:txBody>
          <a:bodyPr wrap="square" lIns="0" tIns="0" rIns="0" bIns="0">
            <a:noAutofit/>
          </a:bodyPr>
          <a:lstStyle>
            <a:defPPr algn="ctr">
              <a:defRPr sz="1050" b="1">
                <a:solidFill>
                  <a:srgbClr val="101918"/>
                </a:solidFill>
                <a:latin typeface="Arial"/>
                <a:ea typeface="Arial"/>
                <a:cs typeface="Arial"/>
              </a:defRPr>
            </a:defPPr>
          </a:lstStyle>
          <a:p>
            <a:pPr algn="ctr">
              <a:defRPr sz="1050" b="1">
                <a:solidFill>
                  <a:srgbClr val="101918"/>
                </a:solidFill>
                <a:latin typeface="Arial"/>
                <a:ea typeface="Arial"/>
                <a:cs typeface="Arial"/>
              </a:defRPr>
            </a:pPr>
            <a:r>
              <a:rPr sz="1050" b="1" dirty="0">
                <a:solidFill>
                  <a:srgbClr val="101918"/>
                </a:solidFill>
                <a:latin typeface="Arial"/>
                <a:ea typeface="Arial"/>
                <a:cs typeface="Arial"/>
              </a:rPr>
              <a:t>Q4 2018</a:t>
            </a:r>
          </a:p>
          <a:p>
            <a:pPr algn="ctr">
              <a:defRPr sz="1050" b="1">
                <a:solidFill>
                  <a:srgbClr val="101918"/>
                </a:solidFill>
                <a:latin typeface="Arial"/>
                <a:ea typeface="Arial"/>
                <a:cs typeface="Arial"/>
              </a:defRPr>
            </a:pPr>
            <a:r>
              <a:rPr sz="1050" b="1" dirty="0">
                <a:solidFill>
                  <a:srgbClr val="101918"/>
                </a:solidFill>
                <a:latin typeface="Arial"/>
                <a:ea typeface="Arial"/>
                <a:cs typeface="Arial"/>
              </a:rPr>
              <a:t>tightening</a:t>
            </a:r>
          </a:p>
        </p:txBody>
      </p:sp>
      <p:sp>
        <p:nvSpPr>
          <p:cNvPr id="9" name="Covid crash&#10;2020">
            <a:extLst>
              <a:ext uri="{FF2B5EF4-FFF2-40B4-BE49-F238E27FC236}">
                <a16:creationId xmlns:a16="http://schemas.microsoft.com/office/drawing/2014/main" id="{FB385541-4879-4DD1-B291-CE1B84C4A9D5}"/>
              </a:ext>
            </a:extLst>
          </p:cNvPr>
          <p:cNvSpPr>
            <a:spLocks noGrp="1"/>
          </p:cNvSpPr>
          <p:nvPr/>
        </p:nvSpPr>
        <p:spPr>
          <a:xfrm>
            <a:off x="9311510" y="2143125"/>
            <a:ext cx="1123950" cy="419100"/>
          </a:xfrm>
          <a:prstGeom prst="rect">
            <a:avLst/>
          </a:prstGeom>
          <a:noFill/>
          <a:ln w="0">
            <a:noFill/>
          </a:ln>
        </p:spPr>
        <p:txBody>
          <a:bodyPr wrap="square" lIns="0" tIns="0" rIns="0" bIns="0">
            <a:noAutofit/>
          </a:bodyPr>
          <a:lstStyle>
            <a:defPPr algn="ctr">
              <a:defRPr sz="1050" b="1">
                <a:solidFill>
                  <a:srgbClr val="101918"/>
                </a:solidFill>
                <a:latin typeface="Arial"/>
                <a:ea typeface="Arial"/>
                <a:cs typeface="Arial"/>
              </a:defRPr>
            </a:defPPr>
          </a:lstStyle>
          <a:p>
            <a:pPr algn="ctr">
              <a:defRPr sz="1050" b="1">
                <a:solidFill>
                  <a:srgbClr val="101918"/>
                </a:solidFill>
                <a:latin typeface="Arial"/>
                <a:ea typeface="Arial"/>
                <a:cs typeface="Arial"/>
              </a:defRPr>
            </a:pPr>
            <a:r>
              <a:rPr sz="1050" b="1" dirty="0">
                <a:solidFill>
                  <a:srgbClr val="101918"/>
                </a:solidFill>
                <a:latin typeface="Arial"/>
                <a:ea typeface="Arial"/>
                <a:cs typeface="Arial"/>
              </a:rPr>
              <a:t>Covid crash</a:t>
            </a:r>
          </a:p>
          <a:p>
            <a:pPr algn="ctr">
              <a:defRPr sz="1050" b="1">
                <a:solidFill>
                  <a:srgbClr val="101918"/>
                </a:solidFill>
                <a:latin typeface="Arial"/>
                <a:ea typeface="Arial"/>
                <a:cs typeface="Arial"/>
              </a:defRPr>
            </a:pPr>
            <a:r>
              <a:rPr sz="1050" b="1" dirty="0">
                <a:solidFill>
                  <a:srgbClr val="101918"/>
                </a:solidFill>
                <a:latin typeface="Arial"/>
                <a:ea typeface="Arial"/>
                <a:cs typeface="Arial"/>
              </a:rPr>
              <a:t>2020</a:t>
            </a:r>
          </a:p>
        </p:txBody>
      </p:sp>
      <p:sp>
        <p:nvSpPr>
          <p:cNvPr id="10" name="2022&#10;rate shock">
            <a:extLst>
              <a:ext uri="{FF2B5EF4-FFF2-40B4-BE49-F238E27FC236}">
                <a16:creationId xmlns:a16="http://schemas.microsoft.com/office/drawing/2014/main" id="{6769BCB1-63E1-4EA2-A0C7-57BFCCFB9985}"/>
              </a:ext>
            </a:extLst>
          </p:cNvPr>
          <p:cNvSpPr>
            <a:spLocks noGrp="1"/>
          </p:cNvSpPr>
          <p:nvPr/>
        </p:nvSpPr>
        <p:spPr>
          <a:xfrm>
            <a:off x="10458450" y="2143125"/>
            <a:ext cx="1123950" cy="419100"/>
          </a:xfrm>
          <a:prstGeom prst="rect">
            <a:avLst/>
          </a:prstGeom>
          <a:noFill/>
          <a:ln w="0">
            <a:noFill/>
          </a:ln>
        </p:spPr>
        <p:txBody>
          <a:bodyPr wrap="square" lIns="0" tIns="0" rIns="0" bIns="0">
            <a:noAutofit/>
          </a:bodyPr>
          <a:lstStyle>
            <a:defPPr algn="ctr">
              <a:defRPr sz="1050" b="1">
                <a:solidFill>
                  <a:srgbClr val="101918"/>
                </a:solidFill>
                <a:latin typeface="Arial"/>
                <a:ea typeface="Arial"/>
                <a:cs typeface="Arial"/>
              </a:defRPr>
            </a:defPPr>
          </a:lstStyle>
          <a:p>
            <a:pPr algn="ctr">
              <a:defRPr sz="1050" b="1">
                <a:solidFill>
                  <a:srgbClr val="101918"/>
                </a:solidFill>
                <a:latin typeface="Arial"/>
                <a:ea typeface="Arial"/>
                <a:cs typeface="Arial"/>
              </a:defRPr>
            </a:pPr>
            <a:r>
              <a:rPr sz="1050" b="1" dirty="0">
                <a:solidFill>
                  <a:srgbClr val="101918"/>
                </a:solidFill>
                <a:latin typeface="Arial"/>
                <a:ea typeface="Arial"/>
                <a:cs typeface="Arial"/>
              </a:rPr>
              <a:t>2022</a:t>
            </a:r>
          </a:p>
          <a:p>
            <a:pPr algn="ctr">
              <a:defRPr sz="1050" b="1">
                <a:solidFill>
                  <a:srgbClr val="101918"/>
                </a:solidFill>
                <a:latin typeface="Arial"/>
                <a:ea typeface="Arial"/>
                <a:cs typeface="Arial"/>
              </a:defRPr>
            </a:pPr>
            <a:r>
              <a:rPr sz="1050" b="1" dirty="0">
                <a:solidFill>
                  <a:srgbClr val="101918"/>
                </a:solidFill>
                <a:latin typeface="Arial"/>
                <a:ea typeface="Arial"/>
                <a:cs typeface="Arial"/>
              </a:rPr>
              <a:t>rate shock</a:t>
            </a:r>
          </a:p>
        </p:txBody>
      </p:sp>
      <p:graphicFrame>
        <p:nvGraphicFramePr>
          <p:cNvPr id="12" name="Chart">
            <a:extLst>
              <a:ext uri="{FF2B5EF4-FFF2-40B4-BE49-F238E27FC236}">
                <a16:creationId xmlns:a16="http://schemas.microsoft.com/office/drawing/2014/main" id="{FB748981-0932-4362-9CEA-AA5F4B85A0E2}"/>
              </a:ext>
            </a:extLst>
          </p:cNvPr>
          <p:cNvGraphicFramePr/>
          <p:nvPr/>
        </p:nvGraphicFramePr>
        <p:xfrm>
          <a:off x="6553200" y="2362200"/>
          <a:ext cx="5143500" cy="2724150"/>
        </p:xfrm>
        <a:graphic>
          <a:graphicData uri="http://schemas.openxmlformats.org/drawingml/2006/chart">
            <c:chart xmlns:c="http://schemas.openxmlformats.org/drawingml/2006/chart" xmlns:r="http://schemas.openxmlformats.org/officeDocument/2006/relationships" r:id="rId4"/>
          </a:graphicData>
        </a:graphic>
      </p:graphicFrame>
      <p:sp>
        <p:nvSpPr>
          <p:cNvPr id="13" name="rule">
            <a:extLst>
              <a:ext uri="{FF2B5EF4-FFF2-40B4-BE49-F238E27FC236}">
                <a16:creationId xmlns:a16="http://schemas.microsoft.com/office/drawing/2014/main" id="{45783BDE-D26C-419D-8EC5-5DE22422EBE0}"/>
              </a:ext>
            </a:extLst>
          </p:cNvPr>
          <p:cNvSpPr>
            <a:spLocks noGrp="1"/>
          </p:cNvSpPr>
          <p:nvPr/>
        </p:nvSpPr>
        <p:spPr>
          <a:xfrm>
            <a:off x="533400" y="5295900"/>
            <a:ext cx="11125200" cy="9525"/>
          </a:xfrm>
          <a:prstGeom prst="rect">
            <a:avLst/>
          </a:prstGeom>
          <a:solidFill>
            <a:srgbClr val="D6D9D3"/>
          </a:solidFill>
          <a:ln w="0">
            <a:noFill/>
          </a:ln>
        </p:spPr>
        <p:txBody>
          <a:bodyPr/>
          <a:lstStyle/>
          <a:p>
            <a:endParaRPr lang="it-IT"/>
          </a:p>
        </p:txBody>
      </p:sp>
      <p:sp>
        <p:nvSpPr>
          <p:cNvPr id="14" name="We plan on a Sharpe near 0.29, not 0.579: the fu">
            <a:extLst>
              <a:ext uri="{FF2B5EF4-FFF2-40B4-BE49-F238E27FC236}">
                <a16:creationId xmlns:a16="http://schemas.microsoft.com/office/drawing/2014/main" id="{1515933C-9D4C-40C3-853D-1F9D686C3DEA}"/>
              </a:ext>
            </a:extLst>
          </p:cNvPr>
          <p:cNvSpPr>
            <a:spLocks noGrp="1"/>
          </p:cNvSpPr>
          <p:nvPr/>
        </p:nvSpPr>
        <p:spPr>
          <a:xfrm>
            <a:off x="533400" y="5448300"/>
            <a:ext cx="6286500" cy="590550"/>
          </a:xfrm>
          <a:prstGeom prst="rect">
            <a:avLst/>
          </a:prstGeom>
          <a:noFill/>
          <a:ln w="0">
            <a:noFill/>
          </a:ln>
        </p:spPr>
        <p:txBody>
          <a:bodyPr wrap="square" lIns="0" tIns="0" rIns="0" bIns="0">
            <a:noAutofit/>
          </a:bodyPr>
          <a:lstStyle>
            <a:defPPr>
              <a:defRPr sz="1725" b="1">
                <a:solidFill>
                  <a:srgbClr val="3D6358"/>
                </a:solidFill>
                <a:latin typeface="Arial"/>
                <a:ea typeface="Arial"/>
                <a:cs typeface="Arial"/>
              </a:defRPr>
            </a:defPPr>
          </a:lstStyle>
          <a:p>
            <a:pPr>
              <a:defRPr sz="1725" b="1">
                <a:solidFill>
                  <a:srgbClr val="3D6358"/>
                </a:solidFill>
                <a:latin typeface="Arial"/>
                <a:ea typeface="Arial"/>
                <a:cs typeface="Arial"/>
              </a:defRPr>
            </a:pPr>
            <a:r>
              <a:rPr sz="1725" b="1">
                <a:solidFill>
                  <a:srgbClr val="3D6358"/>
                </a:solidFill>
                <a:latin typeface="Arial"/>
                <a:ea typeface="Arial"/>
                <a:cs typeface="Arial"/>
              </a:rPr>
              <a:t>We plan on a Sharpe near 0.29, not 0.579: the full 50% research discount.</a:t>
            </a:r>
          </a:p>
        </p:txBody>
      </p:sp>
      <p:sp>
        <p:nvSpPr>
          <p:cNvPr id="15" name="Max drawdown −14.19%, against our stated 20% tol">
            <a:extLst>
              <a:ext uri="{FF2B5EF4-FFF2-40B4-BE49-F238E27FC236}">
                <a16:creationId xmlns:a16="http://schemas.microsoft.com/office/drawing/2014/main" id="{A279F032-4451-42CF-AF40-40D412C1FCBF}"/>
              </a:ext>
            </a:extLst>
          </p:cNvPr>
          <p:cNvSpPr>
            <a:spLocks noGrp="1"/>
          </p:cNvSpPr>
          <p:nvPr/>
        </p:nvSpPr>
        <p:spPr>
          <a:xfrm>
            <a:off x="7048500" y="5448300"/>
            <a:ext cx="4610100" cy="590550"/>
          </a:xfrm>
          <a:prstGeom prst="rect">
            <a:avLst/>
          </a:prstGeom>
          <a:noFill/>
          <a:ln w="0">
            <a:noFill/>
          </a:ln>
        </p:spPr>
        <p:txBody>
          <a:bodyPr wrap="square" lIns="0" tIns="0" rIns="0" bIns="0">
            <a:noAutofit/>
          </a:bodyPr>
          <a:lstStyle>
            <a:defPPr>
              <a:defRPr sz="1725" b="1">
                <a:solidFill>
                  <a:srgbClr val="101918"/>
                </a:solidFill>
                <a:latin typeface="Arial"/>
                <a:ea typeface="Arial"/>
                <a:cs typeface="Arial"/>
              </a:defRPr>
            </a:defPPr>
          </a:lstStyle>
          <a:p>
            <a:pPr>
              <a:defRPr sz="1725" b="1">
                <a:solidFill>
                  <a:srgbClr val="101918"/>
                </a:solidFill>
                <a:latin typeface="Arial"/>
                <a:ea typeface="Arial"/>
                <a:cs typeface="Arial"/>
              </a:defRPr>
            </a:pPr>
            <a:r>
              <a:rPr sz="1725" b="1">
                <a:solidFill>
                  <a:srgbClr val="101918"/>
                </a:solidFill>
                <a:latin typeface="Arial"/>
                <a:ea typeface="Arial"/>
                <a:cs typeface="Arial"/>
              </a:rPr>
              <a:t>Max drawdown −14.19%, against our stated 20% tolerance.</a:t>
            </a:r>
          </a:p>
        </p:txBody>
      </p:sp>
    </p:spTree>
    <p:extLst>
      <p:ext uri="{BB962C8B-B14F-4D97-AF65-F5344CB8AC3E}">
        <p14:creationId xmlns:p14="http://schemas.microsoft.com/office/powerpoint/2010/main" val="492325283"/>
      </p:ext>
    </p:extLst>
  </p:cSld>
  <p:clrMapOvr>
    <a:masterClrMapping/>
  </p:clrMapOvr>
</p:sld>
</file>

<file path=ppt/theme/theme1.xml><?xml version="1.0" encoding="utf-8"?>
<a:theme xmlns:a="http://schemas.openxmlformats.org/drawingml/2006/main" name="ChatGPT">
  <a:themeElements>
    <a:clrScheme name="BlackHawk Capital">
      <a:dk1>
        <a:srgbClr val="101918"/>
      </a:dk1>
      <a:lt1>
        <a:srgbClr val="FFFFFF"/>
      </a:lt1>
      <a:dk2>
        <a:srgbClr val="3D6358"/>
      </a:dk2>
      <a:lt2>
        <a:srgbClr val="F7F6F2"/>
      </a:lt2>
      <a:accent1>
        <a:srgbClr val="101918"/>
      </a:accent1>
      <a:accent2>
        <a:srgbClr val="9B8052"/>
      </a:accent2>
      <a:accent3>
        <a:srgbClr val="3D6358"/>
      </a:accent3>
      <a:accent4>
        <a:srgbClr val="AD5747"/>
      </a:accent4>
      <a:accent5>
        <a:srgbClr val="9BABA3"/>
      </a:accent5>
      <a:accent6>
        <a:srgbClr val="C0B394"/>
      </a:accent6>
      <a:hlink>
        <a:srgbClr val="3D6358"/>
      </a:hlink>
      <a:folHlink>
        <a:srgbClr val="9B8052"/>
      </a:folHlink>
    </a:clrScheme>
    <a:fontScheme name="">
      <a:majorFont>
        <a:latin typeface="Arial"/>
        <a:ea typeface=""/>
        <a:cs typeface=""/>
      </a:majorFont>
      <a:minorFont>
        <a:latin typeface="Arial"/>
        <a:ea typeface=""/>
        <a:cs typeface=""/>
      </a:minorFont>
    </a:fontScheme>
    <a:fmtScheme name="BlackHawk Capit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BlackHawk Capital">
      <a:dk1>
        <a:srgbClr val="101918"/>
      </a:dk1>
      <a:lt1>
        <a:srgbClr val="FFFFFF"/>
      </a:lt1>
      <a:dk2>
        <a:srgbClr val="3D6358"/>
      </a:dk2>
      <a:lt2>
        <a:srgbClr val="F7F6F2"/>
      </a:lt2>
      <a:accent1>
        <a:srgbClr val="101918"/>
      </a:accent1>
      <a:accent2>
        <a:srgbClr val="9B8052"/>
      </a:accent2>
      <a:accent3>
        <a:srgbClr val="3D6358"/>
      </a:accent3>
      <a:accent4>
        <a:srgbClr val="AD5747"/>
      </a:accent4>
      <a:accent5>
        <a:srgbClr val="9BABA3"/>
      </a:accent5>
      <a:accent6>
        <a:srgbClr val="C0B394"/>
      </a:accent6>
      <a:hlink>
        <a:srgbClr val="3D6358"/>
      </a:hlink>
      <a:folHlink>
        <a:srgbClr val="9B8052"/>
      </a:folHlink>
    </a:clrScheme>
    <a:fontScheme name="">
      <a:majorFont>
        <a:latin typeface="Arial"/>
        <a:ea typeface=""/>
        <a:cs typeface=""/>
      </a:majorFont>
      <a:minorFont>
        <a:latin typeface="Arial"/>
        <a:ea typeface=""/>
        <a:cs typeface=""/>
      </a:minorFont>
    </a:fontScheme>
    <a:fmtScheme name="BlackHawk Capit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5529</Words>
  <Application>Microsoft Office PowerPoint</Application>
  <DocSecurity>0</DocSecurity>
  <PresentationFormat>Widescreen</PresentationFormat>
  <Paragraphs>426</Paragraphs>
  <Slides>10</Slides>
  <Notes>10</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10</vt:i4>
      </vt:variant>
    </vt:vector>
  </HeadingPairs>
  <TitlesOfParts>
    <vt:vector size="12" baseType="lpstr">
      <vt:lpstr>Arial</vt:lpstr>
      <vt:lpstr>ChatGPT</vt:lpstr>
      <vt:lpstr>Presentazione standard di PowerPoint</vt:lpstr>
      <vt:lpstr>Market outlook</vt:lpstr>
      <vt:lpstr>Why these eight ETFs</vt:lpstr>
      <vt:lpstr>The portfolio we propose</vt:lpstr>
      <vt:lpstr>How we build our capped ERC</vt:lpstr>
      <vt:lpstr>Effective diversification of the portfolio</vt:lpstr>
      <vt:lpstr>Comparison with every method we tested</vt:lpstr>
      <vt:lpstr>In-sample backtest</vt:lpstr>
      <vt:lpstr>Out-of-sample backtest</vt:lpstr>
      <vt:lpstr>Results and stress tests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Giorgio Galdiolo</cp:lastModifiedBy>
  <cp:revision>1</cp:revision>
  <dcterms:created xsi:type="dcterms:W3CDTF">2026-10-16T16:15:10Z</dcterms:created>
  <dcterms:modified xsi:type="dcterms:W3CDTF">2026-10-16T16:22:17Z</dcterms:modified>
</cp:coreProperties>
</file>